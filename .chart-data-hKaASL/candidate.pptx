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33088d9b24b9b" /><Relationship Type="http://schemas.openxmlformats.org/officeDocument/2006/relationships/extended-properties" Target="/docProps/app.xml" Id="Re1d8e3d123b04147" /><Relationship Type="http://schemas.openxmlformats.org/officeDocument/2006/relationships/officeDocument" Target="/ppt/presentation.xml" Id="R1348aed697b1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773c3c1e94c30"/>
  </p:sldMasterIdLst>
  <p:notesMasterIdLst>
    <p:notesMasterId xmlns:r="http://schemas.openxmlformats.org/officeDocument/2006/relationships" r:id="R44105cd4d62140fc"/>
  </p:notesMasterIdLst>
  <p:sldIdLst>
    <p:sldId xmlns:r="http://schemas.openxmlformats.org/officeDocument/2006/relationships" id="256" r:id="Ra305d21798f14261"/>
    <p:sldId xmlns:r="http://schemas.openxmlformats.org/officeDocument/2006/relationships" id="257" r:id="R6809a4b6493c49cc"/>
    <p:sldId xmlns:r="http://schemas.openxmlformats.org/officeDocument/2006/relationships" id="258" r:id="R9a3d889bf9994d16"/>
    <p:sldId xmlns:r="http://schemas.openxmlformats.org/officeDocument/2006/relationships" id="259" r:id="R2ffc91a15cc948be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031dc8d2a46de" /><Relationship Type="http://schemas.openxmlformats.org/officeDocument/2006/relationships/slideMaster" Target="/ppt/slideMasters/slideMaster1.xml" Id="R20e773c3c1e94c30" /><Relationship Type="http://schemas.openxmlformats.org/officeDocument/2006/relationships/notesMaster" Target="/ppt/notesMasters/notesMaster1.xml" Id="R44105cd4d62140fc" /><Relationship Type="http://schemas.openxmlformats.org/officeDocument/2006/relationships/presProps" Target="/ppt/presProps.xml" Id="Rc801553181734eaa" /><Relationship Type="http://schemas.openxmlformats.org/officeDocument/2006/relationships/tableStyles" Target="/ppt/tableStyles.xml" Id="Rb0a2de86d72b49de" /><Relationship Type="http://schemas.openxmlformats.org/officeDocument/2006/relationships/slide" Target="/ppt/slides/slide1.xml" Id="Ra305d21798f14261" /><Relationship Type="http://schemas.openxmlformats.org/officeDocument/2006/relationships/slide" Target="/ppt/slides/slide2.xml" Id="R6809a4b6493c49cc" /><Relationship Type="http://schemas.openxmlformats.org/officeDocument/2006/relationships/slide" Target="/ppt/slides/slide3.xml" Id="R9a3d889bf9994d16" /><Relationship Type="http://schemas.openxmlformats.org/officeDocument/2006/relationships/slide" Target="/ppt/slides/slide4.xml" Id="R2ffc91a15cc9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7fdb707f2e49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PT White Print">
      <a:dk1>
        <a:srgbClr val="000000"/>
      </a:dk1>
      <a:lt1>
        <a:srgbClr val="FFFFFF"/>
      </a:lt1>
      <a:dk2>
        <a:srgbClr val="142C48"/>
      </a:dk2>
      <a:lt2>
        <a:srgbClr val="F4F8FC"/>
      </a:lt2>
      <a:accent1>
        <a:srgbClr val="0D69B3"/>
      </a:accent1>
      <a:accent2>
        <a:srgbClr val="F27323"/>
      </a:accent2>
      <a:accent3>
        <a:srgbClr val="1FB34A"/>
      </a:accent3>
      <a:accent4>
        <a:srgbClr val="61738A"/>
      </a:accent4>
      <a:accent5>
        <a:srgbClr val="4E87B5"/>
      </a:accent5>
      <a:accent6>
        <a:srgbClr val="A7CDE8"/>
      </a:accent6>
      <a:hlink>
        <a:srgbClr val="0D69B3"/>
      </a:hlink>
      <a:folHlink>
        <a:srgbClr val="F2732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PT White Pri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93e3d6c44403a" /><Relationship Type="http://schemas.openxmlformats.org/officeDocument/2006/relationships/notesMaster" Target="/ppt/notesMasters/notesMaster1.xml" Id="Rae0fd70c21dd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4d11e325b6429f" /><Relationship Type="http://schemas.openxmlformats.org/officeDocument/2006/relationships/notesMaster" Target="/ppt/notesMasters/notesMaster1.xml" Id="Rc3177899c05941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5a08677324360" /><Relationship Type="http://schemas.openxmlformats.org/officeDocument/2006/relationships/notesMaster" Target="/ppt/notesMasters/notesMaster1.xml" Id="Rca1eae3b02e14c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ad90f7d7214ff8" /><Relationship Type="http://schemas.openxmlformats.org/officeDocument/2006/relationships/notesMaster" Target="/ppt/notesMasters/notesMaster1.xml" Id="R49596719bc5c4c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for the four-page A4 portrait executive summary. Group and member names were not supplied, so no identities or bracketed placeholders have been invented. Source content: docs/EXECUTIVE_SUMMARY_INFOGRAPHIC.md. Academic prototype, not a company-authored publication. Print pages in reader order at actual A4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docs/PROBLEM.md sections 1 and 3; docs/SYSTEM.md; docs/DATA_ML.md; docs/evidence/ml/rolling_month_v5/supabase_v5_cutover.json; docs/EXECUTIVE_SUMMARY_INFOGRAPHIC.md. National +20% refers to relative year-to-date churn-count growth versus the comparable 2025 period, not a churn rate. The local two-bar comparison is August and September 2026. September list size is not measured backlog, model precision or a claim of staff overload. The latest synthetic cohort has one record per customer, 207 alerts among 2705 customers. Score &gt;500 is calibrated model p&gt;0.5, not treatment effectiveness. Printed inclusive window 11 October through 10 November equals [11 October,11 November). Prepaid payment nulls are not evidence of debt. Company logo appears only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docs/EXECUTIVE_SUMMARY_INFOGRAPHIC.md; docs/SLIDE_CONTENT.md slides 21–24; docs/evidence/ml/rolling_month_v5/RESULTS.md and comparison.csv; docs/SYSTEM.md; docs/evidence/n8n_migration.json. References: [1] Lundberg &amp; Lee (2017), A Unified Approach to Interpreting Model Predictions, https://proceedings.neurips.cc/paper_files/paper/2017/hash/8a20a8621978632d76c43dfd28b67767-Abstract.html. [2] Brynjolfsson, Li &amp; Raymond (2025), Generative AI at Work, https://doi.org/10.1093/qje/qjae044. [3] Ascarza (2018), Retention Futility, https://journals.sagepub.com/doi/10.1509/jmr.16.0163. Model metrics are synthetic, not FPT production performance. SHAP is attribution, not confirmed cause or causal intervention effect. Human approval is mandatory. ROI assumptions are author-created, not approved Finance inputs: N=1000; contribution margin over 3 months=300000 VND; intervention cost=10000 VND/customer; overhead=10000000 VND. Total incremental cost=20000000 VND. At incremental retention 2%,5%,8%, extra margin=6m,15m,24m VND; net value=-14m,-5m,+4m and ROI=-70%,-25%,20%. Break-even cost/(N*margin)=6.6667pp. Economic horizon differs from the one-calendar-month prediction window. Baseline retention and treatment response are not measured; additional margin assumes persistence. Runtime acceptance remains pending. New n8n instance remains unpublished; no live testing authorised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e70f6669444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e651bd26c4f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4af7f2b754b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9eebd268848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2e93e5bba47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51200417f47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8043C2-39B2-43C4-A83D-18231B3E4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6000" y="4039200"/>
            <a:ext cx="6048000" cy="15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6601B5-11A4-4A55-AEDE-A15CEC7B09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34000" y="5880600"/>
            <a:ext cx="5292000" cy="11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07FF2D-8BA8-447D-A62B-231EBC039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6000" y="4455000"/>
            <a:ext cx="6048000" cy="17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57C073-B19B-4962-B54C-E64ED3F17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600"/>
            <a:ext cx="67095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EE590B-E8AC-4FC6-B3BE-39F8C5BFB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70000"/>
            <a:ext cx="6709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DEDC74-2A01-4D49-A6D9-A141E0779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600"/>
            <a:ext cx="67095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218082-8A2A-4C38-8FBD-68D37B727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70000"/>
            <a:ext cx="3118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C1AC45-2A9F-436F-89B7-ECA5CEC4CB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16250" y="2970000"/>
            <a:ext cx="3118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7BD8D2-1BEF-4085-ABF7-E810F7638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600"/>
            <a:ext cx="67095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075B00-6481-4D83-816B-03B6C9966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70000"/>
            <a:ext cx="3118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57483a3744b60" /><Relationship Type="http://schemas.openxmlformats.org/officeDocument/2006/relationships/slideLayout" Target="/ppt/slideLayouts/slideLayout1.xml" Id="R2644fffb64374e93" /><Relationship Type="http://schemas.openxmlformats.org/officeDocument/2006/relationships/slideLayout" Target="/ppt/slideLayouts/slideLayout2.xml" Id="Rfccabf0436024205" /><Relationship Type="http://schemas.openxmlformats.org/officeDocument/2006/relationships/slideLayout" Target="/ppt/slideLayouts/slideLayout3.xml" Id="R2ee854f55b1b47a4" /><Relationship Type="http://schemas.openxmlformats.org/officeDocument/2006/relationships/slideLayout" Target="/ppt/slideLayouts/slideLayout4.xml" Id="Re28b7cb96fdf43fc" /><Relationship Type="http://schemas.openxmlformats.org/officeDocument/2006/relationships/slideLayout" Target="/ppt/slideLayouts/slideLayout5.xml" Id="Rd16d29401b714975" /><Relationship Type="http://schemas.openxmlformats.org/officeDocument/2006/relationships/slideLayout" Target="/ppt/slideLayouts/slideLayout6.xml" Id="R0b68023d21b744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4fffb64374e93"/>
    <p:sldLayoutId xmlns:r="http://schemas.openxmlformats.org/officeDocument/2006/relationships" id="2147483650" r:id="Rfccabf0436024205"/>
    <p:sldLayoutId xmlns:r="http://schemas.openxmlformats.org/officeDocument/2006/relationships" id="2147483651" r:id="R2ee854f55b1b47a4"/>
    <p:sldLayoutId xmlns:r="http://schemas.openxmlformats.org/officeDocument/2006/relationships" id="2147483652" r:id="Re28b7cb96fdf43fc"/>
    <p:sldLayoutId xmlns:r="http://schemas.openxmlformats.org/officeDocument/2006/relationships" id="2147483653" r:id="Rd16d29401b714975"/>
    <p:sldLayoutId xmlns:r="http://schemas.openxmlformats.org/officeDocument/2006/relationships" id="2147483654" r:id="R0b68023d21b744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PT White Print">
      <a:dk1>
        <a:srgbClr val="000000"/>
      </a:dk1>
      <a:lt1>
        <a:srgbClr val="FFFFFF"/>
      </a:lt1>
      <a:dk2>
        <a:srgbClr val="142C48"/>
      </a:dk2>
      <a:lt2>
        <a:srgbClr val="F4F8FC"/>
      </a:lt2>
      <a:accent1>
        <a:srgbClr val="0D69B3"/>
      </a:accent1>
      <a:accent2>
        <a:srgbClr val="F27323"/>
      </a:accent2>
      <a:accent3>
        <a:srgbClr val="1FB34A"/>
      </a:accent3>
      <a:accent4>
        <a:srgbClr val="61738A"/>
      </a:accent4>
      <a:accent5>
        <a:srgbClr val="4E87B5"/>
      </a:accent5>
      <a:accent6>
        <a:srgbClr val="A7CDE8"/>
      </a:accent6>
      <a:hlink>
        <a:srgbClr val="0D69B3"/>
      </a:hlink>
      <a:folHlink>
        <a:srgbClr val="F2732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PT White Pri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a17df765f4a18" /><Relationship Type="http://schemas.openxmlformats.org/officeDocument/2006/relationships/notesSlide" Target="/ppt/notesSlides/notesSlide1.xml" Id="Rd49f2b457d1b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94002e9f6480b" /><Relationship Type="http://schemas.openxmlformats.org/officeDocument/2006/relationships/image" Target="/ppt/media/image.png" Id="R75b1aef7ba0c4106" /><Relationship Type="http://schemas.openxmlformats.org/officeDocument/2006/relationships/chart" Target="/ppt/slides/charts/chart1.xml" Id="Rc49e0c551c8b4909" /><Relationship Type="http://schemas.openxmlformats.org/officeDocument/2006/relationships/notesSlide" Target="/ppt/notesSlides/notesSlide2.xml" Id="Rb115db50b1704c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28210729f497a" /><Relationship Type="http://schemas.openxmlformats.org/officeDocument/2006/relationships/notesSlide" Target="/ppt/notesSlides/notesSlide3.xml" Id="R454731a3e49b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d2bfc79c841d4" /><Relationship Type="http://schemas.openxmlformats.org/officeDocument/2006/relationships/notesSlide" Target="/ppt/notesSlides/notesSlide4.xml" Id="Rab209ad39cf24d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Customers, 2026</c:v>
          </c:tx>
          <c:spPr>
            <a:solidFill xmlns:a="http://schemas.openxmlformats.org/drawingml/2006/main">
              <a:srgbClr val="0D69B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August</c:v>
                </c:pt>
                <c:pt idx="1">
                  <c:v>September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1300</c:v>
                </c:pt>
                <c:pt idx="1">
                  <c:v>2500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142C4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5715">
            <a:solidFill>
              <a:srgbClr val="DA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3000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54692-CE18-4898-96CB-1C9A064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088000"/>
            <a:ext cx="65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315C7-3C77-4CD6-B6B5-0E8193A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772000"/>
            <a:ext cx="6552000" cy="18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32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AI-Powered</a:t>
            </a:r>
          </a:p>
          <a:p xmlns:a="http://schemas.openxmlformats.org/drawingml/2006/main">
            <a: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32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Telecom Customer</a:t>
            </a:r>
          </a:p>
          <a:p xmlns:a="http://schemas.openxmlformats.org/drawingml/2006/main">
            <a:pPr>
              <a:defRPr sz="3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32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40A59-36C9-40D5-82A1-7F19B098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004000"/>
            <a:ext cx="828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2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61590-EA06-435A-8758-95634A66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436000"/>
            <a:ext cx="6156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A staff-approved workflow that turns churn</a:t>
            </a:r>
          </a:p>
          <a:p xmlns:a="http://schemas.openxmlformats.org/drawingml/2006/main">
            <a:pPr>
              <a:defRPr sz="14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alerts into coordinated customer care.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AF27C-3037-4272-A643-D406F280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948000"/>
            <a:ext cx="655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Problem     Data     Method    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0FF4C-D266-4BED-A417-C0A4C97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676000"/>
            <a:ext cx="655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Advanced Business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1BCBD-CE6F-4D7E-8E4D-EC28136B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072000"/>
            <a:ext cx="6552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Academic project</a:t>
            </a:r>
          </a:p>
          <a:p xmlns:a="http://schemas.openxmlformats.org/drawingml/2006/main">
            <a:pPr>
              <a:defRPr sz="11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09016-872E-4CC2-A087-2B368F20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972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Synthetic data and simulated channels</a:t>
            </a:r>
          </a:p>
        </p:txBody>
      </p:sp>
    </p:spTree>
    <p:extLst>
      <p:ext uri="{BB962C8B-B14F-4D97-AF65-F5344CB8AC3E}">
        <p14:creationId xmlns:p14="http://schemas.microsoft.com/office/powerpoint/2010/main" val="1079710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928A1-AEDF-49E3-A4FA-FF498EB7773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644000" y="4878000"/>
            <a:ext cx="540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D69B3"/>
            </a:solidFill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C6BA4-14AB-48B3-9C6A-679E5E38AB5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304000" y="4878000"/>
            <a:ext cx="540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D69B3"/>
            </a:solidFill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8094B2-3B3A-4094-A58E-1ED2565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04000"/>
            <a:ext cx="46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8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D9B9D-0590-4C19-B4CB-471DA1C4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000" y="504000"/>
            <a:ext cx="10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PD  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45609-4B06-4E3F-99B9-C676E14A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28000"/>
            <a:ext cx="655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The Problem and the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1A05-6BE0-4734-9AF7-6764DC3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332000"/>
            <a:ext cx="540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2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2C038-4A91-4D1B-9EDE-A64A8194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548000"/>
            <a:ext cx="32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85A2A-71DC-4C41-9FBC-5C5F72F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00" y="1573200"/>
            <a:ext cx="61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FD4D7-D3A0-4247-9CA2-918D42966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1aef7ba0c4106"/>
          <a:stretch xmlns:a="http://schemas.openxmlformats.org/drawingml/2006/main"/>
        </p:blipFill>
        <p:spPr>
          <a:xfrm xmlns:a="http://schemas.openxmlformats.org/drawingml/2006/main">
            <a:off x="5724171" y="1548000"/>
            <a:ext cx="1331659" cy="439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C658E-C0EC-48B1-B551-DC4B027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980000"/>
            <a:ext cx="49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FPT Telecom Internet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90C55-ABE7-4537-A590-67F0CE17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232000"/>
            <a:ext cx="59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Binh Duong: proposed pilot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A4C49-882F-4FF3-B90D-1FC52325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664000"/>
            <a:ext cx="334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Binh Duong customer churn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35C267C1-FA2D-4241-B80D-9153C9D0A908}"/>
              </a:ext>
            </a:extLst>
          </p:cNvPr>
          <p:cNvGraphicFramePr/>
          <p:nvPr/>
        </p:nvGraphicFramePr>
        <p:xfrm>
          <a:off xmlns:a="http://schemas.openxmlformats.org/drawingml/2006/main" x="432000" y="2916000"/>
          <a:ext xmlns:a="http://schemas.openxmlformats.org/drawingml/2006/main" cx="3528000" cy="126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9e0c551c8b4909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62CBF-B66F-404C-8E82-248BFFF4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000" y="2736000"/>
            <a:ext cx="27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29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+20%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AA458-F6E7-4228-88AE-B4D9278C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000" y="3348000"/>
            <a:ext cx="270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National churn count</a:t>
            </a:r>
          </a:p>
          <a:p xmlns:a="http://schemas.openxmlformats.org/drawingml/2006/main">
            <a: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year to date versus the</a:t>
            </a:r>
          </a:p>
          <a:p xmlns:a="http://schemas.openxmlformats.org/drawingml/2006/main">
            <a: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comparable 2025 period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12A56-E6E2-4F4E-99BC-7CB118D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392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Reported current 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0762E-FC8D-4672-BE70-D9E2B16B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716000"/>
            <a:ext cx="1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AE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14C41-A52D-4182-B342-80721950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4788000"/>
            <a:ext cx="165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Existing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2509D-F6C6-4254-BFF1-68717D11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000" y="4716000"/>
            <a:ext cx="1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AE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0659B-20A8-4EE1-820F-DF13DBE3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00" y="4788000"/>
            <a:ext cx="165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Score above 500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8FA5D-2F64-44DA-9846-06424672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716000"/>
            <a:ext cx="1872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AE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63EBA-FC58-47B8-AD8E-97C45D86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00" y="4788000"/>
            <a:ext cx="172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Customer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A69D6-179B-4491-A9B3-3FD4681D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148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September handover: approximately 8,000 flagged customers.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C1303-36CF-4972-B2D6-E4D4B47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580000"/>
            <a:ext cx="1224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Unclear</a:t>
            </a:r>
          </a:p>
          <a:p xmlns:a="http://schemas.openxmlformats.org/drawingml/2006/main">
            <a: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approach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0F224-254F-405D-A25E-BC3A312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5580000"/>
            <a:ext cx="507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A risk score needs context before choosing an approach.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30767D-54E4-4BA1-972E-AEDC925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5832000"/>
            <a:ext cx="50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What should we verify and discuss?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843152-D65A-4F1F-A84E-423C3315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156000"/>
            <a:ext cx="6552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06A56-81CB-4527-A781-6451DE84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228000"/>
            <a:ext cx="1224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Late</a:t>
            </a:r>
          </a:p>
          <a:p xmlns:a="http://schemas.openxmlformats.org/drawingml/2006/main">
            <a: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contact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23B88-EBEB-4352-9B46-76C1010A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6228000"/>
            <a:ext cx="507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Some customers leave before staff reach them.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0C30C-EBFE-4DB9-AFB2-1C4BE95A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6480000"/>
            <a:ext cx="50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Who needs attention first, and who owns the case?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8BAB7-182B-4C9A-92D7-4A16B30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804000"/>
            <a:ext cx="6552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E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2BA066-087E-496D-A759-4B5F2C87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876000"/>
            <a:ext cx="1224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Unresolved</a:t>
            </a:r>
          </a:p>
          <a:p xmlns:a="http://schemas.openxmlformats.org/drawingml/2006/main">
            <a:pPr>
              <a:defRPr sz="115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issue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66263-E4DC-4CC7-92B3-D21ECD9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6876000"/>
            <a:ext cx="507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Contact may not resolve the underlying concern.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43234F-E015-416A-85DC-56D17CD8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7128000"/>
            <a:ext cx="5076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What action, support handoff or follow-up is needed?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4B7BE6-6BD1-47B0-A4C4-E574D5E6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704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The challenge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81C7C-130F-4B0B-AB91-341E5695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992000"/>
            <a:ext cx="65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Turn risk alerts into timely, appropriate and accountable care.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2F0741-CDFE-4316-AF25-23C4A57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316000"/>
            <a:ext cx="655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CS coordinates with Data Analytics, Technical Support, Retention and Finance.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30F2F2-F44B-4F21-9909-D3090BE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784000"/>
            <a:ext cx="6552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49852A-366B-49F9-9790-AE3D654D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964000"/>
            <a:ext cx="32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513249-CF30-4BF1-B071-E066CD9C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00" y="8989200"/>
            <a:ext cx="61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3DDE83-BF3F-47CF-9F0E-652A31F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396000"/>
            <a:ext cx="655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Fictional public cohort + synthetic service, billing and support histories.</a:t>
            </a:r>
          </a:p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127 as-of features. Latest batch: 2,705 customers; 207 scores above 500.</a:t>
            </a:r>
          </a:p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Snapshot: 10 Oct. Window: 11 Oct–10 Nov 2026, inclusive. Outcome: Unknown.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7860A1-A4A0-472B-B50A-7E42597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972000"/>
            <a:ext cx="65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Business figures: internal case information, not independently audited.</a:t>
            </a:r>
          </a:p>
          <a:p xmlns:a="http://schemas.openxmlformats.org/drawingml/2006/main">
            <a: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Synthetic v5 verified 19 Oct 2026. Public-source URL/license pending.</a:t>
            </a:r>
          </a:p>
        </p:txBody>
      </p:sp>
    </p:spTree>
    <p:extLst>
      <p:ext uri="{BB962C8B-B14F-4D97-AF65-F5344CB8AC3E}">
        <p14:creationId xmlns:p14="http://schemas.microsoft.com/office/powerpoint/2010/main" val="197768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608091-9A42-4775-B66B-ADB2F76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04000"/>
            <a:ext cx="46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8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2C175-7F94-4C0F-B856-55C29803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000" y="504000"/>
            <a:ext cx="10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MT  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FE161-89EB-48B0-953E-BDDD7355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28000"/>
            <a:ext cx="655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The Method and the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2DA20-300D-43A8-AFBC-EE89D78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332000"/>
            <a:ext cx="540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2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6DC05-D6B5-472D-B7C7-810411C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548000"/>
            <a:ext cx="32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19CCA-2325-476E-8B33-4F8BABF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00" y="1573200"/>
            <a:ext cx="61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29074-ACB4-4A4B-8B04-066A35A9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872000"/>
            <a:ext cx="655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Explain with SHAP [1]. Assist staff with AI drafts [2].</a:t>
            </a:r>
          </a:p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Test intervention impact separately from churn risk [3].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B92B6-93C6-42CC-AA38-FBB312C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412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B5C37-5571-47A2-8FB6-D1A0F39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" y="2412000"/>
            <a:ext cx="176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518F-2771-4F9E-8EC4-EF2FB1DF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736000"/>
            <a:ext cx="2016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Refresh one-month risk on days 1, 11 and 21.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A5500-B391-48D6-96A7-E04F111F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000" y="2412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72F6A-0CB1-4B9A-832C-7EC7BC0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000" y="2412000"/>
            <a:ext cx="176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A3CB9-F966-48B2-98A1-34858A73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000" y="2736000"/>
            <a:ext cx="2016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Six SHAP groups; surface up to three positive groups.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49AEC-F3F9-4675-AF33-5469904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00" y="2412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071A3-B0B8-47DA-B351-EE880F9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000" y="2412000"/>
            <a:ext cx="176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1BF06-2896-4180-8C35-B1CAE80E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00" y="2736000"/>
            <a:ext cx="2016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Use facts, conversation history and permitted options.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C21AB-8BD6-4D2C-B40F-BFA6067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3276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EC7EE-FFB4-43EA-B2D5-960E8A2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" y="3276000"/>
            <a:ext cx="176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Staff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58074-B286-45A1-938D-07BE908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3600000"/>
            <a:ext cx="2016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Verify facts and eligibility; approve the exact revision.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4205E-012B-4135-94F0-463A31A1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000" y="3276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E034A-8735-42D4-A47D-E97D382E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000" y="3276000"/>
            <a:ext cx="176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Mock contact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9CBD9-886A-4C07-B981-7ACD7AD0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000" y="3600000"/>
            <a:ext cx="2016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Record exchanges and technical-support handoffs.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56B7C-B99A-483A-9405-24956757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00" y="3276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24860-D6C4-4A10-8ABC-174198B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000" y="3276000"/>
            <a:ext cx="176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Follow 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29DFD-D45A-494E-AF49-B2CA8230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00" y="3600000"/>
            <a:ext cx="2016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Track next actions; verify the full-window service outcome.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DB661-8AF9-4DE0-86AE-633AFBF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356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SHAP describes model attribution, not confirmed churn causes.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167FF-08BB-41AD-AC8F-D7F08433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644000"/>
            <a:ext cx="6552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6A755-8AF1-4EDE-85BC-485558E9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824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LightGBM tuned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EFEA8-8659-4EDA-9FEC-0937360C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112000"/>
            <a:ext cx="28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0.9483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4F67C-B235-460D-8AEB-8CBB8F3D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000" y="5112000"/>
            <a:ext cx="313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0.9467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8D0BD3-A528-429D-A74F-652B96FD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580000"/>
            <a:ext cx="30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Validation ROC AUC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626FA8-CED4-4CEF-82FB-894DDD0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000" y="5580000"/>
            <a:ext cx="313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Exploratory test AUC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67021D-5EB1-4EC8-93A4-71AFC35F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904000"/>
            <a:ext cx="65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Purged time splits; separate calibration customers; validation-led selection.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D9E53-143A-4DFF-9F33-7748FFA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264000"/>
            <a:ext cx="65520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E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32CC9A-5BE8-4CAD-99AA-00E96FC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408000"/>
            <a:ext cx="32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1B843D-CA0D-4B57-8EB1-450BAFC3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00" y="6433200"/>
            <a:ext cx="61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2B2C61-9132-4DCA-AA45-76518371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804000"/>
            <a:ext cx="158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Python + LightGBM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A50322-7E17-4EE9-918C-9356851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056000"/>
            <a:ext cx="1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Prediction and SHAP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32BCAD-0481-4BEB-AE3C-0FA1A3BA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200" y="6804000"/>
            <a:ext cx="158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D3F9F8-3EAD-4A05-85EF-9A610AB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200" y="7056000"/>
            <a:ext cx="1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Cases, access, approval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C20BD-139D-430C-BAC0-77F5C7C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400" y="6804000"/>
            <a:ext cx="158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393196-01AF-426A-B930-F5EEE98F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400" y="7056000"/>
            <a:ext cx="1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Staff / mock portal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54F381-5319-4A38-A843-C68B0A95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600" y="6804000"/>
            <a:ext cx="158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n8n + LLM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A1F639-AB3F-4719-A150-3DD39078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600" y="7056000"/>
            <a:ext cx="15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Workflow and drafts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394B2D-E3AD-41D7-B26D-A55AC819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560000"/>
            <a:ext cx="43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ROI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44DF8F-D541-4EA2-A7A9-0411E1C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7596000"/>
            <a:ext cx="59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F2732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27323"/>
                </a:solidFill>
                <a:latin typeface="Aptos"/>
                <a:ea typeface="Aptos"/>
                <a:cs typeface="Aptos"/>
              </a:rPr>
              <a:t>Illustrative, not measured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658DB4-EAE1-45B5-B0ED-50F08A2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920000"/>
            <a:ext cx="655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1,000 treatment customers · 3 months · VND 300k margin per extra retained customer.</a:t>
            </a:r>
          </a:p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VND 10k care/customer + VND 10m operations = VND 20m total incremental cost.</a:t>
            </a:r>
          </a:p>
        </p:txBody>
      </p:sp>
      <p:graphicFrame>
        <p:nvGraphicFrame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675629-2AE0-4895-8624-70CF9F2E7F0A}"/>
              </a:ext>
            </a:extLst>
          </p:cNvPr>
          <p:cNvGraphicFramePr/>
          <p:nvPr/>
        </p:nvGraphicFramePr>
        <p:xfrm>
          <a:off xmlns:a="http://schemas.openxmlformats.org/drawingml/2006/main" x="504000" y="8388000"/>
          <a:ext xmlns:a="http://schemas.openxmlformats.org/drawingml/2006/main" cx="3600000" cy="72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6000"/>
                <a:gridCol w="1080000"/>
                <a:gridCol w="864000"/>
              </a:tblGrid>
              <a:tr h="1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D69B3"/>
                          </a:solidFill>
                          <a:latin typeface="Aptos"/>
                          <a:ea typeface="Aptos"/>
                          <a:cs typeface="Aptos"/>
                        </a:rPr>
                        <a:t>Retention gain</a:t>
                      </a:r>
                    </a:p>
                  </a:txBody>
                  <a:tcPr marL="28575" marR="28575" marT="19050" marB="19050">
                    <a:lnL w="3810">
                      <a:solidFill>
                        <a:srgbClr val="DAE3EB"/>
                      </a:solidFill>
                    </a:lnL>
                    <a:lnR w="3810">
                      <a:solidFill>
                        <a:srgbClr val="DAE3EB"/>
                      </a:solidFill>
                    </a:lnR>
                    <a:lnT w="3810">
                      <a:solidFill>
                        <a:srgbClr val="DAE3EB"/>
                      </a:solidFill>
                    </a:lnT>
                    <a:lnB w="3810">
                      <a:solidFill>
                        <a:srgbClr val="DAE3EB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D69B3"/>
                          </a:solidFill>
                          <a:latin typeface="Aptos"/>
                          <a:ea typeface="Aptos"/>
                          <a:cs typeface="Aptos"/>
                        </a:rPr>
                        <a:t>Net value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T w="3810">
                      <a:solidFill>
                        <a:srgbClr val="DAE3EB"/>
                      </a:solidFill>
                    </a:lnT>
                    <a:lnB w="3810">
                      <a:solidFill>
                        <a:srgbClr val="DAE3EB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D69B3"/>
                          </a:solidFill>
                          <a:latin typeface="Aptos"/>
                          <a:ea typeface="Aptos"/>
                          <a:cs typeface="Aptos"/>
                        </a:rPr>
                        <a:t>ROI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T w="3810">
                      <a:solidFill>
                        <a:srgbClr val="DAE3EB"/>
                      </a:solidFill>
                    </a:lnT>
                    <a:lnB w="3810">
                      <a:solidFill>
                        <a:srgbClr val="DAE3EB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Low: +2 pp</a:t>
                      </a:r>
                    </a:p>
                  </a:txBody>
                  <a:tcPr marL="28575" marR="28575" marT="19050" marB="19050">
                    <a:lnL w="3810">
                      <a:solidFill>
                        <a:srgbClr val="DAE3EB"/>
                      </a:solidFill>
                    </a:lnL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−VND 14m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−70%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Base: +5 pp</a:t>
                      </a:r>
                    </a:p>
                  </a:txBody>
                  <a:tcPr marL="28575" marR="28575" marT="19050" marB="19050">
                    <a:lnL w="3810">
                      <a:solidFill>
                        <a:srgbClr val="DAE3EB"/>
                      </a:solidFill>
                    </a:lnL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−VND 5m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−25%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High: +8 pp</a:t>
                      </a:r>
                    </a:p>
                  </a:txBody>
                  <a:tcPr marL="28575" marR="28575" marT="19050" marB="19050">
                    <a:lnL w="3810">
                      <a:solidFill>
                        <a:srgbClr val="DAE3EB"/>
                      </a:solidFill>
                    </a:lnL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+VND 4m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C48"/>
                          </a:solidFill>
                          <a:latin typeface="Aptos"/>
                          <a:ea typeface="Aptos"/>
                          <a:cs typeface="Aptos"/>
                        </a:rPr>
                        <a:t>+20%</a:t>
                      </a:r>
                    </a:p>
                  </a:txBody>
                  <a:tcPr marL="28575" marR="28575" marT="19050" marB="19050">
                    <a:lnR w="3810">
                      <a:solidFill>
                        <a:srgbClr val="DAE3EB"/>
                      </a:solidFill>
                    </a:lnR>
                    <a:lnB w="3810">
                      <a:solidFill>
                        <a:srgbClr val="DAE3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49821-AF5A-4A92-8E70-8CE11E50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000" y="8388000"/>
            <a:ext cx="27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Break-even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D3BAA6-8141-4D04-9A17-B57E8B13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000" y="8676000"/>
            <a:ext cx="27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C48"/>
                </a:solidFill>
                <a:latin typeface="Aptos"/>
                <a:ea typeface="Aptos"/>
                <a:cs typeface="Aptos"/>
              </a:rPr>
              <a:t>+6.67 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D85790-75CB-48CA-86A7-D0926D0F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000" y="9036000"/>
            <a:ext cx="27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incremental retention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AA2934-6046-402E-861E-639587D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180000"/>
            <a:ext cx="655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5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ROI = net incremental value / total incremental cost.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265D5B-0DB6-4481-85D2-72CAD688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432000"/>
            <a:ext cx="9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3A1107-FC07-43D0-B930-E2991391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9432000"/>
            <a:ext cx="55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defPPr>
            <a:lvl1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1pPr>
            <a:lvl2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2pPr>
            <a:lvl3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3pPr>
            <a:lvl4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4pPr>
            <a:lvl5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5pPr>
            <a:lvl6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6pPr>
            <a:lvl7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7pPr>
            <a:lvl8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8pPr>
            <a:lvl9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142C48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42C48"/>
                </a:solidFill>
                <a:latin typeface="Aptos"/>
                <a:ea typeface="Aptos"/>
                <a:cs typeface="Aptos"/>
              </a:rPr>
              <a:t>Pilot: measure incremental retention, cost and contact guardrails.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6B5B55-804D-4CDA-958E-50472E14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684000"/>
            <a:ext cx="1584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Accept runtime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70B5CB-1928-463D-A1B7-7E7B1E50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00" y="9684000"/>
            <a:ext cx="1584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Prepare data / policy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F3DD3E-4487-4931-A68F-CA14075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000" y="9684000"/>
            <a:ext cx="1584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Controlled pilot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9960A3-EF07-4982-91D2-E8F5CC7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0" y="9684000"/>
            <a:ext cx="1584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defPPr>
            <a:lvl1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1pPr>
            <a:lvl2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2pPr>
            <a:lvl3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3pPr>
            <a:lvl4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4pPr>
            <a:lvl5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5pPr>
            <a:lvl6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6pPr>
            <a:lvl7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7pPr>
            <a:lvl8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8pPr>
            <a:lvl9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50" b="1">
                <a:solidFill>
                  <a:srgbClr val="0D69B3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0D69B3"/>
                </a:solidFill>
                <a:latin typeface="Aptos"/>
                <a:ea typeface="Aptos"/>
                <a:cs typeface="Aptos"/>
              </a:rPr>
              <a:t>Review expansion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DE7FF7-FFAC-4800-B146-31E30E0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936000"/>
            <a:ext cx="655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defPPr>
            <a:lvl1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1pPr>
            <a:lvl2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2pPr>
            <a:lvl3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3pPr>
            <a:lvl4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4pPr>
            <a:lvl5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5pPr>
            <a:lvl6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6pPr>
            <a:lvl7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7pPr>
            <a:lvl8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8pPr>
            <a:lvl9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[1] Lundberg &amp; Lee, 2017. [2] Brynjolfsson et al., 2025. [3] Ascarza, 2018.</a:t>
            </a:r>
          </a:p>
          <a:p xmlns:a="http://schemas.openxmlformats.org/drawingml/2006/main">
            <a: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Synthetic v5 (19 Oct 2026), not FPT performance. No measured uplift or ROI.</a:t>
            </a:r>
          </a:p>
          <a:p xmlns:a="http://schemas.openxmlformats.org/drawingml/2006/main">
            <a:pPr>
              <a:defRPr sz="800" b="0">
                <a:solidFill>
                  <a:srgbClr val="61738A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1738A"/>
                </a:solidFill>
                <a:latin typeface="Aptos"/>
                <a:ea typeface="Aptos"/>
                <a:cs typeface="Aptos"/>
              </a:rPr>
              <a:t>Runtime acceptance pending. pp = percentage points; m = million VND.</a:t>
            </a:r>
          </a:p>
        </p:txBody>
      </p:sp>
    </p:spTree>
    <p:extLst>
      <p:ext uri="{BB962C8B-B14F-4D97-AF65-F5344CB8AC3E}">
        <p14:creationId xmlns:p14="http://schemas.microsoft.com/office/powerpoint/2010/main" val="453432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15888-B34F-4F2D-B1CD-A8C66351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468000"/>
            <a:ext cx="324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9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A5F7D-8603-4ACD-8B38-37DE4AC9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000" y="9468000"/>
            <a:ext cx="64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2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93B01-BCEE-415E-ACC9-1FD8069B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000" y="9468000"/>
            <a:ext cx="64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34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44272309"/>
      </p:ext>
    </p:extLst>
  </p:cSld>
</p:sld>
</file>

<file path=ppt/theme/theme1.xml><?xml version="1.0" encoding="utf-8"?>
<a:theme xmlns:a="http://schemas.openxmlformats.org/drawingml/2006/main" name="ChatGPT">
  <a:themeElements>
    <a:clrScheme name="FPT White Print">
      <a:dk1>
        <a:srgbClr val="000000"/>
      </a:dk1>
      <a:lt1>
        <a:srgbClr val="FFFFFF"/>
      </a:lt1>
      <a:dk2>
        <a:srgbClr val="142C48"/>
      </a:dk2>
      <a:lt2>
        <a:srgbClr val="F4F8FC"/>
      </a:lt2>
      <a:accent1>
        <a:srgbClr val="0D69B3"/>
      </a:accent1>
      <a:accent2>
        <a:srgbClr val="F27323"/>
      </a:accent2>
      <a:accent3>
        <a:srgbClr val="1FB34A"/>
      </a:accent3>
      <a:accent4>
        <a:srgbClr val="61738A"/>
      </a:accent4>
      <a:accent5>
        <a:srgbClr val="4E87B5"/>
      </a:accent5>
      <a:accent6>
        <a:srgbClr val="A7CDE8"/>
      </a:accent6>
      <a:hlink>
        <a:srgbClr val="0D69B3"/>
      </a:hlink>
      <a:folHlink>
        <a:srgbClr val="F2732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PT White Pri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2026-10-19T14:33:37.8150000Z</dcterms:created>
  <dcterms:modified xsi:type="dcterms:W3CDTF">2026-10-19T14:33:37.8150000Z</dcterms:modified>
</coreProperties>
</file>