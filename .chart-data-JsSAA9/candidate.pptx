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f9682a01e624b70" /><Relationship Type="http://schemas.openxmlformats.org/officeDocument/2006/relationships/extended-properties" Target="/docProps/app.xml" Id="R8444fceeb4c04949" /><Relationship Type="http://schemas.openxmlformats.org/officeDocument/2006/relationships/officeDocument" Target="/ppt/presentation.xml" Id="Rd3a6d104c9c44da3" /></Relationships>
</file>

<file path=ppt/presentation.xml><?xml version="1.0" encoding="utf-8"?>
<p:presentation xmlns:p="http://schemas.openxmlformats.org/presentationml/2006/main">
  <p:sldMasterIdLst>
    <p:sldMasterId xmlns:r="http://schemas.openxmlformats.org/officeDocument/2006/relationships" id="2147483648" r:id="R1b463cc0571d4518"/>
  </p:sldMasterIdLst>
  <p:notesMasterIdLst>
    <p:notesMasterId xmlns:r="http://schemas.openxmlformats.org/officeDocument/2006/relationships" r:id="R63de2175e4c64baf"/>
  </p:notesMasterIdLst>
  <p:sldIdLst>
    <p:sldId xmlns:r="http://schemas.openxmlformats.org/officeDocument/2006/relationships" id="256" r:id="Rbae275da3e3143b1"/>
    <p:sldId xmlns:r="http://schemas.openxmlformats.org/officeDocument/2006/relationships" id="257" r:id="R5bf0975cb0454e1e"/>
    <p:sldId xmlns:r="http://schemas.openxmlformats.org/officeDocument/2006/relationships" id="258" r:id="R812beb6ecf02470f"/>
    <p:sldId xmlns:r="http://schemas.openxmlformats.org/officeDocument/2006/relationships" id="259" r:id="R0058dc55abeb4077"/>
    <p:sldId xmlns:r="http://schemas.openxmlformats.org/officeDocument/2006/relationships" id="260" r:id="R45d6b78d3656451d"/>
    <p:sldId xmlns:r="http://schemas.openxmlformats.org/officeDocument/2006/relationships" id="261" r:id="R4680659de4e24806"/>
    <p:sldId xmlns:r="http://schemas.openxmlformats.org/officeDocument/2006/relationships" id="262" r:id="Ra893ecd71e614188"/>
    <p:sldId xmlns:r="http://schemas.openxmlformats.org/officeDocument/2006/relationships" id="263" r:id="R615fe2d666ed4328"/>
    <p:sldId xmlns:r="http://schemas.openxmlformats.org/officeDocument/2006/relationships" id="264" r:id="R5029f4a065844f4b"/>
    <p:sldId xmlns:r="http://schemas.openxmlformats.org/officeDocument/2006/relationships" id="265" r:id="Rdd19bc35de27439d"/>
    <p:sldId xmlns:r="http://schemas.openxmlformats.org/officeDocument/2006/relationships" id="266" r:id="Rad2cb03c281c4a90"/>
    <p:sldId xmlns:r="http://schemas.openxmlformats.org/officeDocument/2006/relationships" id="267" r:id="Rb2e54f9d85bd4223"/>
    <p:sldId xmlns:r="http://schemas.openxmlformats.org/officeDocument/2006/relationships" id="268" r:id="Rc0ee647014d04668"/>
    <p:sldId xmlns:r="http://schemas.openxmlformats.org/officeDocument/2006/relationships" id="269" r:id="R5aa96d51cebc4ecb"/>
    <p:sldId xmlns:r="http://schemas.openxmlformats.org/officeDocument/2006/relationships" id="270" r:id="R508431134a1c45c4"/>
    <p:sldId xmlns:r="http://schemas.openxmlformats.org/officeDocument/2006/relationships" id="271" r:id="R25859388ad2e425a"/>
    <p:sldId xmlns:r="http://schemas.openxmlformats.org/officeDocument/2006/relationships" id="272" r:id="R440ea058676c473c"/>
    <p:sldId xmlns:r="http://schemas.openxmlformats.org/officeDocument/2006/relationships" id="273" r:id="R95fee37104de4c8d"/>
    <p:sldId xmlns:r="http://schemas.openxmlformats.org/officeDocument/2006/relationships" id="274" r:id="R0bdb65c6a89a4312"/>
    <p:sldId xmlns:r="http://schemas.openxmlformats.org/officeDocument/2006/relationships" id="275" r:id="R94a210927ccd4c95"/>
    <p:sldId xmlns:r="http://schemas.openxmlformats.org/officeDocument/2006/relationships" id="276" r:id="Rbc1f6b180c204799"/>
    <p:sldId xmlns:r="http://schemas.openxmlformats.org/officeDocument/2006/relationships" id="277" r:id="R62c7017a857747ec"/>
    <p:sldId xmlns:r="http://schemas.openxmlformats.org/officeDocument/2006/relationships" id="278" r:id="Ra9eb9486dd234c51"/>
    <p:sldId xmlns:r="http://schemas.openxmlformats.org/officeDocument/2006/relationships" id="279" r:id="Rda39978c4ae342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d020ff09cc4ada" /><Relationship Type="http://schemas.openxmlformats.org/officeDocument/2006/relationships/slideMaster" Target="/ppt/slideMasters/slideMaster1.xml" Id="R1b463cc0571d4518" /><Relationship Type="http://schemas.openxmlformats.org/officeDocument/2006/relationships/notesMaster" Target="/ppt/notesMasters/notesMaster1.xml" Id="R63de2175e4c64baf" /><Relationship Type="http://schemas.openxmlformats.org/officeDocument/2006/relationships/presProps" Target="/ppt/presProps.xml" Id="R9b6d69c9990c4411" /><Relationship Type="http://schemas.openxmlformats.org/officeDocument/2006/relationships/tableStyles" Target="/ppt/tableStyles.xml" Id="Rf3cd5d0b10f347cf" /><Relationship Type="http://schemas.openxmlformats.org/officeDocument/2006/relationships/slide" Target="/ppt/slides/slide1.xml" Id="Rbae275da3e3143b1" /><Relationship Type="http://schemas.openxmlformats.org/officeDocument/2006/relationships/slide" Target="/ppt/slides/slide2.xml" Id="R5bf0975cb0454e1e" /><Relationship Type="http://schemas.openxmlformats.org/officeDocument/2006/relationships/slide" Target="/ppt/slides/slide3.xml" Id="R812beb6ecf02470f" /><Relationship Type="http://schemas.openxmlformats.org/officeDocument/2006/relationships/slide" Target="/ppt/slides/slide4.xml" Id="R0058dc55abeb4077" /><Relationship Type="http://schemas.openxmlformats.org/officeDocument/2006/relationships/slide" Target="/ppt/slides/slide5.xml" Id="R45d6b78d3656451d" /><Relationship Type="http://schemas.openxmlformats.org/officeDocument/2006/relationships/slide" Target="/ppt/slides/slide6.xml" Id="R4680659de4e24806" /><Relationship Type="http://schemas.openxmlformats.org/officeDocument/2006/relationships/slide" Target="/ppt/slides/slide7.xml" Id="Ra893ecd71e614188" /><Relationship Type="http://schemas.openxmlformats.org/officeDocument/2006/relationships/slide" Target="/ppt/slides/slide8.xml" Id="R615fe2d666ed4328" /><Relationship Type="http://schemas.openxmlformats.org/officeDocument/2006/relationships/slide" Target="/ppt/slides/slide9.xml" Id="R5029f4a065844f4b" /><Relationship Type="http://schemas.openxmlformats.org/officeDocument/2006/relationships/slide" Target="/ppt/slides/slide10.xml" Id="Rdd19bc35de27439d" /><Relationship Type="http://schemas.openxmlformats.org/officeDocument/2006/relationships/slide" Target="/ppt/slides/slide11.xml" Id="Rad2cb03c281c4a90" /><Relationship Type="http://schemas.openxmlformats.org/officeDocument/2006/relationships/slide" Target="/ppt/slides/slide12.xml" Id="Rb2e54f9d85bd4223" /><Relationship Type="http://schemas.openxmlformats.org/officeDocument/2006/relationships/slide" Target="/ppt/slides/slide13.xml" Id="Rc0ee647014d04668" /><Relationship Type="http://schemas.openxmlformats.org/officeDocument/2006/relationships/slide" Target="/ppt/slides/slide14.xml" Id="R5aa96d51cebc4ecb" /><Relationship Type="http://schemas.openxmlformats.org/officeDocument/2006/relationships/slide" Target="/ppt/slides/slide15.xml" Id="R508431134a1c45c4" /><Relationship Type="http://schemas.openxmlformats.org/officeDocument/2006/relationships/slide" Target="/ppt/slides/slide16.xml" Id="R25859388ad2e425a" /><Relationship Type="http://schemas.openxmlformats.org/officeDocument/2006/relationships/slide" Target="/ppt/slides/slide17.xml" Id="R440ea058676c473c" /><Relationship Type="http://schemas.openxmlformats.org/officeDocument/2006/relationships/slide" Target="/ppt/slides/slide18.xml" Id="R95fee37104de4c8d" /><Relationship Type="http://schemas.openxmlformats.org/officeDocument/2006/relationships/slide" Target="/ppt/slides/slide19.xml" Id="R0bdb65c6a89a4312" /><Relationship Type="http://schemas.openxmlformats.org/officeDocument/2006/relationships/slide" Target="/ppt/slides/slide20.xml" Id="R94a210927ccd4c95" /><Relationship Type="http://schemas.openxmlformats.org/officeDocument/2006/relationships/slide" Target="/ppt/slides/slide21.xml" Id="Rbc1f6b180c204799" /><Relationship Type="http://schemas.openxmlformats.org/officeDocument/2006/relationships/slide" Target="/ppt/slides/slide22.xml" Id="R62c7017a857747ec" /><Relationship Type="http://schemas.openxmlformats.org/officeDocument/2006/relationships/slide" Target="/ppt/slides/slide23.xml" Id="Ra9eb9486dd234c51" /><Relationship Type="http://schemas.openxmlformats.org/officeDocument/2006/relationships/slide" Target="/ppt/slides/slide24.xml" Id="Rda39978c4ae342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eee0af59e347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elecom White">
      <a:dk1>
        <a:srgbClr val="000000"/>
      </a:dk1>
      <a:lt1>
        <a:srgbClr val="FFFFFF"/>
      </a:lt1>
      <a:dk2>
        <a:srgbClr val="142C48"/>
      </a:dk2>
      <a:lt2>
        <a:srgbClr val="F4F8FC"/>
      </a:lt2>
      <a:accent1>
        <a:srgbClr val="0D69B3"/>
      </a:accent1>
      <a:accent2>
        <a:srgbClr val="F27323"/>
      </a:accent2>
      <a:accent3>
        <a:srgbClr val="1FB34A"/>
      </a:accent3>
      <a:accent4>
        <a:srgbClr val="61738A"/>
      </a:accent4>
      <a:accent5>
        <a:srgbClr val="4E87B5"/>
      </a:accent5>
      <a:accent6>
        <a:srgbClr val="A7CDE8"/>
      </a:accent6>
      <a:hlink>
        <a:srgbClr val="0D69B3"/>
      </a:hlink>
      <a:folHlink>
        <a:srgbClr val="F27323"/>
      </a:folHlink>
    </a:clrScheme>
    <a:fontScheme name="">
      <a:majorFont>
        <a:latin typeface="Aptos"/>
        <a:ea typeface=""/>
        <a:cs typeface=""/>
      </a:majorFont>
      <a:minorFont>
        <a:latin typeface="Aptos"/>
        <a:ea typeface=""/>
        <a:cs typeface=""/>
      </a:minorFont>
    </a:fontScheme>
    <a:fmtScheme name="Telecom Whi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68b40d52fa4aeb" /><Relationship Type="http://schemas.openxmlformats.org/officeDocument/2006/relationships/notesMaster" Target="/ppt/notesMasters/notesMaster1.xml" Id="R78c6dcc648fb46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804ad7f35348a8" /><Relationship Type="http://schemas.openxmlformats.org/officeDocument/2006/relationships/notesMaster" Target="/ppt/notesMasters/notesMaster1.xml" Id="R9bc6775dc4734b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d2e79ed9f142a7" /><Relationship Type="http://schemas.openxmlformats.org/officeDocument/2006/relationships/notesMaster" Target="/ppt/notesMasters/notesMaster1.xml" Id="R452e62c3b6fa44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3efee021b446e4" /><Relationship Type="http://schemas.openxmlformats.org/officeDocument/2006/relationships/notesMaster" Target="/ppt/notesMasters/notesMaster1.xml" Id="Rfd18388cd45f4a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9336ab31c94d5d" /><Relationship Type="http://schemas.openxmlformats.org/officeDocument/2006/relationships/notesMaster" Target="/ppt/notesMasters/notesMaster1.xml" Id="R4331d09138f54d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b001ad79b94669" /><Relationship Type="http://schemas.openxmlformats.org/officeDocument/2006/relationships/notesMaster" Target="/ppt/notesMasters/notesMaster1.xml" Id="Rac43087d0f2f4f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fd90a8e4eb4b20" /><Relationship Type="http://schemas.openxmlformats.org/officeDocument/2006/relationships/notesMaster" Target="/ppt/notesMasters/notesMaster1.xml" Id="R3bf5ae0bb01549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12f6ea50d14f62" /><Relationship Type="http://schemas.openxmlformats.org/officeDocument/2006/relationships/notesMaster" Target="/ppt/notesMasters/notesMaster1.xml" Id="Rb7449a40ec4e4f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aea6780fa04b4a" /><Relationship Type="http://schemas.openxmlformats.org/officeDocument/2006/relationships/notesMaster" Target="/ppt/notesMasters/notesMaster1.xml" Id="R4da96194b75042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759d3ae3154163" /><Relationship Type="http://schemas.openxmlformats.org/officeDocument/2006/relationships/notesMaster" Target="/ppt/notesMasters/notesMaster1.xml" Id="R7702818589bc46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eb88c2c0414e8f" /><Relationship Type="http://schemas.openxmlformats.org/officeDocument/2006/relationships/notesMaster" Target="/ppt/notesMasters/notesMaster1.xml" Id="R011ae94d3d264c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2b61d349a8440d" /><Relationship Type="http://schemas.openxmlformats.org/officeDocument/2006/relationships/notesMaster" Target="/ppt/notesMasters/notesMaster1.xml" Id="R97cab0e8a85b41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db7fadb23f4d8b" /><Relationship Type="http://schemas.openxmlformats.org/officeDocument/2006/relationships/notesMaster" Target="/ppt/notesMasters/notesMaster1.xml" Id="R60b3754949fe435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08ec1b3e6b475d" /><Relationship Type="http://schemas.openxmlformats.org/officeDocument/2006/relationships/notesMaster" Target="/ppt/notesMasters/notesMaster1.xml" Id="Rcc9ab6ca483c4f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358fa6237845e1" /><Relationship Type="http://schemas.openxmlformats.org/officeDocument/2006/relationships/notesMaster" Target="/ppt/notesMasters/notesMaster1.xml" Id="Re12160ef7a7c40c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69c84aa6f047e7" /><Relationship Type="http://schemas.openxmlformats.org/officeDocument/2006/relationships/notesMaster" Target="/ppt/notesMasters/notesMaster1.xml" Id="Rda4993bee39e40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521f1fa69604966" /><Relationship Type="http://schemas.openxmlformats.org/officeDocument/2006/relationships/notesMaster" Target="/ppt/notesMasters/notesMaster1.xml" Id="R6712d86c768543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520d9ab1a14d5d" /><Relationship Type="http://schemas.openxmlformats.org/officeDocument/2006/relationships/notesMaster" Target="/ppt/notesMasters/notesMaster1.xml" Id="Rfdd802765b104bc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8d787842134b06" /><Relationship Type="http://schemas.openxmlformats.org/officeDocument/2006/relationships/notesMaster" Target="/ppt/notesMasters/notesMaster1.xml" Id="R76edacb37996464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405b1198d1d4e67" /><Relationship Type="http://schemas.openxmlformats.org/officeDocument/2006/relationships/notesMaster" Target="/ppt/notesMasters/notesMaster1.xml" Id="Rbe2f1653b54240b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af5cb25a81f4a77" /><Relationship Type="http://schemas.openxmlformats.org/officeDocument/2006/relationships/notesMaster" Target="/ppt/notesMasters/notesMaster1.xml" Id="R3426103c59e5405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86bca75002147b2" /><Relationship Type="http://schemas.openxmlformats.org/officeDocument/2006/relationships/notesMaster" Target="/ppt/notesMasters/notesMaster1.xml" Id="Rd2ae4df9d820484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4fb24ffadb242df" /><Relationship Type="http://schemas.openxmlformats.org/officeDocument/2006/relationships/notesMaster" Target="/ppt/notesMasters/notesMaster1.xml" Id="R5db28175ad5a418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2589db551cf4860" /><Relationship Type="http://schemas.openxmlformats.org/officeDocument/2006/relationships/notesMaster" Target="/ppt/notesMasters/notesMaster1.xml" Id="Rfdfef5cbce5145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Our project addresses the operational work that follows a churn alert. A risk score can identify a customer who may leave, but a service team still needs to understand the situation, decide what to do, communicate appropriately and follow up. We propose a shared retention workflow with clear case ownership and human approval. The prototype combines risk predictions, model explanations, AI-assisted communication and outcome tracking. The business case concerns Internet services, with a local pilot proposed before any wider rollout. The demonstration uses synthetic data and simulated external channels.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We use PDMT to structure a decision system. Each row starts with a business decision, identifies the information needed, selects a method and names the tools that deliver it. Some capabilities are implemented in the prototype, while others remain evaluation or design work. For example, the current queue supports risk ordering, but capacity-aware and due-date prioritisation require further validation. Likewise, storing outcomes enables future evaluation, but does not by itself establish economic impact. This distinction guides the presentation: we will explain both what the prototype demonstrates and what a business pilot must still prove.</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One full-width four-column matrix. Use short cells and blue column headings. Add a footnote: “Implemented features and planned evaluation are distinguished in subsequent slides.” Avoid implying all proposed queue policies are already live.</a:t>
            </a:r>
          </a:p>
          <a:p xmlns:a="http://schemas.openxmlformats.org/drawingml/2006/main">
            <a:r>
              <a:t/>
            </a:r>
          </a:p>
          <a:p xmlns:a="http://schemas.openxmlformats.org/drawingml/2006/main">
            <a:r>
              <a:t>Sources: REPORT (REPORT.md), SYSTEM (SYSTEM.md), IMPLEMENTATION (IMPLEMENTATION.md), especially current gaps.</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project uses FPT Telecom as its company case. Information supplied by the project participant indicates that national year-to-date Internet churn count rose by 20% against the comparable prior-year period. This is an increase in customer count, not a 20% churn rate. Binh Duong provides the local pilot context: September churn reached 2,500, compared with 1,300 in August. Dividing September churn by approximately 210,000 customers gives a rate of about 1.19%. At a reference monthly fee of VND 205,000, those subscriptions represent VND 512.5 million per month. This calculation indicates scale; it does not establish recognised revenue loss or the amount our solution could recover. The internal figures have not been independently audited.</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This is the only slide containing the FPT Telecom logo. Place it beside the company case label. Use two bars for August and September churn, with a zero baseline and explicit customer units. Put 1.19% and the revenue illustration in a concise annotation. Keep the national +20% separate from the local monthly comparison. If showing +92.3%, label it “September versus August churn count”; do not compare it directly with national year-to-date growth.</a:t>
            </a:r>
          </a:p>
          <a:p xmlns:a="http://schemas.openxmlformats.org/drawingml/2006/main">
            <a:r>
              <a:t/>
            </a:r>
          </a:p>
          <a:p xmlns:a="http://schemas.openxmlformats.org/drawingml/2006/main">
            <a:r>
              <a:t>Source: PROBLEM, sections 1–2 (PROBLEM.md). Calculation: 2,500 / 210,000 = 1.1905%; 2,500 × 205,000 = 512,500,000 VND. No company endorsement is implied.</a:t>
            </a:r>
          </a:p>
          <a:p xmlns:a="http://schemas.openxmlformats.org/drawingml/2006/main">
            <a:r>
              <a:t/>
            </a:r>
          </a:p>
          <a:p xmlns:a="http://schemas.openxmlformats.org/drawingml/2006/main">
            <a:r>
              <a:t>---</a:t>
            </a:r>
          </a:p>
          <a:p xmlns:a="http://schemas.openxmlformats.org/drawingml/2006/main">
            <a:r>
              <a:t/>
            </a:r>
          </a:p>
          <a:p xmlns:a="http://schemas.openxmlformats.org/drawingml/2006/main">
            <a:r>
              <a:t/>
            </a:r>
          </a:p>
          <a:p xmlns:a="http://schemas.openxmlformats.org/drawingml/2006/main">
            <a:br/>
            <a:r>
              <a:t>*2,500 × VND 205,000 reference monthly fee. Revenue illustration, not measured loss, savings or profit. National +20% is churn-count growth, not churn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case information describes a model that already sends a list of scores above 500 to Customer Service at the beginning of the month. Staff feedback identifies uncertainty about the right approach, late contact and unresolved problems despite contact. These reports motivate decision support, case ownership and coordination. They do not prove that the existing model is inaccurate, that no tracking system exists, or that staff perform poorly. We also cannot divide total local churn by the flagged list to calculate precision: those customer sets and interventions have not been matched. The prototype's three-times-monthly refresh is our proposed design, rather than a claim about the company's current process.</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Show the known current process in one horizontal row. Place three short gap annotations beneath it. Use process arrows graphically, with ordinary text labels. Keep the approximately 8,000-person September list distinct from the 207-case synthetic batch used later.</a:t>
            </a:r>
          </a:p>
          <a:p xmlns:a="http://schemas.openxmlformats.org/drawingml/2006/main">
            <a:r>
              <a:t/>
            </a:r>
          </a:p>
          <a:p xmlns:a="http://schemas.openxmlformats.org/drawingml/2006/main">
            <a:r>
              <a:t>Source: PROBLEM, sections 1, 3–4 (PROBLEM.md).</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initiative crosses functions, but the operational application remains focused on Customer Service. Agents handle their assigned cases; supervisors coordinate the pilot and exceptions. Data Analytics provides a versioned prediction input, while Technical Support receives requests and works in its own system. Retention or Marketing defines permitted offers, and Finance contributes assumptions and cost validation. These teams do not require separate prototype dashboards. The value of collaboration is the consistency of the information and handoff, rather than the number of user interfaces. Expected benefits on this slide are hypotheses to evaluate during a pilot.</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Use a full-width table with six rows and concise phrases. Give the first two stakeholder names blue emphasis; use a small line below the table to mark the app boundary. No department logos or staff personal details.</a:t>
            </a:r>
          </a:p>
          <a:p xmlns:a="http://schemas.openxmlformats.org/drawingml/2006/main">
            <a:r>
              <a:t/>
            </a:r>
          </a:p>
          <a:p xmlns:a="http://schemas.openxmlformats.org/drawingml/2006/main">
            <a:r>
              <a:t>Sources: SYSTEM, scope and roles (SYSTEM.md), REPORT, stakeholder value (REPORT.md).</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prototype builds the operational layer following a prediction. Its core objectives are to help staff understand a case, choose a reasonable action and preserve accountability throughout the interaction. The enterprise model is conceptually an upstream input. Because we cannot access it, an offline synthetic model supplies demonstration predictions. AI prepares content; it cannot approve an offer or autonomously conduct a negotiation. The portal simulates the customer channel. Technical requests cross a system boundary, so a handoff receipt does not prove the technical issue has been resolved. A closed care case and a customer active at the end of the observation window remain separate concepts.</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One scope diagram: CS workspace in the centre; prediction adapter, customer portal and external support around it. Use a blue boundary around the workspace and orange review gates. Label mock transport explicitly. Avoid a long feature checklist.</a:t>
            </a:r>
          </a:p>
          <a:p xmlns:a="http://schemas.openxmlformats.org/drawingml/2006/main">
            <a:r>
              <a:t/>
            </a:r>
          </a:p>
          <a:p xmlns:a="http://schemas.openxmlformats.org/drawingml/2006/main">
            <a:r>
              <a:t>Sources: SYSTEM (SYSTEM.md), PROBLEM, current product decision (PROBLEM.md).</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A production solution needs reliable links between the subscriber, service history, bills, support requests, contact history and outcomes. The academic prototype uses a fictional public dataset as a starting point. The generator reads identifiers, tenure and Internet-service eligibility to construct a cohort; it does not reuse the public churn labels or post-churn reasons to build the current simulation. Service events and longitudinal labels are generated. This makes it possible to demonstrate a coherent pipeline, but synthetic relationships cannot establish market validity for FPT. The original dataset URL and redistribution licence still need confirmation before packaging raw data for submission.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Use one source-status table, with a narrow “Enterprise data needed” annotation. Do not imply that the original public file contains 127 features or real longitudinal records. Keep public, generated and application-generated sources visually distinct with text labels.</a:t>
            </a:r>
          </a:p>
          <a:p xmlns:a="http://schemas.openxmlformats.org/drawingml/2006/main">
            <a:r>
              <a:t/>
            </a:r>
          </a:p>
          <a:p xmlns:a="http://schemas.openxmlformats.org/drawingml/2006/main">
            <a:r>
              <a:t>Sources: DATA_ML (DATA_ML.md), source data profile (evidence/source_data_profile.json), ML README (../ml/README.md).</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V5 issues predictions on the first, eleventh and twenty-first day of each month, using the previous month-end, tenth and twentieth day respectively. Each prediction covers one calendar month from issuance. A customer may therefore contribute several overlapping snapshots. Features must be computed as they were known at each cutoff; later bill payments or ticket resolutions cannot alter past features. The same event history determines every overlapping label. We also preserve meaningful missingness: postpaid payment metrics do not apply to prepaid subscribers. The 113,937 records are snapshot rows across the generated panel, not independent customers or the number of rows used for training.</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A five-stage data pipeline above a compact control table. Show the schedule as “Days 1 / 11 / 21” to avoid date ambiguity. Footnote: “Synthetic rolling-month v5; repeated observations per customer.”</a:t>
            </a:r>
          </a:p>
          <a:p xmlns:a="http://schemas.openxmlformats.org/drawingml/2006/main">
            <a:r>
              <a:t/>
            </a:r>
          </a:p>
          <a:p xmlns:a="http://schemas.openxmlformats.org/drawingml/2006/main">
            <a:r>
              <a:t>Sources: DATA_ML, v5 scope (DATA_ML.md), generation quality (evidence/ml/rolling_month_v5/generation_quality.json), ML README (../ml/README.md).</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customer is the shared reference, but a prediction also belongs to a snapshot and a specific target period. A case stores the care process and its history. Conversations, messages, support requests and costs record what happened during that process. Service outcomes require a separate observation and source for the matching target window. The example uses an invented presentation identifier and is not a query result. It illustrates why a case may be complete while the outcome remains Unknown. The latest operational batch contains one current snapshot per customer, while the offline panel contains repeated snapshots. Future refreshes need to preserve ownership and history without creating duplicate outreach.</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Editable entity diagram with seven or eight business-level entities, not every physical database table. Put the short example beside it. Never show actual emails, phone numbers, Auth IDs or database credentials. Do not attach the invented case state to a real customer.</a:t>
            </a:r>
          </a:p>
          <a:p xmlns:a="http://schemas.openxmlformats.org/drawingml/2006/main">
            <a:r>
              <a:t/>
            </a:r>
          </a:p>
          <a:p xmlns:a="http://schemas.openxmlformats.org/drawingml/2006/main">
            <a:r>
              <a:t>Sources: SYSTEM, data and outcome contracts (SYSTEM.md), v5 cutover (evidence/ml/rolling_month_v5/supabase_v5_cutover.json).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We selected literature by relevance to the decisions in our case, rather than by model accuracy alone. Explainability supports the question of why a model assigns risk. Profit-driven retention asks whether a campaign is economically worthwhile. Intervention-sensitive targeting distinguishes likely churn from likely response to treatment. Finally, field evidence on AI assistance motivates support for frontline staff. These sources address complementary pieces of the problem. They do not establish a single universally superior architecture, nor validate this particular prototype. The review is selective, based on the accessible primary publications and abstracts listed in the reference register. It is not a systematic review of all global deployments.</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Use four rows, each with a method, evidence and boundary. Short references in the source line: Lundberg &amp; Lee, 2017; Poudel et al., 2024; Verbeke et al., 2012; Ascarza, 2018; Brynjolfsson et al., 2025. Full links and citation details appear in the register below and in slide notes. Do not compare published accuracy with the synthetic AUC.</a:t>
            </a:r>
          </a:p>
          <a:p xmlns:a="http://schemas.openxmlformats.org/drawingml/2006/main">
            <a:r>
              <a:t/>
            </a:r>
          </a:p>
          <a:p xmlns:a="http://schemas.openxmlformats.org/drawingml/2006/main">
            <a:r>
              <a:t>Sources: R1–R5 (#external-reference-register). The published R5 study reports an average 15% increase in resolved issues per hour, but omit the percentage from visible copy unless the setting and non-transferability are equally clear.</a:t>
            </a:r>
          </a:p>
          <a:p xmlns:a="http://schemas.openxmlformats.org/drawingml/2006/main">
            <a:r>
              <a:t/>
            </a:r>
          </a:p>
          <a:p xmlns:a="http://schemas.openxmlformats.org/drawingml/2006/main">
            <a:r>
              <a:t>---</a:t>
            </a:r>
          </a:p>
          <a:p xmlns:a="http://schemas.openxmlformats.org/drawingml/2006/main">
            <a:r>
              <a:t/>
            </a:r>
          </a:p>
          <a:p xmlns:a="http://schemas.openxmlformats.org/drawingml/2006/main">
            <a:r>
              <a:t/>
            </a:r>
          </a:p>
          <a:p xmlns:a="http://schemas.openxmlformats.org/drawingml/2006/main">
            <a:r>
              <a:t/>
            </a:r>
          </a:p>
          <a:p xmlns:a="http://schemas.openxmlformats.org/drawingml/2006/main">
            <a:r>
              <a:t>## External reference register</a:t>
            </a:r>
          </a:p>
          <a:p xmlns:a="http://schemas.openxmlformats.org/drawingml/2006/main">
            <a:r>
              <a:t/>
            </a:r>
          </a:p>
          <a:p xmlns:a="http://schemas.openxmlformats.org/drawingml/2006/main">
            <a:r>
              <a:t>The summaries above are paraphrases. Review coverage is selective; some sources were accessible as publisher abstracts or section extracts rather than complete papers. These publications motivate design and evaluation, not a claim of global novelty or direct evidence of FPT performance.</a:t>
            </a:r>
          </a:p>
          <a:p xmlns:a="http://schemas.openxmlformats.org/drawingml/2006/main">
            <a:r>
              <a:t/>
            </a:r>
          </a:p>
          <a:p xmlns:a="http://schemas.openxmlformats.org/drawingml/2006/main">
            <a:r>
              <a:t>| ID | Reference and primary link | Use and reading boundary |</a:t>
            </a:r>
          </a:p>
          <a:p xmlns:a="http://schemas.openxmlformats.org/drawingml/2006/main">
            <a:r>
              <a:t>|---|---|---|</a:t>
            </a:r>
          </a:p>
          <a:p xmlns:a="http://schemas.openxmlformats.org/drawingml/2006/main">
            <a:r>
              <a:t>| R1 | Lundberg, S. M., &amp; Lee, S.-I. (2017). *A Unified Approach to Interpreting Model Predictions*. Advances in Neural Information Processing Systems 30. Proceedings (https://proceedings.neurips.cc/paper_files/paper/2017/hash/8a20a8621978632d76c43dfd28b67767-Abstract.html) | SHAP as additive feature attribution. Proceedings abstract reviewed; not evidence of causal intervention effectiveness |</a:t>
            </a:r>
          </a:p>
          <a:p xmlns:a="http://schemas.openxmlformats.org/drawingml/2006/main">
            <a:r>
              <a:t>| R2 | Poudel, S. S., Pokharel, S., &amp; Timilsina, M. (2024). *Explaining customer churn prediction in telecom industry using tabular machine learning models*. Machine Learning with Applications, 17, 100567. Publisher (https://www.sciencedirect.com/science/article/pii/S2666827024000434), DOI (https://doi.org/10.1016/j.mlwa.2024.100567) | Local/global explanation in telecom churn. Publisher abstract available through indexed retrieval; full text not reviewed for this document |</a:t>
            </a:r>
          </a:p>
          <a:p xmlns:a="http://schemas.openxmlformats.org/drawingml/2006/main">
            <a:r>
              <a:t>| R3 | Verbeke, W., Dejaeger, K., Martens, D., Hur, J., &amp; Baesens, B. (2012). *New insights into churn prediction in the telecommunication sector: A profit driven data mining approach*. European Journal of Operational Research, 218(1), 211–229. Publisher (https://www.sciencedirect.com/science/article/pii/S0377221711008599), DOI (https://doi.org/10.1016/j.ejor.2011.09.031) | Profit-oriented evaluation and campaign selection. Publisher abstract/section extracts reviewed; no claim that its optimisation algorithm is implemented here |</a:t>
            </a:r>
          </a:p>
          <a:p xmlns:a="http://schemas.openxmlformats.org/drawingml/2006/main">
            <a:r>
              <a:t>| R4 | Ascarza, E. (2018). *Retention Futility: Targeting High-Risk Customers Might Be Ineffective*. Journal of Marketing Research, 55(1), 80–98. Publisher (https://journals.sagepub.com/doi/10.1509/jmr.16.0163) | Distinguishes churn risk from treatment responsiveness. Publisher abstract reviewed; motivates a controlled pilot, not an implemented uplift model |</a:t>
            </a:r>
          </a:p>
          <a:p xmlns:a="http://schemas.openxmlformats.org/drawingml/2006/main">
            <a:r>
              <a:t>| R5 | Brynjolfsson, E., Li, D., &amp; Raymond, L. R. (2025). *Generative AI at Work*. The Quarterly Journal of Economics, 140(2), 889–942. Publisher / DOI (https://doi.org/10.1093/qje/qjae044) | Published article reviewed for abstract and service-assistance setting: 5,172 agents; average 15% increase in resolved issues/hour. Single-firm evidence; not a retention-uplift parameter for this project |</a:t>
            </a:r>
          </a:p>
          <a:p xmlns:a="http://schemas.openxmlformats.org/drawingml/2006/main">
            <a:r>
              <a:t/>
            </a:r>
          </a:p>
          <a:p xmlns:a="http://schemas.openxmlformats.org/drawingml/2006/main">
            <a:r>
              <a:t>Do not transfer any external performance result into the financial assumptions or claim that every telecom operator uses these methods. The literature spans telecom-specific and adjacent service settings.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mapping distinguishes evidence from our engineering decisions. SHAP is implemented for the current model, while the six-category grouping is our operational presentation choice. Research on AI assistance supports testing staff augmentation, but the exact approval policy is a project control, not a result established by that paper. Economic analysis is included, although the cost interface and genuine financial inputs are unfinished. We have not implemented an uplift model or profit-maximising targeting engine. Both require data the prototype does not provide. Our contribution is to combine established methods in a traceable, staff-approved workflow, then specify how to evaluate it. We make no global novelty claim.</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Four-row mapping table. Use plain text status labels, with green limited to verified v5 capabilities and orange for pending evaluation. Avoid labelling the whole system “implemented and validated.”</a:t>
            </a:r>
          </a:p>
          <a:p xmlns:a="http://schemas.openxmlformats.org/drawingml/2006/main">
            <a:r>
              <a:t/>
            </a:r>
          </a:p>
          <a:p xmlns:a="http://schemas.openxmlformats.org/drawingml/2006/main">
            <a:r>
              <a:t>Sources: R1–R5 (#external-reference-register), ML README (../ml/README.md), SYSTEM (SYSTEM.md), n8n migration (evidence/n8n_migration.json).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a:p xmlns:a="http://schemas.openxmlformats.org/drawingml/2006/main">
            <a:r>
              <a:t/>
            </a:r>
          </a:p>
          <a:p xmlns:a="http://schemas.openxmlformats.org/drawingml/2006/main">
            <a:r>
              <a:t>## External reference register</a:t>
            </a:r>
          </a:p>
          <a:p xmlns:a="http://schemas.openxmlformats.org/drawingml/2006/main">
            <a:r>
              <a:t/>
            </a:r>
          </a:p>
          <a:p xmlns:a="http://schemas.openxmlformats.org/drawingml/2006/main">
            <a:r>
              <a:t>The summaries above are paraphrases. Review coverage is selective; some sources were accessible as publisher abstracts or section extracts rather than complete papers. These publications motivate design and evaluation, not a claim of global novelty or direct evidence of FPT performance.</a:t>
            </a:r>
          </a:p>
          <a:p xmlns:a="http://schemas.openxmlformats.org/drawingml/2006/main">
            <a:r>
              <a:t/>
            </a:r>
          </a:p>
          <a:p xmlns:a="http://schemas.openxmlformats.org/drawingml/2006/main">
            <a:r>
              <a:t>| ID | Reference and primary link | Use and reading boundary |</a:t>
            </a:r>
          </a:p>
          <a:p xmlns:a="http://schemas.openxmlformats.org/drawingml/2006/main">
            <a:r>
              <a:t>|---|---|---|</a:t>
            </a:r>
          </a:p>
          <a:p xmlns:a="http://schemas.openxmlformats.org/drawingml/2006/main">
            <a:r>
              <a:t>| R1 | Lundberg, S. M., &amp; Lee, S.-I. (2017). *A Unified Approach to Interpreting Model Predictions*. Advances in Neural Information Processing Systems 30. Proceedings (https://proceedings.neurips.cc/paper_files/paper/2017/hash/8a20a8621978632d76c43dfd28b67767-Abstract.html) | SHAP as additive feature attribution. Proceedings abstract reviewed; not evidence of causal intervention effectiveness |</a:t>
            </a:r>
          </a:p>
          <a:p xmlns:a="http://schemas.openxmlformats.org/drawingml/2006/main">
            <a:r>
              <a:t>| R2 | Poudel, S. S., Pokharel, S., &amp; Timilsina, M. (2024). *Explaining customer churn prediction in telecom industry using tabular machine learning models*. Machine Learning with Applications, 17, 100567. Publisher (https://www.sciencedirect.com/science/article/pii/S2666827024000434), DOI (https://doi.org/10.1016/j.mlwa.2024.100567) | Local/global explanation in telecom churn. Publisher abstract available through indexed retrieval; full text not reviewed for this document |</a:t>
            </a:r>
          </a:p>
          <a:p xmlns:a="http://schemas.openxmlformats.org/drawingml/2006/main">
            <a:r>
              <a:t>| R3 | Verbeke, W., Dejaeger, K., Martens, D., Hur, J., &amp; Baesens, B. (2012). *New insights into churn prediction in the telecommunication sector: A profit driven data mining approach*. European Journal of Operational Research, 218(1), 211–229. Publisher (https://www.sciencedirect.com/science/article/pii/S0377221711008599), DOI (https://doi.org/10.1016/j.ejor.2011.09.031) | Profit-oriented evaluation and campaign selection. Publisher abstract/section extracts reviewed; no claim that its optimisation algorithm is implemented here |</a:t>
            </a:r>
          </a:p>
          <a:p xmlns:a="http://schemas.openxmlformats.org/drawingml/2006/main">
            <a:r>
              <a:t>| R4 | Ascarza, E. (2018). *Retention Futility: Targeting High-Risk Customers Might Be Ineffective*. Journal of Marketing Research, 55(1), 80–98. Publisher (https://journals.sagepub.com/doi/10.1509/jmr.16.0163) | Distinguishes churn risk from treatment responsiveness. Publisher abstract reviewed; motivates a controlled pilot, not an implemented uplift model |</a:t>
            </a:r>
          </a:p>
          <a:p xmlns:a="http://schemas.openxmlformats.org/drawingml/2006/main">
            <a:r>
              <a:t>| R5 | Brynjolfsson, E., Li, D., &amp; Raymond, L. R. (2025). *Generative AI at Work*. The Quarterly Journal of Economics, 140(2), 889–942. Publisher / DOI (https://doi.org/10.1093/qje/qjae044) | Published article reviewed for abstract and service-assistance setting: 5,172 agents; average 15% increase in resolved issues/hour. Single-firm evidence; not a retention-uplift parameter for this project |</a:t>
            </a:r>
          </a:p>
          <a:p xmlns:a="http://schemas.openxmlformats.org/drawingml/2006/main">
            <a:r>
              <a:t/>
            </a:r>
          </a:p>
          <a:p xmlns:a="http://schemas.openxmlformats.org/drawingml/2006/main">
            <a:r>
              <a:t>Do not transfer any external performance result into the financial assumptions or claim that every telecom operator uses these methods. The literature spans telecom-specific and adjacent service settings.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workflow connects analytical outputs to accountable decisions. A prediction arrives with a model version and a target window. The agent reviews attribution and the underlying facts before deciding whether to contact the customer or request more information. The LLM can assist with wording, but should not invent eligibility, debt, appointments or technical resolutions. The database checks authorisation and approved revisions before sending through the mock adapter. Replies and reminders support the next task. After the observation period, an outcome source establishes whether the customer churned or remained active. Due-date prioritisation and general refresh handling should be validated before claiming complete operational optimisation.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Six-step diagram with a conspicuous approval gate. Add a lower lane showing method responsibility: model / attribution / rules + LLM / staff / workflow / evaluation. Use text labels, not vendor logos. The sequence describes the intended end-to-end design; current runtime limitations remain on slides 19–20.</a:t>
            </a:r>
          </a:p>
          <a:p xmlns:a="http://schemas.openxmlformats.org/drawingml/2006/main">
            <a:r>
              <a:t/>
            </a:r>
          </a:p>
          <a:p xmlns:a="http://schemas.openxmlformats.org/drawingml/2006/main">
            <a:r>
              <a:t>Sources: SYSTEM (SYSTEM.md), n8n README (../n8n/README.md), IMPLEMENTATION (IMPLEMENTATION.md).</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We now show how an agent would use the proposed workflow. The latest verified batch starts on 11 October and runs until 11 November, with the end date excluded. It contains 2,705 customers and 207 flagged cases. We follow one anonymised case from the queue through review and a proposed interaction. At this document version, the new workflow instance is unpublished and the updated UI has not been accepted in a fresh browser journey. The safe presentation format is therefore a narrated walkthrough. If a historical recording is used, label it as the 18 October v4 workflow recording. It demonstrates earlier behaviour and does not prove the current v5 integration is live.</a:t>
            </a:r>
          </a:p>
          <a:p xmlns:a="http://schemas.openxmlformats.org/drawingml/2006/main">
            <a:r>
              <a:t/>
            </a:r>
          </a:p>
          <a:p xmlns:a="http://schemas.openxmlformats.org/drawingml/2006/main">
            <a:r>
              <a:t>### Demonstration script and fallback</a:t>
            </a:r>
          </a:p>
          <a:p xmlns:a="http://schemas.openxmlformats.org/drawingml/2006/main">
            <a:r>
              <a:t/>
            </a:r>
          </a:p>
          <a:p xmlns:a="http://schemas.openxmlformats.org/drawingml/2006/main">
            <a:r>
              <a:t>| Step | Presenter narration | Operator / fallback instruction |</a:t>
            </a:r>
          </a:p>
          <a:p xmlns:a="http://schemas.openxmlformats.org/drawingml/2006/main">
            <a:r>
              <a:t>|---|---|---|</a:t>
            </a:r>
          </a:p>
          <a:p xmlns:a="http://schemas.openxmlformats.org/drawingml/2006/main">
            <a:r>
              <a:t>| Queue | “The batch turns risk alerts into cases with an accountable owner.” | Show a current v5 queue crop, if captured; otherwise show a labelled interface design reference |</a:t>
            </a:r>
          </a:p>
          <a:p xmlns:a="http://schemas.openxmlformats.org/drawingml/2006/main">
            <a:r>
              <a:t>| Context | “The agent checks the window, facts and model-identified drivers.” | Open one authorised anonymised case; keep the same case throughout an actual run |</a:t>
            </a:r>
          </a:p>
          <a:p xmlns:a="http://schemas.openxmlformats.org/drawingml/2006/main">
            <a:r>
              <a:t>| Draft | “AI prepares a draft for staff review.” | Use a verified output only if available; otherwise use slide 17's authored illustration, clearly labelled |</a:t>
            </a:r>
          </a:p>
          <a:p xmlns:a="http://schemas.openxmlformats.org/drawingml/2006/main">
            <a:r>
              <a:t>| Review | “Only the approved revision may enter the delivery process.” | Show the gate or an accurately labelled historical recording |</a:t>
            </a:r>
          </a:p>
          <a:p xmlns:a="http://schemas.openxmlformats.org/drawingml/2006/main">
            <a:r>
              <a:t>| Reply | “A customer reply updates the care conversation.” | Use a labelled mock/historical interaction; do not fabricate a v5 receipt |</a:t>
            </a:r>
          </a:p>
          <a:p xmlns:a="http://schemas.openxmlformats.org/drawingml/2006/main">
            <a:r>
              <a:t>| Outcome | “Care progress changes, but retention remains Unknown until evidence matures.” | Return to the target-window and outcome distinction |</a:t>
            </a:r>
          </a:p>
          <a:p xmlns:a="http://schemas.openxmlformats.org/drawingml/2006/main">
            <a:r>
              <a:t/>
            </a:r>
          </a:p>
          <a:p xmlns:a="http://schemas.openxmlformats.org/drawingml/2006/main">
            <a:r>
              <a:t>No workflow executions are authorised by this content document. A future rehearsal must establish a concrete execution budget before a live run; keep timers disabled outside controlled demo operation.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Use a clean English product crop and a short sequence beneath it. No embedded logo. Preserve labels for design reference, historical recording or live demonstration as applicable. Do not include login credentials in screenshots or recordings.</a:t>
            </a:r>
          </a:p>
          <a:p xmlns:a="http://schemas.openxmlformats.org/drawingml/2006/main">
            <a:r>
              <a:t/>
            </a:r>
          </a:p>
          <a:p xmlns:a="http://schemas.openxmlformats.org/drawingml/2006/main">
            <a:r>
              <a:t>Sources: v5 cutover (evidence/ml/rolling_month_v5/supabase_v5_cutover.json), n8n migration (evidence/n8n_migration.json), historical workflows (evidence/n8n_workflows.json).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Overlapping monthly labels make snapshot-date splitting alone insufficient. A training example is available only after its target window has ended, so the pipeline purges labels extending into a validation boundary. The three inner folds preserve chronology. Calibration customers and audit customers are excluded from model fitting and selection. Calibration cross-validation also keeps all observations for a customer together. We evaluate four candidates, but the prespecified selection pool contains only the two tuned models. Validation ROC AUC is primary, with log loss as a tie-breaker. September testing is reported as exploratory synthetic evidence, and is not used to change the winner or fit calibration. Repeated snapshot rows are not independent customer experiments.</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Editable timeline with separated customer lanes for development, calibration and audit. Keep July-start windows visually distinct from September-start testing. Footnote counts if space permits: train 42,936 rows; validation 6,253; calibration 1,552; test 1,485 rows from 758 customers. Move hyperparameters into notes, not the visible slide.</a:t>
            </a:r>
          </a:p>
          <a:p xmlns:a="http://schemas.openxmlformats.org/drawingml/2006/main">
            <a:r>
              <a:t/>
            </a:r>
          </a:p>
          <a:p xmlns:a="http://schemas.openxmlformats.org/drawingml/2006/main">
            <a:r>
              <a:t>Sources: ML README (../ml/README.md), DATA_ML (DATA_ML.md), split summary (evidence/ml/rolling_month_v5/split_summary.csv), verification (evidence/ml/rolling_month_v5/verification.json).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LightGBM tuned was selected using validation ROC AUC of 0.9483. Its exploratory test AUC is 0.9467 and AP is 0.7138. The baseline's slightly higher test AUC and CatBoost tuned's higher test AP do not alter the prespecified choice. These differences do not establish universal algorithm superiority. The selected model uses 114 boosting rounds, and its own Platt calibrator passed the customer-grouped adoption checks. A score above 500 means calibrated probability above 0.5 under this synthetic model; it does not mean the customer can be retained by an offer. The latest batch has 207 alerts. We do not combine all 409 alerts across two overlapping inference batches into unique cases.</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Use the exact four-row comparison table and a single latest-batch annotation. Orange emphasis only on the selected row. Optional small distribution figure: evidence/ml/rolling_month_v5/figures/slides/03_prediction_distribution.svg. Keep ROC/PR and tuning-history figures as backup material rather than crowding the slide. Existing 01_model_comparison.svg covers the tuned pair; it does not replace the requested four-candidate table.</a:t>
            </a:r>
          </a:p>
          <a:p xmlns:a="http://schemas.openxmlformats.org/drawingml/2006/main">
            <a:r>
              <a:t/>
            </a:r>
          </a:p>
          <a:p xmlns:a="http://schemas.openxmlformats.org/drawingml/2006/main">
            <a:r>
              <a:t>Sources: RESULTS (evidence/ml/rolling_month_v5/RESULTS.md), comparison.csv (evidence/ml/rolling_month_v5/comparison.csv), chart data (evidence/ml/rolling_month_v5/figures/slides/chart_data.json).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example comes from the verified latest-batch figure data. It is the highest-scoring synthetic profile, so it is intentionally illustrative rather than representative. Feature contributions are summed with their signs into six approved groups; the interface surfaces up to three strictly positive groups. The full explanation also includes negative contributions and a baseline. For this example, the baseline is about −4.237 calibrated log-odds, with negative offsets from Support Experience, Usage &amp; Engagement, and Renewal &amp; Promotion Status. All six groups reconstruct the saved probability of approximately 0.9696. The figures are log-odds contributions, not percentage-point changes in probability. A positive payment-group attribution alone does not prove debt; staff must check billing mode, applicability and actual facts.</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Use evidence/ml/rolling_month_v5/figures/slides/07_shap_example_waterfall.svg, retaining all six signed groups and baseline. The small positive-group table may be reduced to annotations if the full chart is large. Never normalise the top three into shares of churn probability. Do not use this highest-scoring example as a live portal identity without separately checking permissions/consent and matching the current record.</a:t>
            </a:r>
          </a:p>
          <a:p xmlns:a="http://schemas.openxmlformats.org/drawingml/2006/main">
            <a:r>
              <a:t/>
            </a:r>
          </a:p>
          <a:p xmlns:a="http://schemas.openxmlformats.org/drawingml/2006/main">
            <a:r>
              <a:t>Sources: chart data (evidence/ml/rolling_month_v5/figures/slides/chart_data.json), SHAP verification (evidence/ml/rolling_month_v5/shap_summary.json), active group mapping (../ml/shap_groups.json).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product provides separate message and call-script outputs. These examples are authored presentation illustrations, not claimed to be fresh LLM outputs or completed conversations. For the risk profile on the previous slide, a neutral first contact is preferable to asserting a cause that has not been confirmed. The assistant should not disclose an internal risk score, invent unpaid debt, promise a discount, book an unconfirmed appointment or claim a technical repair is complete. Agents may request a rewrite while preserving the facts and policy. A call script assists a human caller; the prototype does not place autonomous calls. An approved outbound message still needs the correct revision and an eligible contact at send time.</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One side-by-side composition: a short message excerpt and numbered call outline, with the staff review gate beneath. Label both examples “Authored illustration; not an executed conversation.” Avoid chat bubbles that could be mistaken for a genuine customer exchange. Any later screenshot of actual AI output must retain a dated evidence label and omit embedded logos.</a:t>
            </a:r>
          </a:p>
          <a:p xmlns:a="http://schemas.openxmlformats.org/drawingml/2006/main">
            <a:r>
              <a:t/>
            </a:r>
          </a:p>
          <a:p xmlns:a="http://schemas.openxmlformats.org/drawingml/2006/main">
            <a:r>
              <a:t>Sources: SYSTEM, AI request and approval contracts (SYSTEM.md), historical AI evidence (evidence/n8n_agents.json), n8n README (../n8n/README.md). Illustrative wording above is newly authored for this presentation.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Python runs offline; the prototype does not require an always-on prediction API. Supabase holds the shared case state and checks role and ownership at the database boundary. The web application presents tasks and facts to staff rather than exposing implementation details. n8n separates three AI output types from mock delivery and care operations, while the LLM draws on case context and an enabled FAQ knowledge source. This division supports collaboration and traceability. It does not prove scalability: concurrency, provider integration and operational monitoring still need testing. The migrated workflows remain unpublished, and high-frequency idle polling would waste the limited demo execution budget. Event-driven activation or tightly controlled demo operation is the intended next operating choice.</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Prefer one labelled architecture diagram with these responsibilities as short annotations, rather than a dense table plus a second diagram. Use text-only tool names. Put the staff/browser boundary, database approval boundary and mock external channel clearly on the diagram. Keep server credentials outside the browser in the visual.</a:t>
            </a:r>
          </a:p>
          <a:p xmlns:a="http://schemas.openxmlformats.org/drawingml/2006/main">
            <a:r>
              <a:t/>
            </a:r>
          </a:p>
          <a:p xmlns:a="http://schemas.openxmlformats.org/drawingml/2006/main">
            <a:r>
              <a:t>Sources: SYSTEM (SYSTEM.md), n8n README (../n8n/README.md), n8n migration (evidence/n8n_migration.json).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historical evidence records a real LLM connection and Google Sheets knowledge use, rather than template text presented as generated output. One recorded group of three artifact requests completed in about twelve seconds; that single observation is not a latency benchmark or service guarantee. Other checks record approval separation, mock delivery and reply deduplication. Importantly, an initial unsafe draft was rejected and superseded, so it would be misleading to present the results as proof that hallucination has been eliminated. We have no systematic scored dataset of grounding, tone or eligibility quality in this evidence. A structured rubric remains future work. After migration, graph and credential references were checked without executing workflows; current runtime acceptance is pending.</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Use the dated evidence table as the primary visual. Add an excerpt of sanitised output only if it can be linked to a saved artifact. Do not create pass percentages, star ratings, invented test-set sizes or current-live status indicators. Optional notes-only future rubric: correctness against facts, unsupported promises, instruction adherence, English clarity and contact-policy compliance, with two human reviewers and a defined sample.</a:t>
            </a:r>
          </a:p>
          <a:p xmlns:a="http://schemas.openxmlformats.org/drawingml/2006/main">
            <a:r>
              <a:t/>
            </a:r>
          </a:p>
          <a:p xmlns:a="http://schemas.openxmlformats.org/drawingml/2006/main">
            <a:r>
              <a:t>Sources: historical AI agents (evidence/n8n_agents.json), historical workflow checks (evidence/n8n_workflows.json), migration checks (evidence/n8n_migration.json).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Validation has several layers with different evidential strength. Current v5 artifacts include model and explanation checks, rolling-window database checks and local UI tests. Cloud SQL role checks show the intended visibility scopes, including no internal cases for the customer portal. These checks should not be treated as a completed multi-user browser acceptance test. They also do not establish high-load concurrency, production operations or actual channel delivery. The updated UI still requires deployment and rehearsal; n8n runtime migration is not complete. The offer catalog and cost interface are unfinished. Financial and retention benefits therefore remain hypotheses. The appropriate conclusion is that the core technical design is feasible within the synthetic/mock scope and needs a controlled next-stage evaluation.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One evidence–boundary table. Keep dates visible and do not sum different suites into a single “all tests” score. In notes, preserve additional security review items: SECURITY DEFINER RPCs require continued access checks, and stronger Auth protections remain a deployment consideration. Do not label the system production-ready or security-certified.</a:t>
            </a:r>
          </a:p>
          <a:p xmlns:a="http://schemas.openxmlformats.org/drawingml/2006/main">
            <a:r>
              <a:t/>
            </a:r>
          </a:p>
          <a:p xmlns:a="http://schemas.openxmlformats.org/drawingml/2006/main">
            <a:r>
              <a:t>Sources: v5 cutover evidence (evidence/ml/rolling_month_v5/supabase_v5_cutover.json), SHAP verification (evidence/ml/rolling_month_v5/shap_summary.json), IMPLEMENTATION (IMPLEMENTATION.md), historical workflow evidence (evidence/n8n_workflows.json).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These numbers are deliberately hypothetical and should be replaced with Finance-approved inputs. We use 1,000 treatment-assigned customers to illustrate the economics; this is neither the 207-case demo cohort nor a statistically powered pilot size. Total cost is 1,000 times VND 10,000 plus VND 10 million, or VND 20 million. At five percentage points of incremental retention, fifty additional retained customers contribute VND 15 million, so net value remains negative. The high case becomes positive, illustrating why effective intervention and cost discipline matter. The VND 300,000 input is contribution margin over three months, not the VND 205,000 reference monthly fee. It assumes the additional customers contribute for that horizon, which needs observation and sensitivity testing. We have not demonstrated these retention effects.</a:t>
            </a:r>
          </a:p>
          <a:p xmlns:a="http://schemas.openxmlformats.org/drawingml/2006/main">
            <a:r>
              <a:t/>
            </a:r>
          </a:p>
          <a:p xmlns:a="http://schemas.openxmlformats.org/drawingml/2006/main">
            <a:r>
              <a:t>### Calculation specification</a:t>
            </a:r>
          </a:p>
          <a:p xmlns:a="http://schemas.openxmlformats.org/drawingml/2006/main">
            <a:r>
              <a:t/>
            </a:r>
          </a:p>
          <a:p xmlns:a="http://schemas.openxmlformats.org/drawingml/2006/main">
            <a:r>
              <a:t>Let N = 1,000, H = three months, incremental retained fraction = d, margin per additionally retained customer over H = M = 300,000 VND, per-assigned-customer intervention cost = c = 10,000 VND, and allocated operating cost over H = F = 10,000,000 VND.</a:t>
            </a:r>
          </a:p>
          <a:p xmlns:a="http://schemas.openxmlformats.org/drawingml/2006/main">
            <a:r>
              <a:t/>
            </a:r>
          </a:p>
          <a:p xmlns:a="http://schemas.openxmlformats.org/drawingml/2006/main">
            <a:r>
              <a:t>- Total cost C = N × c + F = 20,000,000 VND.</a:t>
            </a:r>
          </a:p>
          <a:p xmlns:a="http://schemas.openxmlformats.org/drawingml/2006/main">
            <a:r>
              <a:t>- Incremental contribution = N × d × M.</a:t>
            </a:r>
          </a:p>
          <a:p xmlns:a="http://schemas.openxmlformats.org/drawingml/2006/main">
            <a:r>
              <a:t>- Net value = N × d × M − C.</a:t>
            </a:r>
          </a:p>
          <a:p xmlns:a="http://schemas.openxmlformats.org/drawingml/2006/main">
            <a:r>
              <a:t>- ROI = net value / C.</a:t>
            </a:r>
          </a:p>
          <a:p xmlns:a="http://schemas.openxmlformats.org/drawingml/2006/main">
            <a:r>
              <a:t>- Break-even d = C / (N × M) = 0.0666667 = 6.67 percentage points.</a:t>
            </a:r>
          </a:p>
          <a:p xmlns:a="http://schemas.openxmlformats.org/drawingml/2006/main">
            <a:r>
              <a:t/>
            </a:r>
          </a:p>
          <a:p xmlns:a="http://schemas.openxmlformats.org/drawingml/2006/main">
            <a:r>
              <a:t>The intervention cost envelope must include staff time, expected redeemed-offer expense and contact/channel costs exactly once. Allocate LLM, infrastructure and support overhead consistently within F or c; do not double-count. In a pilot, use incremental costs against the existing-process counterfactual, keep currency/horizon consistent, and account for uncertainty, margin differences and persistence of retention. Time saved is an operational benefit; do not monetise it twice if already reflected in the cost calculation.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Use a simple three-bar net-value chart with a zero line and a compact assumptions strip, or the three-row table if more legible. Orange marks break-even; blue represents scenarios. Label the chart “Illustrative assumptions, not measured ROI.” Do not connect this scenario to an approved FPT offer. No external source is claimed for the chosen numbers.</a:t>
            </a:r>
          </a:p>
          <a:p xmlns:a="http://schemas.openxmlformats.org/drawingml/2006/main">
            <a:r>
              <a:t/>
            </a:r>
          </a:p>
          <a:p xmlns:a="http://schemas.openxmlformats.org/drawingml/2006/main">
            <a:r>
              <a:t>Sources: new author-created arithmetic illustration using the framework in REPORT, business case (REPORT.md); profit-oriented motivation R3 (#external-reference-register). All numerical assumptions above are provisional.</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pilot must distinguish service outcomes from care activity. A reply, an accepted offer or a completed case cannot substitute for retained service. Define eligibility before randomisation, document the control process and keep each customer in one arm across repeated scoring batches. Otherwise, overlapping predictions could expose one customer to both strategies. Analyse intention to treat and monitor spillovers between staff and customers. Define the primary outcome and complete follow-up horizon before collecting results. Sample size should follow baseline churn, the minimum detectable effect and expected attrition, rather than the illustrative 1,000-person financial example. The rolling prediction window and the pilot's common experimental follow-up must both be explicit; they need not be conflated.</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Two-arm customer-level pilot diagram above a concise metric table. Notes-only definitions: incremental retention = retained proportion in treatment minus retained proportion in control; review time = minutes on a prespecified task; AI error rate = reviewed outputs with a defined error / reviewed outputs. For reply rates use delivered messages when real delivery receipts exist, otherwise explicitly use sent messages. Planned pilot thresholds remain to be agreed, not presented as achieved.</a:t>
            </a:r>
          </a:p>
          <a:p xmlns:a="http://schemas.openxmlformats.org/drawingml/2006/main">
            <a:r>
              <a:t/>
            </a:r>
          </a:p>
          <a:p xmlns:a="http://schemas.openxmlformats.org/drawingml/2006/main">
            <a:r>
              <a:t>Sources: REPORT, controlled pilot (REPORT.md), SYSTEM, outcome rules (SYSTEM.md), R4 (#external-reference-register). No pilot has been run by this task.</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roadmap uses stage gates because calendar dates, owners and enterprise access have not been formally committed. Immediate work concerns the actual current runtime: deploy the updated UI when authorised, finish the controlled n8n cutover, rehearse the browser journey and complete cost/catalog decisions. Enterprise preparation requires permissioned data, agreement on churn definitions and suitable integration boundaries. A pilot then provides operational and causal evidence before management considers expansion. Data mismatch calls for local validation; unsupported content calls for fact and policy review; overlapping windows call for stable customer assignment and outreach deduplication. Staff adoption requires task-based usability testing. Real channel integration introduces additional provider and consent requirements outside the current mock demo.</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One four-stage roadmap with owner and gate annotations; a short risk-to-mitigation line beneath. Do not invent dates, an approved budget or nationwide rollout commitment. Additional risk: idle n8n schedules can consume quota even when they find no work; controlled activation is required.</a:t>
            </a:r>
          </a:p>
          <a:p xmlns:a="http://schemas.openxmlformats.org/drawingml/2006/main">
            <a:r>
              <a:t/>
            </a:r>
          </a:p>
          <a:p xmlns:a="http://schemas.openxmlformats.org/drawingml/2006/main">
            <a:r>
              <a:t>Sources: IMPLEMENTATION, current handover and steps 8–10 (IMPLEMENTATION.md), SYSTEM (SYSTEM.md), n8n migration (evidence/n8n_migration.json).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We recommend progressing through controlled preparation rather than assuming a synthetic demonstration establishes enterprise value. The prototype provides a concrete way to connect predictions with staff decisions, accountable action and measurable outcomes. The next decision is whether to provide the data, sponsorship and operational support needed for a limited pilot once the current runtime has passed acceptance. Success requires both useful customer care and an economic benefit over the existing process. If outcomes do not improve, costs exceed the agreed envelope or guardrails deteriorate, the team should revise or stop the intervention. This recommendation keeps the investment decision tied to evidence while preserving the ability to learn from a small deployment.</a:t>
            </a:r>
          </a:p>
          <a:p xmlns:a="http://schemas.openxmlformats.org/drawingml/2006/main">
            <a:r>
              <a:t/>
            </a:r>
          </a:p>
          <a:p xmlns:a="http://schemas.openxmlformats.org/drawingml/2006/main">
            <a:r>
              <a:t/>
            </a:r>
          </a:p>
          <a:p xmlns:a="http://schemas.openxmlformats.org/drawingml/2006/main">
            <a:r>
              <a:t/>
            </a:r>
          </a:p>
          <a:p xmlns:a="http://schemas.openxmlformats.org/drawingml/2006/main">
            <a:r>
              <a:t>Sources and visual provenance</a:t>
            </a:r>
          </a:p>
          <a:p xmlns:a="http://schemas.openxmlformats.org/drawingml/2006/main">
            <a:r>
              <a:t/>
            </a:r>
          </a:p>
          <a:p xmlns:a="http://schemas.openxmlformats.org/drawingml/2006/main">
            <a:r>
              <a:t>Use one prominent recommendation with four short prerequisites below. White background, blue title and a restrained orange rule. No logo, decorative “thank you” page, unapproved commitments, or extra slide. Questions can follow orally.</a:t>
            </a:r>
          </a:p>
          <a:p xmlns:a="http://schemas.openxmlformats.org/drawingml/2006/main">
            <a:r>
              <a:t/>
            </a:r>
          </a:p>
          <a:p xmlns:a="http://schemas.openxmlformats.org/drawingml/2006/main">
            <a:r>
              <a:t>Sources: REPORT (REPORT.md), IMPLEMENTATION (IMPLEMENTATION.md), slide 22's proposed evaluation design.</a:t>
            </a:r>
          </a:p>
          <a:p xmlns:a="http://schemas.openxmlformats.org/drawingml/2006/main">
            <a:r>
              <a:t/>
            </a:r>
          </a:p>
          <a:p xmlns:a="http://schemas.openxmlformats.org/drawingml/2006/main">
            <a:r>
              <a: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4eac691ff848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4f57fe07af40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562fdd009b47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6a0ab80ccb4e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76aa5ecbe94f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e53fe876d148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2B80AB-19AF-426C-9E7A-CC37A24627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1B2E04-F921-4B50-8001-7E257A1BA4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37F155-23E4-40C7-B43C-CF1C838B06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F75EAB-BA61-4D71-8381-4AA72531B3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0C68A5-0659-488A-80EC-A238269F62E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A0772F-7A19-488F-A6EA-2EBC742D0C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C2E7AD-C546-4B83-91AC-1FF1888761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721AF88-9B9D-4C83-A626-57B12005E5C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411796-D7A7-4CF0-8925-2946DAE090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3A47D2-2D08-466D-85FB-1F2B873127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f2e09b099c428c" /><Relationship Type="http://schemas.openxmlformats.org/officeDocument/2006/relationships/slideLayout" Target="/ppt/slideLayouts/slideLayout1.xml" Id="Rbf33909ff4ec412f" /><Relationship Type="http://schemas.openxmlformats.org/officeDocument/2006/relationships/slideLayout" Target="/ppt/slideLayouts/slideLayout2.xml" Id="R72c6e14b706a4f74" /><Relationship Type="http://schemas.openxmlformats.org/officeDocument/2006/relationships/slideLayout" Target="/ppt/slideLayouts/slideLayout3.xml" Id="R68e3d1f9db1c4fe9" /><Relationship Type="http://schemas.openxmlformats.org/officeDocument/2006/relationships/slideLayout" Target="/ppt/slideLayouts/slideLayout4.xml" Id="R1cebd2266dce4c31" /><Relationship Type="http://schemas.openxmlformats.org/officeDocument/2006/relationships/slideLayout" Target="/ppt/slideLayouts/slideLayout5.xml" Id="R38b8d5cac7fe4f2e" /><Relationship Type="http://schemas.openxmlformats.org/officeDocument/2006/relationships/slideLayout" Target="/ppt/slideLayouts/slideLayout6.xml" Id="R75fba1ac360047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33909ff4ec412f"/>
    <p:sldLayoutId xmlns:r="http://schemas.openxmlformats.org/officeDocument/2006/relationships" id="2147483650" r:id="R72c6e14b706a4f74"/>
    <p:sldLayoutId xmlns:r="http://schemas.openxmlformats.org/officeDocument/2006/relationships" id="2147483651" r:id="R68e3d1f9db1c4fe9"/>
    <p:sldLayoutId xmlns:r="http://schemas.openxmlformats.org/officeDocument/2006/relationships" id="2147483652" r:id="R1cebd2266dce4c31"/>
    <p:sldLayoutId xmlns:r="http://schemas.openxmlformats.org/officeDocument/2006/relationships" id="2147483653" r:id="R38b8d5cac7fe4f2e"/>
    <p:sldLayoutId xmlns:r="http://schemas.openxmlformats.org/officeDocument/2006/relationships" id="2147483654" r:id="R75fba1ac360047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elecom White">
      <a:dk1>
        <a:srgbClr val="000000"/>
      </a:dk1>
      <a:lt1>
        <a:srgbClr val="FFFFFF"/>
      </a:lt1>
      <a:dk2>
        <a:srgbClr val="142C48"/>
      </a:dk2>
      <a:lt2>
        <a:srgbClr val="F4F8FC"/>
      </a:lt2>
      <a:accent1>
        <a:srgbClr val="0D69B3"/>
      </a:accent1>
      <a:accent2>
        <a:srgbClr val="F27323"/>
      </a:accent2>
      <a:accent3>
        <a:srgbClr val="1FB34A"/>
      </a:accent3>
      <a:accent4>
        <a:srgbClr val="61738A"/>
      </a:accent4>
      <a:accent5>
        <a:srgbClr val="4E87B5"/>
      </a:accent5>
      <a:accent6>
        <a:srgbClr val="A7CDE8"/>
      </a:accent6>
      <a:hlink>
        <a:srgbClr val="0D69B3"/>
      </a:hlink>
      <a:folHlink>
        <a:srgbClr val="F27323"/>
      </a:folHlink>
    </a:clrScheme>
    <a:fontScheme name="">
      <a:majorFont>
        <a:latin typeface="Aptos"/>
        <a:ea typeface=""/>
        <a:cs typeface=""/>
      </a:majorFont>
      <a:minorFont>
        <a:latin typeface="Aptos"/>
        <a:ea typeface=""/>
        <a:cs typeface=""/>
      </a:minorFont>
    </a:fontScheme>
    <a:fmtScheme name="Telecom Whi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9c4bb5590ad4970" /><Relationship Type="http://schemas.openxmlformats.org/officeDocument/2006/relationships/image" Target="/ppt/media/image.png" Id="R507edf6d16974e1b" /><Relationship Type="http://schemas.openxmlformats.org/officeDocument/2006/relationships/notesSlide" Target="/ppt/notesSlides/notesSlide1.xml" Id="R5e0f4952e20e45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5824a4a6b640f0" /><Relationship Type="http://schemas.openxmlformats.org/officeDocument/2006/relationships/notesSlide" Target="/ppt/notesSlides/notesSlide2.xml" Id="R7fb90cd3f30a4e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25996127374fd2" /><Relationship Type="http://schemas.openxmlformats.org/officeDocument/2006/relationships/image" Target="/ppt/media/image2.png" Id="R3234adc7ff204fda" /><Relationship Type="http://schemas.openxmlformats.org/officeDocument/2006/relationships/chart" Target="/ppt/slides/charts/chart1.xml" Id="R000d30cf0d4e408a" /><Relationship Type="http://schemas.openxmlformats.org/officeDocument/2006/relationships/notesSlide" Target="/ppt/notesSlides/notesSlide3.xml" Id="R5e632d20800c4b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891f5b7a3774ed2" /><Relationship Type="http://schemas.openxmlformats.org/officeDocument/2006/relationships/notesSlide" Target="/ppt/notesSlides/notesSlide4.xml" Id="R9d694aabaa1b41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31370fc65742a1" /><Relationship Type="http://schemas.openxmlformats.org/officeDocument/2006/relationships/notesSlide" Target="/ppt/notesSlides/notesSlide5.xml" Id="Rb9f1248d4e5149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598d86715f466d" /><Relationship Type="http://schemas.openxmlformats.org/officeDocument/2006/relationships/notesSlide" Target="/ppt/notesSlides/notesSlide6.xml" Id="Rf34dcdb8f2bc49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7c19497777420b" /><Relationship Type="http://schemas.openxmlformats.org/officeDocument/2006/relationships/notesSlide" Target="/ppt/notesSlides/notesSlide7.xml" Id="R7ed2f7e7b6a34f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703644e6bd4a7f" /><Relationship Type="http://schemas.openxmlformats.org/officeDocument/2006/relationships/notesSlide" Target="/ppt/notesSlides/notesSlide8.xml" Id="R95fda5e306af48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458b6bda5534199" /><Relationship Type="http://schemas.openxmlformats.org/officeDocument/2006/relationships/notesSlide" Target="/ppt/notesSlides/notesSlide9.xml" Id="R14110f10065e4f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d8b8a163fff4a3c" /><Relationship Type="http://schemas.openxmlformats.org/officeDocument/2006/relationships/notesSlide" Target="/ppt/notesSlides/notesSlide10.xml" Id="R344c2c12941645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3b40edcfb014b95" /><Relationship Type="http://schemas.openxmlformats.org/officeDocument/2006/relationships/notesSlide" Target="/ppt/notesSlides/notesSlide11.xml" Id="R453f707ac8694b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6b25d393bc34bf0" /><Relationship Type="http://schemas.openxmlformats.org/officeDocument/2006/relationships/notesSlide" Target="/ppt/notesSlides/notesSlide12.xml" Id="R616d8595a6bd47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cb2a760ba384e6c" /><Relationship Type="http://schemas.openxmlformats.org/officeDocument/2006/relationships/image" Target="/ppt/media/image3.png" Id="R2edbb1823ca04b18" /><Relationship Type="http://schemas.openxmlformats.org/officeDocument/2006/relationships/notesSlide" Target="/ppt/notesSlides/notesSlide13.xml" Id="R5fbefe0e85c94c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060f3f3d5104b04" /><Relationship Type="http://schemas.openxmlformats.org/officeDocument/2006/relationships/notesSlide" Target="/ppt/notesSlides/notesSlide14.xml" Id="Rf917d3d6761b499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094de91d1d44566" /><Relationship Type="http://schemas.openxmlformats.org/officeDocument/2006/relationships/notesSlide" Target="/ppt/notesSlides/notesSlide15.xml" Id="R9bd6982c82de43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6e80a06438544bd" /><Relationship Type="http://schemas.openxmlformats.org/officeDocument/2006/relationships/chart" Target="/ppt/slides/charts/chart2.xml" Id="R3ae0dfcfa6f34dc1" /><Relationship Type="http://schemas.openxmlformats.org/officeDocument/2006/relationships/notesSlide" Target="/ppt/notesSlides/notesSlide16.xml" Id="R590e745127ca4c8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d31c0e2d9ab4aeb" /><Relationship Type="http://schemas.openxmlformats.org/officeDocument/2006/relationships/notesSlide" Target="/ppt/notesSlides/notesSlide17.xml" Id="R1a9ba19178b441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18b79e0a5294b7c" /><Relationship Type="http://schemas.openxmlformats.org/officeDocument/2006/relationships/notesSlide" Target="/ppt/notesSlides/notesSlide18.xml" Id="R61ac76df25314d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564123ac3a943c0" /><Relationship Type="http://schemas.openxmlformats.org/officeDocument/2006/relationships/notesSlide" Target="/ppt/notesSlides/notesSlide19.xml" Id="Rab426c95cfe7471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d4ea9f6b6a74254" /><Relationship Type="http://schemas.openxmlformats.org/officeDocument/2006/relationships/notesSlide" Target="/ppt/notesSlides/notesSlide20.xml" Id="Rb808ec18ca35413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120e9b89f444f6f" /><Relationship Type="http://schemas.openxmlformats.org/officeDocument/2006/relationships/chart" Target="/ppt/slides/charts/chart3.xml" Id="R7b45fe4e7ac44090" /><Relationship Type="http://schemas.openxmlformats.org/officeDocument/2006/relationships/notesSlide" Target="/ppt/notesSlides/notesSlide21.xml" Id="Rbe216a6041854c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b01d7a389934462" /><Relationship Type="http://schemas.openxmlformats.org/officeDocument/2006/relationships/notesSlide" Target="/ppt/notesSlides/notesSlide22.xml" Id="R199d0a146581497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4df1f4cf81c4925" /><Relationship Type="http://schemas.openxmlformats.org/officeDocument/2006/relationships/notesSlide" Target="/ppt/notesSlides/notesSlide23.xml" Id="Re31c10af52ea466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a399ff75a1a4768" /><Relationship Type="http://schemas.openxmlformats.org/officeDocument/2006/relationships/notesSlide" Target="/ppt/notesSlides/notesSlide24.xml" Id="R303437d656d243b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Customers</c:v>
          </c:tx>
          <c:spPr>
            <a:solidFill xmlns:a="http://schemas.openxmlformats.org/drawingml/2006/main">
              <a:srgbClr val="0D69B3"/>
            </a:solidFill>
          </c:spPr>
          <c:invertIfNegative val="0"/>
          <c:cat>
            <c:strRef>
              <c:f>'Chart Data'!$A$2:$A$3</c:f>
              <c:strCache>
                <c:ptCount val="2"/>
                <c:pt idx="0">
                  <c:v>August 2026</c:v>
                </c:pt>
                <c:pt idx="1">
                  <c:v>September 2026</c:v>
                </c:pt>
              </c:strCache>
            </c:strRef>
          </c:cat>
          <c:val>
            <c:numRef>
              <c:f>'Chart Data'!$B$2:$B$3</c:f>
              <c:numCache>
                <c:formatCode>#,##0</c:formatCode>
                <c:ptCount val="2"/>
                <c:pt idx="0">
                  <c:v>1300</c:v>
                </c:pt>
                <c:pt idx="1">
                  <c:v>2500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b="1">
                  <a:solidFill>
                    <a:srgbClr val="142C48"/>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AE3EB"/>
            </a:solidFill>
          </a:ln>
        </c:spPr>
        <c:txPr>
          <a:bodyPr xmlns:a="http://schemas.openxmlformats.org/drawingml/2006/main" anchorCtr="1"/>
          <a:lstStyle xmlns:a="http://schemas.openxmlformats.org/drawingml/2006/main"/>
          <a:p xmlns:a="http://schemas.openxmlformats.org/drawingml/2006/main">
            <a:pPr>
              <a:defRPr sz="1575">
                <a:solidFill>
                  <a:srgbClr val="142C48"/>
                </a:solidFill>
                <a:latin typeface="Arial"/>
                <a:ea typeface="Arial"/>
                <a:cs typeface="Arial"/>
              </a:defRPr>
            </a:pPr>
          </a:p>
        </c:txPr>
        <c:crossAx val="48672768"/>
      </c:catAx>
      <c:valAx>
        <c:axId val="48672768"/>
        <c:scaling>
          <c:orientation val="minMax"/>
          <c:max val="3000"/>
          <c:min val="0"/>
        </c:scaling>
        <c:delete val="0"/>
        <c:axPos val="l"/>
        <c:majorGridlines>
          <c:spPr>
            <a:ln xmlns:a="http://schemas.openxmlformats.org/drawingml/2006/main" w="5715">
              <a:solidFill>
                <a:srgbClr val="DAE3E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38A"/>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Signed contribution (calibrated log-odds)</c:v>
          </c:tx>
          <c:spPr>
            <a:solidFill xmlns:a="http://schemas.openxmlformats.org/drawingml/2006/main">
              <a:srgbClr val="0D69B3"/>
            </a:solidFill>
          </c:spPr>
          <c:invertIfNegative val="0"/>
          <c:cat>
            <c:strRef>
              <c:f>'Chart Data'!$A$2:$A$7</c:f>
              <c:strCache>
                <c:ptCount val="6"/>
                <c:pt idx="0">
                  <c:v>Connection  +0.056</c:v>
                </c:pt>
                <c:pt idx="1">
                  <c:v>Support  −0.034</c:v>
                </c:pt>
                <c:pt idx="2">
                  <c:v>Payment  +0.706</c:v>
                </c:pt>
                <c:pt idx="3">
                  <c:v>Usage  −0.074</c:v>
                </c:pt>
                <c:pt idx="4">
                  <c:v>Renewal  −0.015</c:v>
                </c:pt>
                <c:pt idx="5">
                  <c:v>Plan / pricing  +7.061</c:v>
                </c:pt>
              </c:strCache>
            </c:strRef>
          </c:cat>
          <c:val>
            <c:numRef>
              <c:f>'Chart Data'!$B$2:$B$7</c:f>
              <c:numCache>
                <c:formatCode>0.0</c:formatCode>
                <c:ptCount val="6"/>
                <c:pt idx="0">
                  <c:v>0.056</c:v>
                </c:pt>
                <c:pt idx="1">
                  <c:v>-0.034</c:v>
                </c:pt>
                <c:pt idx="2">
                  <c:v>0.706</c:v>
                </c:pt>
                <c:pt idx="3">
                  <c:v>-0.074</c:v>
                </c:pt>
                <c:pt idx="4">
                  <c:v>-0.015</c:v>
                </c:pt>
                <c:pt idx="5">
                  <c:v>7.061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42C48"/>
                  </a:solidFill>
                  <a:latin typeface="Arial"/>
                  <a:ea typeface="Arial"/>
                  <a:cs typeface="Arial"/>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AE3EB"/>
            </a:solidFill>
          </a:ln>
        </c:spPr>
        <c:txPr>
          <a:bodyPr xmlns:a="http://schemas.openxmlformats.org/drawingml/2006/main" anchorCtr="1"/>
          <a:lstStyle xmlns:a="http://schemas.openxmlformats.org/drawingml/2006/main"/>
          <a:p xmlns:a="http://schemas.openxmlformats.org/drawingml/2006/main">
            <a:pPr>
              <a:defRPr sz="1575">
                <a:solidFill>
                  <a:srgbClr val="142C48"/>
                </a:solidFill>
                <a:latin typeface="Arial"/>
                <a:ea typeface="Arial"/>
                <a:cs typeface="Arial"/>
              </a:defRPr>
            </a:pPr>
          </a:p>
        </c:txPr>
        <c:crossAx val="48672768"/>
      </c:catAx>
      <c:valAx>
        <c:axId val="48672768"/>
        <c:scaling>
          <c:orientation val="minMax"/>
          <c:max val="7.5"/>
          <c:min val="-0.2"/>
        </c:scaling>
        <c:delete val="0"/>
        <c:axPos val="b"/>
        <c:majorGridlines>
          <c:spPr>
            <a:ln xmlns:a="http://schemas.openxmlformats.org/drawingml/2006/main" w="5715">
              <a:solidFill>
                <a:srgbClr val="DAE3EB"/>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38A"/>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Net value (VND million)</c:v>
          </c:tx>
          <c:spPr>
            <a:solidFill xmlns:a="http://schemas.openxmlformats.org/drawingml/2006/main">
              <a:srgbClr val="0D69B3"/>
            </a:solidFill>
          </c:spPr>
          <c:invertIfNegative val="0"/>
          <c:cat>
            <c:strRef>
              <c:f>'Chart Data'!$A$2:$A$4</c:f>
              <c:strCache>
                <c:ptCount val="3"/>
                <c:pt idx="0">
                  <c:v>Low: 2 pp</c:v>
                </c:pt>
                <c:pt idx="1">
                  <c:v>Base: 5 pp</c:v>
                </c:pt>
                <c:pt idx="2">
                  <c:v>High: 8 pp</c:v>
                </c:pt>
              </c:strCache>
            </c:strRef>
          </c:cat>
          <c:val>
            <c:numRef>
              <c:f>'Chart Data'!$B$2:$B$4</c:f>
              <c:numCache>
                <c:formatCode>0;−0</c:formatCode>
                <c:ptCount val="3"/>
                <c:pt idx="0">
                  <c:v>-14</c:v>
                </c:pt>
                <c:pt idx="1">
                  <c:v>-5</c:v>
                </c:pt>
                <c:pt idx="2">
                  <c:v>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42C48"/>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AE3EB"/>
            </a:solidFill>
          </a:ln>
        </c:spPr>
        <c:txPr>
          <a:bodyPr xmlns:a="http://schemas.openxmlformats.org/drawingml/2006/main" anchorCtr="1"/>
          <a:lstStyle xmlns:a="http://schemas.openxmlformats.org/drawingml/2006/main"/>
          <a:p xmlns:a="http://schemas.openxmlformats.org/drawingml/2006/main">
            <a:pPr>
              <a:defRPr sz="1575">
                <a:solidFill>
                  <a:srgbClr val="142C48"/>
                </a:solidFill>
                <a:latin typeface="Arial"/>
                <a:ea typeface="Arial"/>
                <a:cs typeface="Arial"/>
              </a:defRPr>
            </a:pPr>
          </a:p>
        </c:txPr>
        <c:crossAx val="48672768"/>
      </c:catAx>
      <c:valAx>
        <c:axId val="48672768"/>
        <c:scaling>
          <c:orientation val="minMax"/>
          <c:max val="10"/>
          <c:min val="-20"/>
        </c:scaling>
        <c:delete val="0"/>
        <c:axPos val="l"/>
        <c:majorGridlines>
          <c:spPr>
            <a:ln xmlns:a="http://schemas.openxmlformats.org/drawingml/2006/main" w="5715">
              <a:solidFill>
                <a:srgbClr val="DAE3EB"/>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38A"/>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5EC8D7BE-9D2B-4F41-8A9C-809D17E5CEAE}"/>
              </a:ext>
            </a:extLst>
          </p:cNvPr>
          <p:cNvSpPr>
            <a:spLocks xmlns:a="http://schemas.openxmlformats.org/drawingml/2006/main" noGrp="1"/>
          </p:cNvSpPr>
          <p:nvPr/>
        </p:nvSpPr>
        <p:spPr>
          <a:xfrm xmlns:a="http://schemas.openxmlformats.org/drawingml/2006/main">
            <a:off x="609600" y="495300"/>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1">
                <a:solidFill>
                  <a:srgbClr val="0D69B3"/>
                </a:solidFill>
              </a:defRPr>
            </a:defPPr>
            <a:lvl1pPr algn="l">
              <a:defRPr sz="1200" b="1">
                <a:solidFill>
                  <a:srgbClr val="0D69B3"/>
                </a:solidFill>
              </a:defRPr>
            </a:lvl1pPr>
            <a:lvl2pPr algn="l">
              <a:defRPr sz="1200" b="1">
                <a:solidFill>
                  <a:srgbClr val="0D69B3"/>
                </a:solidFill>
              </a:defRPr>
            </a:lvl2pPr>
            <a:lvl3pPr algn="l">
              <a:defRPr sz="1200" b="1">
                <a:solidFill>
                  <a:srgbClr val="0D69B3"/>
                </a:solidFill>
              </a:defRPr>
            </a:lvl3pPr>
            <a:lvl4pPr algn="l">
              <a:defRPr sz="1200" b="1">
                <a:solidFill>
                  <a:srgbClr val="0D69B3"/>
                </a:solidFill>
              </a:defRPr>
            </a:lvl4pPr>
            <a:lvl5pPr algn="l">
              <a:defRPr sz="1200" b="1">
                <a:solidFill>
                  <a:srgbClr val="0D69B3"/>
                </a:solidFill>
              </a:defRPr>
            </a:lvl5pPr>
            <a:lvl6pPr algn="l">
              <a:defRPr sz="1200" b="1">
                <a:solidFill>
                  <a:srgbClr val="0D69B3"/>
                </a:solidFill>
              </a:defRPr>
            </a:lvl6pPr>
            <a:lvl7pPr algn="l">
              <a:defRPr sz="1200" b="1">
                <a:solidFill>
                  <a:srgbClr val="0D69B3"/>
                </a:solidFill>
              </a:defRPr>
            </a:lvl7pPr>
            <a:lvl8pPr algn="l">
              <a:defRPr sz="1200" b="1">
                <a:solidFill>
                  <a:srgbClr val="0D69B3"/>
                </a:solidFill>
              </a:defRPr>
            </a:lvl8pPr>
            <a:lvl9pPr algn="l">
              <a:defRPr sz="1200" b="1">
                <a:solidFill>
                  <a:srgbClr val="0D69B3"/>
                </a:solidFill>
              </a:defRPr>
            </a:lvl9pPr>
          </a:lstStyle>
          <a:p xmlns:a="http://schemas.openxmlformats.org/drawingml/2006/main">
            <a:pPr algn="l">
              <a:defRPr sz="1200" b="1">
                <a:solidFill>
                  <a:srgbClr val="0D69B3"/>
                </a:solidFill>
              </a:defRPr>
            </a:pPr>
            <a:r>
              <a:rPr sz="1200" b="1">
                <a:solidFill>
                  <a:srgbClr val="0D69B3"/>
                </a:solidFill>
              </a:rPr>
              <a:t>ADVANCED BUSINESS ANALYTICS</a:t>
            </a:r>
          </a:p>
        </p:txBody>
      </p:sp>
      <p:sp>
        <p:nvSpPr>
          <p:cNvPr id="2" name="text-1">
            <a:extLst xmlns:a="http://schemas.openxmlformats.org/drawingml/2006/main">
              <a:ext uri="{FF2B5EF4-FFF2-40B4-BE49-F238E27FC236}">
                <a16:creationId xmlns:a16="http://schemas.microsoft.com/office/drawing/2014/main" id="{B29468C4-D8F5-4506-8583-B9E869C34C4D}"/>
              </a:ext>
            </a:extLst>
          </p:cNvPr>
          <p:cNvSpPr>
            <a:spLocks xmlns:a="http://schemas.openxmlformats.org/drawingml/2006/main" noGrp="1"/>
          </p:cNvSpPr>
          <p:nvPr/>
        </p:nvSpPr>
        <p:spPr>
          <a:xfrm xmlns:a="http://schemas.openxmlformats.org/drawingml/2006/main">
            <a:off x="609600" y="1466850"/>
            <a:ext cx="65722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800" b="1">
                <a:solidFill>
                  <a:srgbClr val="142C48"/>
                </a:solidFill>
              </a:defRPr>
            </a:defPPr>
            <a:lvl1pPr algn="l">
              <a:defRPr sz="4800" b="1">
                <a:solidFill>
                  <a:srgbClr val="142C48"/>
                </a:solidFill>
              </a:defRPr>
            </a:lvl1pPr>
            <a:lvl2pPr algn="l">
              <a:defRPr sz="4800" b="1">
                <a:solidFill>
                  <a:srgbClr val="142C48"/>
                </a:solidFill>
              </a:defRPr>
            </a:lvl2pPr>
            <a:lvl3pPr algn="l">
              <a:defRPr sz="4800" b="1">
                <a:solidFill>
                  <a:srgbClr val="142C48"/>
                </a:solidFill>
              </a:defRPr>
            </a:lvl3pPr>
            <a:lvl4pPr algn="l">
              <a:defRPr sz="4800" b="1">
                <a:solidFill>
                  <a:srgbClr val="142C48"/>
                </a:solidFill>
              </a:defRPr>
            </a:lvl4pPr>
            <a:lvl5pPr algn="l">
              <a:defRPr sz="4800" b="1">
                <a:solidFill>
                  <a:srgbClr val="142C48"/>
                </a:solidFill>
              </a:defRPr>
            </a:lvl5pPr>
            <a:lvl6pPr algn="l">
              <a:defRPr sz="4800" b="1">
                <a:solidFill>
                  <a:srgbClr val="142C48"/>
                </a:solidFill>
              </a:defRPr>
            </a:lvl6pPr>
            <a:lvl7pPr algn="l">
              <a:defRPr sz="4800" b="1">
                <a:solidFill>
                  <a:srgbClr val="142C48"/>
                </a:solidFill>
              </a:defRPr>
            </a:lvl7pPr>
            <a:lvl8pPr algn="l">
              <a:defRPr sz="4800" b="1">
                <a:solidFill>
                  <a:srgbClr val="142C48"/>
                </a:solidFill>
              </a:defRPr>
            </a:lvl8pPr>
            <a:lvl9pPr algn="l">
              <a:defRPr sz="4800" b="1">
                <a:solidFill>
                  <a:srgbClr val="142C48"/>
                </a:solidFill>
              </a:defRPr>
            </a:lvl9pPr>
          </a:lstStyle>
          <a:p xmlns:a="http://schemas.openxmlformats.org/drawingml/2006/main">
            <a:pPr algn="l">
              <a:defRPr sz="4800" b="1">
                <a:solidFill>
                  <a:srgbClr val="142C48"/>
                </a:solidFill>
              </a:defRPr>
            </a:pPr>
            <a:r>
              <a:rPr sz="4800" b="1">
                <a:solidFill>
                  <a:srgbClr val="142C48"/>
                </a:solidFill>
              </a:rPr>
              <a:t>AI-Powered</a:t>
            </a:r>
          </a:p>
          <a:p xmlns:a="http://schemas.openxmlformats.org/drawingml/2006/main">
            <a:pPr algn="l">
              <a:defRPr sz="4800" b="1">
                <a:solidFill>
                  <a:srgbClr val="142C48"/>
                </a:solidFill>
              </a:defRPr>
            </a:pPr>
            <a:r>
              <a:rPr sz="4800" b="1">
                <a:solidFill>
                  <a:srgbClr val="142C48"/>
                </a:solidFill>
              </a:rPr>
              <a:t>Telecom Customer</a:t>
            </a:r>
          </a:p>
          <a:p xmlns:a="http://schemas.openxmlformats.org/drawingml/2006/main">
            <a:pPr algn="l">
              <a:defRPr sz="4800" b="1">
                <a:solidFill>
                  <a:srgbClr val="142C48"/>
                </a:solidFill>
              </a:defRPr>
            </a:pPr>
            <a:r>
              <a:rPr sz="4800" b="1">
                <a:solidFill>
                  <a:srgbClr val="142C48"/>
                </a:solidFill>
              </a:rPr>
              <a:t>Retention</a:t>
            </a:r>
          </a:p>
        </p:txBody>
      </p:sp>
      <p:sp>
        <p:nvSpPr>
          <p:cNvPr id="3" name="">
            <a:extLst xmlns:a="http://schemas.openxmlformats.org/drawingml/2006/main">
              <a:ext uri="{FF2B5EF4-FFF2-40B4-BE49-F238E27FC236}">
                <a16:creationId xmlns:a16="http://schemas.microsoft.com/office/drawing/2014/main" id="{EEC4227D-4AF6-427F-BC75-E22C864B363D}"/>
              </a:ext>
            </a:extLst>
          </p:cNvPr>
          <p:cNvSpPr>
            <a:spLocks xmlns:a="http://schemas.openxmlformats.org/drawingml/2006/main" noGrp="1"/>
          </p:cNvSpPr>
          <p:nvPr/>
        </p:nvSpPr>
        <p:spPr>
          <a:xfrm xmlns:a="http://schemas.openxmlformats.org/drawingml/2006/main">
            <a:off x="609600" y="3905250"/>
            <a:ext cx="571500" cy="47625"/>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96909BC1-08EB-4D22-8872-F3B54874F01F}"/>
              </a:ext>
            </a:extLst>
          </p:cNvPr>
          <p:cNvSpPr>
            <a:spLocks xmlns:a="http://schemas.openxmlformats.org/drawingml/2006/main" noGrp="1"/>
          </p:cNvSpPr>
          <p:nvPr/>
        </p:nvSpPr>
        <p:spPr>
          <a:xfrm xmlns:a="http://schemas.openxmlformats.org/drawingml/2006/main">
            <a:off x="609600" y="4238625"/>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61738A"/>
                </a:solidFill>
              </a:defRPr>
            </a:defPPr>
            <a:lvl1pPr algn="l">
              <a:defRPr sz="2175" b="0">
                <a:solidFill>
                  <a:srgbClr val="61738A"/>
                </a:solidFill>
              </a:defRPr>
            </a:lvl1pPr>
            <a:lvl2pPr algn="l">
              <a:defRPr sz="2175" b="0">
                <a:solidFill>
                  <a:srgbClr val="61738A"/>
                </a:solidFill>
              </a:defRPr>
            </a:lvl2pPr>
            <a:lvl3pPr algn="l">
              <a:defRPr sz="2175" b="0">
                <a:solidFill>
                  <a:srgbClr val="61738A"/>
                </a:solidFill>
              </a:defRPr>
            </a:lvl3pPr>
            <a:lvl4pPr algn="l">
              <a:defRPr sz="2175" b="0">
                <a:solidFill>
                  <a:srgbClr val="61738A"/>
                </a:solidFill>
              </a:defRPr>
            </a:lvl4pPr>
            <a:lvl5pPr algn="l">
              <a:defRPr sz="2175" b="0">
                <a:solidFill>
                  <a:srgbClr val="61738A"/>
                </a:solidFill>
              </a:defRPr>
            </a:lvl5pPr>
            <a:lvl6pPr algn="l">
              <a:defRPr sz="2175" b="0">
                <a:solidFill>
                  <a:srgbClr val="61738A"/>
                </a:solidFill>
              </a:defRPr>
            </a:lvl6pPr>
            <a:lvl7pPr algn="l">
              <a:defRPr sz="2175" b="0">
                <a:solidFill>
                  <a:srgbClr val="61738A"/>
                </a:solidFill>
              </a:defRPr>
            </a:lvl7pPr>
            <a:lvl8pPr algn="l">
              <a:defRPr sz="2175" b="0">
                <a:solidFill>
                  <a:srgbClr val="61738A"/>
                </a:solidFill>
              </a:defRPr>
            </a:lvl8pPr>
            <a:lvl9pPr algn="l">
              <a:defRPr sz="2175" b="0">
                <a:solidFill>
                  <a:srgbClr val="61738A"/>
                </a:solidFill>
              </a:defRPr>
            </a:lvl9pPr>
          </a:lstStyle>
          <a:p xmlns:a="http://schemas.openxmlformats.org/drawingml/2006/main">
            <a:pPr algn="l">
              <a:defRPr sz="2175" b="0">
                <a:solidFill>
                  <a:srgbClr val="61738A"/>
                </a:solidFill>
              </a:defRPr>
            </a:pPr>
            <a:r>
              <a:rPr sz="2175" b="0">
                <a:solidFill>
                  <a:srgbClr val="61738A"/>
                </a:solidFill>
              </a:rPr>
              <a:t>A staff-approved workflow that turns churn</a:t>
            </a:r>
          </a:p>
          <a:p xmlns:a="http://schemas.openxmlformats.org/drawingml/2006/main">
            <a:pPr algn="l">
              <a:defRPr sz="2175" b="0">
                <a:solidFill>
                  <a:srgbClr val="61738A"/>
                </a:solidFill>
              </a:defRPr>
            </a:pPr>
            <a:r>
              <a:rPr sz="2175" b="0">
                <a:solidFill>
                  <a:srgbClr val="61738A"/>
                </a:solidFill>
              </a:rPr>
              <a:t>alerts into coordinated customer care.</a:t>
            </a:r>
          </a:p>
        </p:txBody>
      </p:sp>
      <p:sp>
        <p:nvSpPr>
          <p:cNvPr id="5" name="text-4">
            <a:extLst xmlns:a="http://schemas.openxmlformats.org/drawingml/2006/main">
              <a:ext uri="{FF2B5EF4-FFF2-40B4-BE49-F238E27FC236}">
                <a16:creationId xmlns:a16="http://schemas.microsoft.com/office/drawing/2014/main" id="{15302B6F-FAE9-4615-A010-E4AC025430DC}"/>
              </a:ext>
            </a:extLst>
          </p:cNvPr>
          <p:cNvSpPr>
            <a:spLocks xmlns:a="http://schemas.openxmlformats.org/drawingml/2006/main" noGrp="1"/>
          </p:cNvSpPr>
          <p:nvPr/>
        </p:nvSpPr>
        <p:spPr>
          <a:xfrm xmlns:a="http://schemas.openxmlformats.org/drawingml/2006/main">
            <a:off x="609600" y="5619750"/>
            <a:ext cx="5238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0">
                <a:solidFill>
                  <a:srgbClr val="0D69B3"/>
                </a:solidFill>
              </a:defRPr>
            </a:defPPr>
            <a:lvl1pPr algn="l">
              <a:defRPr sz="1500" b="0">
                <a:solidFill>
                  <a:srgbClr val="0D69B3"/>
                </a:solidFill>
              </a:defRPr>
            </a:lvl1pPr>
            <a:lvl2pPr algn="l">
              <a:defRPr sz="1500" b="0">
                <a:solidFill>
                  <a:srgbClr val="0D69B3"/>
                </a:solidFill>
              </a:defRPr>
            </a:lvl2pPr>
            <a:lvl3pPr algn="l">
              <a:defRPr sz="1500" b="0">
                <a:solidFill>
                  <a:srgbClr val="0D69B3"/>
                </a:solidFill>
              </a:defRPr>
            </a:lvl3pPr>
            <a:lvl4pPr algn="l">
              <a:defRPr sz="1500" b="0">
                <a:solidFill>
                  <a:srgbClr val="0D69B3"/>
                </a:solidFill>
              </a:defRPr>
            </a:lvl4pPr>
            <a:lvl5pPr algn="l">
              <a:defRPr sz="1500" b="0">
                <a:solidFill>
                  <a:srgbClr val="0D69B3"/>
                </a:solidFill>
              </a:defRPr>
            </a:lvl5pPr>
            <a:lvl6pPr algn="l">
              <a:defRPr sz="1500" b="0">
                <a:solidFill>
                  <a:srgbClr val="0D69B3"/>
                </a:solidFill>
              </a:defRPr>
            </a:lvl6pPr>
            <a:lvl7pPr algn="l">
              <a:defRPr sz="1500" b="0">
                <a:solidFill>
                  <a:srgbClr val="0D69B3"/>
                </a:solidFill>
              </a:defRPr>
            </a:lvl7pPr>
            <a:lvl8pPr algn="l">
              <a:defRPr sz="1500" b="0">
                <a:solidFill>
                  <a:srgbClr val="0D69B3"/>
                </a:solidFill>
              </a:defRPr>
            </a:lvl8pPr>
            <a:lvl9pPr algn="l">
              <a:defRPr sz="1500" b="0">
                <a:solidFill>
                  <a:srgbClr val="0D69B3"/>
                </a:solidFill>
              </a:defRPr>
            </a:lvl9pPr>
          </a:lstStyle>
          <a:p xmlns:a="http://schemas.openxmlformats.org/drawingml/2006/main">
            <a:pPr algn="l">
              <a:defRPr sz="1500" b="0">
                <a:solidFill>
                  <a:srgbClr val="0D69B3"/>
                </a:solidFill>
              </a:defRPr>
            </a:pPr>
            <a:r>
              <a:rPr sz="1500" b="0">
                <a:solidFill>
                  <a:srgbClr val="0D69B3"/>
                </a:solidFill>
              </a:rPr>
              <a:t>Academic prototype</a:t>
            </a:r>
          </a:p>
          <a:p xmlns:a="http://schemas.openxmlformats.org/drawingml/2006/main">
            <a:pPr algn="l">
              <a:defRPr sz="1500" b="0">
                <a:solidFill>
                  <a:srgbClr val="0D69B3"/>
                </a:solidFill>
              </a:defRPr>
            </a:pPr>
            <a:r>
              <a:rPr sz="1500" b="0">
                <a:solidFill>
                  <a:srgbClr val="0D69B3"/>
                </a:solidFill>
              </a:rPr>
              <a:t>October 2026</a:t>
            </a:r>
          </a:p>
        </p:txBody>
      </p:sp>
      <p:pic>
        <p:nvPicPr>
          <p:cNvPr id="6" name="">
            <a:extLst xmlns:a="http://schemas.openxmlformats.org/drawingml/2006/main">
              <a:ext uri="{FF2B5EF4-FFF2-40B4-BE49-F238E27FC236}">
                <a16:creationId xmlns:a16="http://schemas.microsoft.com/office/drawing/2014/main" id="{3B7F5E4D-FE33-48BC-9308-818E3D0384A7}"/>
              </a:ext>
            </a:extLst>
          </p:cNvPr>
          <p:cNvPicPr>
            <a:picLocks xmlns:a="http://schemas.openxmlformats.org/drawingml/2006/main" noChangeAspect="1"/>
          </p:cNvPicPr>
          <p:nvPr/>
        </p:nvPicPr>
        <p:blipFill>
          <a:blip xmlns:r="http://schemas.openxmlformats.org/officeDocument/2006/relationships" xmlns:a="http://schemas.openxmlformats.org/drawingml/2006/main" r:embed="R507edf6d16974e1b"/>
          <a:stretch xmlns:a="http://schemas.openxmlformats.org/drawingml/2006/main"/>
        </p:blipFill>
        <p:spPr>
          <a:xfrm xmlns:a="http://schemas.openxmlformats.org/drawingml/2006/main">
            <a:off x="7600950" y="2200101"/>
            <a:ext cx="3981450" cy="2143472"/>
          </a:xfrm>
          <a:prstGeom xmlns:a="http://schemas.openxmlformats.org/drawingml/2006/main" prst="rect">
            <a:avLst/>
          </a:prstGeom>
        </p:spPr>
      </p:pic>
      <p:sp>
        <p:nvSpPr>
          <p:cNvPr id="7" name="text-5">
            <a:extLst xmlns:a="http://schemas.openxmlformats.org/drawingml/2006/main">
              <a:ext uri="{FF2B5EF4-FFF2-40B4-BE49-F238E27FC236}">
                <a16:creationId xmlns:a16="http://schemas.microsoft.com/office/drawing/2014/main" id="{0A5F39C5-59C9-44B1-AEAA-719AC410F37F}"/>
              </a:ext>
            </a:extLst>
          </p:cNvPr>
          <p:cNvSpPr>
            <a:spLocks xmlns:a="http://schemas.openxmlformats.org/drawingml/2006/main" noGrp="1"/>
          </p:cNvSpPr>
          <p:nvPr/>
        </p:nvSpPr>
        <p:spPr>
          <a:xfrm xmlns:a="http://schemas.openxmlformats.org/drawingml/2006/main">
            <a:off x="7600950" y="5314950"/>
            <a:ext cx="398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61738A"/>
                </a:solidFill>
              </a:defRPr>
            </a:defPPr>
            <a:lvl1pPr algn="l">
              <a:defRPr sz="1275" b="0">
                <a:solidFill>
                  <a:srgbClr val="61738A"/>
                </a:solidFill>
              </a:defRPr>
            </a:lvl1pPr>
            <a:lvl2pPr algn="l">
              <a:defRPr sz="1275" b="0">
                <a:solidFill>
                  <a:srgbClr val="61738A"/>
                </a:solidFill>
              </a:defRPr>
            </a:lvl2pPr>
            <a:lvl3pPr algn="l">
              <a:defRPr sz="1275" b="0">
                <a:solidFill>
                  <a:srgbClr val="61738A"/>
                </a:solidFill>
              </a:defRPr>
            </a:lvl3pPr>
            <a:lvl4pPr algn="l">
              <a:defRPr sz="1275" b="0">
                <a:solidFill>
                  <a:srgbClr val="61738A"/>
                </a:solidFill>
              </a:defRPr>
            </a:lvl4pPr>
            <a:lvl5pPr algn="l">
              <a:defRPr sz="1275" b="0">
                <a:solidFill>
                  <a:srgbClr val="61738A"/>
                </a:solidFill>
              </a:defRPr>
            </a:lvl5pPr>
            <a:lvl6pPr algn="l">
              <a:defRPr sz="1275" b="0">
                <a:solidFill>
                  <a:srgbClr val="61738A"/>
                </a:solidFill>
              </a:defRPr>
            </a:lvl6pPr>
            <a:lvl7pPr algn="l">
              <a:defRPr sz="1275" b="0">
                <a:solidFill>
                  <a:srgbClr val="61738A"/>
                </a:solidFill>
              </a:defRPr>
            </a:lvl7pPr>
            <a:lvl8pPr algn="l">
              <a:defRPr sz="1275" b="0">
                <a:solidFill>
                  <a:srgbClr val="61738A"/>
                </a:solidFill>
              </a:defRPr>
            </a:lvl8pPr>
            <a:lvl9pPr algn="l">
              <a:defRPr sz="1275" b="0">
                <a:solidFill>
                  <a:srgbClr val="61738A"/>
                </a:solidFill>
              </a:defRPr>
            </a:lvl9pPr>
          </a:lstStyle>
          <a:p xmlns:a="http://schemas.openxmlformats.org/drawingml/2006/main">
            <a:pPr algn="l">
              <a:defRPr sz="1275" b="0">
                <a:solidFill>
                  <a:srgbClr val="61738A"/>
                </a:solidFill>
              </a:defRPr>
            </a:pPr>
            <a:r>
              <a:rPr sz="1275" b="0">
                <a:solidFill>
                  <a:srgbClr val="61738A"/>
                </a:solidFill>
              </a:rPr>
              <a:t>Interface design reference</a:t>
            </a:r>
          </a:p>
          <a:p xmlns:a="http://schemas.openxmlformats.org/drawingml/2006/main">
            <a:pPr algn="l">
              <a:defRPr sz="1275" b="0">
                <a:solidFill>
                  <a:srgbClr val="61738A"/>
                </a:solidFill>
              </a:defRPr>
            </a:pPr>
            <a:r>
              <a:rPr sz="1275" b="0">
                <a:solidFill>
                  <a:srgbClr val="61738A"/>
                </a:solidFill>
              </a:rPr>
              <a:t>Illustrative data</a:t>
            </a:r>
          </a:p>
        </p:txBody>
      </p:sp>
      <p:sp>
        <p:nvSpPr>
          <p:cNvPr id="8" name="">
            <a:extLst xmlns:a="http://schemas.openxmlformats.org/drawingml/2006/main">
              <a:ext uri="{FF2B5EF4-FFF2-40B4-BE49-F238E27FC236}">
                <a16:creationId xmlns:a16="http://schemas.microsoft.com/office/drawing/2014/main" id="{78836CE0-283A-448C-AFC5-D1D4F798A07F}"/>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9" name="text-7">
            <a:extLst xmlns:a="http://schemas.openxmlformats.org/drawingml/2006/main">
              <a:ext uri="{FF2B5EF4-FFF2-40B4-BE49-F238E27FC236}">
                <a16:creationId xmlns:a16="http://schemas.microsoft.com/office/drawing/2014/main" id="{9DF468ED-9A37-4C2E-8ABF-A7B4C37F043E}"/>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Content master: docs/SLIDE_CONTENT.md  |  Synthetic data and simulated channels</a:t>
            </a:r>
          </a:p>
        </p:txBody>
      </p:sp>
      <p:sp>
        <p:nvSpPr>
          <p:cNvPr id="10" name="text-8">
            <a:extLst xmlns:a="http://schemas.openxmlformats.org/drawingml/2006/main">
              <a:ext uri="{FF2B5EF4-FFF2-40B4-BE49-F238E27FC236}">
                <a16:creationId xmlns:a16="http://schemas.microsoft.com/office/drawing/2014/main" id="{C0E5680A-39E0-4251-95B9-1BC8F9E8E800}"/>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01 / 24</a:t>
            </a:r>
          </a:p>
        </p:txBody>
      </p:sp>
    </p:spTree>
    <p:extLst>
      <p:ext uri="{BB962C8B-B14F-4D97-AF65-F5344CB8AC3E}">
        <p14:creationId xmlns:p14="http://schemas.microsoft.com/office/powerpoint/2010/main" val="1392103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4262F15B-8F94-4133-AFC8-0F51DAF86EB3}"/>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OPENING</a:t>
            </a:r>
          </a:p>
        </p:txBody>
      </p:sp>
      <p:sp>
        <p:nvSpPr>
          <p:cNvPr id="2" name="text-1">
            <a:extLst xmlns:a="http://schemas.openxmlformats.org/drawingml/2006/main">
              <a:ext uri="{FF2B5EF4-FFF2-40B4-BE49-F238E27FC236}">
                <a16:creationId xmlns:a16="http://schemas.microsoft.com/office/drawing/2014/main" id="{3AF104F2-35B6-4082-A330-95BF7B4A8DEF}"/>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PDMT Framework</a:t>
            </a:r>
          </a:p>
        </p:txBody>
      </p:sp>
      <p:sp>
        <p:nvSpPr>
          <p:cNvPr id="3" name="">
            <a:extLst xmlns:a="http://schemas.openxmlformats.org/drawingml/2006/main">
              <a:ext uri="{FF2B5EF4-FFF2-40B4-BE49-F238E27FC236}">
                <a16:creationId xmlns:a16="http://schemas.microsoft.com/office/drawing/2014/main" id="{725BBE16-7A8F-4D42-BAB0-890B32CB43E5}"/>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845710A-5752-44DF-8C07-37C70751CDDA}"/>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62DC9E38-E5C2-475E-BEC2-26457065E9B2}"/>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REPORT.md and SYSTEM.md. Proposed queue policies and impact evaluation remain distinct from live features.</a:t>
            </a:r>
          </a:p>
        </p:txBody>
      </p:sp>
      <p:sp>
        <p:nvSpPr>
          <p:cNvPr id="6" name="text-5">
            <a:extLst xmlns:a="http://schemas.openxmlformats.org/drawingml/2006/main">
              <a:ext uri="{FF2B5EF4-FFF2-40B4-BE49-F238E27FC236}">
                <a16:creationId xmlns:a16="http://schemas.microsoft.com/office/drawing/2014/main" id="{346CFF32-858E-44E7-A0CB-0A63776A0257}"/>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02 / 24</a:t>
            </a:r>
          </a:p>
        </p:txBody>
      </p:sp>
      <p:graphicFrame>
        <p:nvGraphicFramePr>
          <p:cNvPr id="7" name="">
            <a:extLst xmlns:a="http://schemas.openxmlformats.org/drawingml/2006/main">
              <a:ext uri="{FF2B5EF4-FFF2-40B4-BE49-F238E27FC236}">
                <a16:creationId xmlns:a16="http://schemas.microsoft.com/office/drawing/2014/main" id="{AB756602-9F8D-42FD-92FD-ADE80DF7B06C}"/>
              </a:ext>
            </a:extLst>
          </p:cNvPr>
          <p:cNvGraphicFramePr/>
          <p:nvPr/>
        </p:nvGraphicFramePr>
        <p:xfrm>
          <a:off xmlns:a="http://schemas.openxmlformats.org/drawingml/2006/main" x="609600" y="1828800"/>
          <a:ext xmlns:a="http://schemas.openxmlformats.org/drawingml/2006/main" cx="10972800" cy="3714750"/>
        </p:xfrm>
        <a:graphic xmlns:a="http://schemas.openxmlformats.org/drawingml/2006/main">
          <a:graphicData uri="http://schemas.openxmlformats.org/drawingml/2006/table">
            <a:tbl>
              <a:tblPr/>
              <a:tblGrid>
                <a:gridCol w="2667000"/>
                <a:gridCol w="2724150"/>
                <a:gridCol w="2952750"/>
                <a:gridCol w="2628900"/>
              </a:tblGrid>
              <a:tr h="495300">
                <a:tc>
                  <a:txBody>
                    <a:bodyPr/>
                    <a:lstStyle/>
                    <a:p>
                      <a:r>
                        <a:rPr sz="1650" b="1">
                          <a:solidFill>
                            <a:srgbClr val="0D69B3"/>
                          </a:solidFill>
                        </a:rPr>
                        <a:t>Problem / decision</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650" b="1">
                          <a:solidFill>
                            <a:srgbClr val="0D69B3"/>
                          </a:solidFill>
                        </a:rPr>
                        <a:t>Data</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650" b="1">
                          <a:solidFill>
                            <a:srgbClr val="0D69B3"/>
                          </a:solidFill>
                        </a:rPr>
                        <a:t>Method</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650" b="1">
                          <a:solidFill>
                            <a:srgbClr val="0D69B3"/>
                          </a:solidFill>
                        </a:rPr>
                        <a:t>Tools</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804863">
                <a:tc>
                  <a:txBody>
                    <a:bodyPr/>
                    <a:lstStyle/>
                    <a:p>
                      <a:r>
                        <a:rPr sz="1650" b="1">
                          <a:solidFill>
                            <a:srgbClr val="142C48"/>
                          </a:solidFill>
                        </a:rPr>
                        <a:t>Who receives attention first?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Scores, waiting time, contact eligibility</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Risk ranking; capacity-aware queue design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Python, Supabase, CS app</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804863">
                <a:tc>
                  <a:txBody>
                    <a:bodyPr/>
                    <a:lstStyle/>
                    <a:p>
                      <a:r>
                        <a:rPr sz="1650" b="1">
                          <a:solidFill>
                            <a:srgbClr val="142C48"/>
                          </a:solidFill>
                        </a:rPr>
                        <a:t>What should staff discuss?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Service, billing, support, conversation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SHAP interpretation; grounded drafting</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Native SHAP, LLM, knowledge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804863">
                <a:tc>
                  <a:txBody>
                    <a:bodyPr/>
                    <a:lstStyle/>
                    <a:p>
                      <a:r>
                        <a:rPr sz="1650" b="1">
                          <a:solidFill>
                            <a:srgbClr val="142C48"/>
                          </a:solidFill>
                        </a:rPr>
                        <a:t>When should another team help?</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Reply and unresolved service requests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Staff-led escalation; follow-up rules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CS app, n8n, support handoff</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804863">
                <a:tc>
                  <a:txBody>
                    <a:bodyPr/>
                    <a:lstStyle/>
                    <a:p>
                      <a:r>
                        <a:rPr sz="1650" b="1">
                          <a:solidFill>
                            <a:srgbClr val="142C48"/>
                          </a:solidFill>
                        </a:rPr>
                        <a:t>Does the workflow create value?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Period outcomes, actions, costs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Operational metrics; controlled pilot</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Supabase, reporting, experiment</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93FBD04A-CC5B-421F-A639-3BFF1219DD56}"/>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Decision quality connects the four PDMT elements.</a:t>
            </a:r>
          </a:p>
        </p:txBody>
      </p:sp>
    </p:spTree>
    <p:extLst>
      <p:ext uri="{BB962C8B-B14F-4D97-AF65-F5344CB8AC3E}">
        <p14:creationId xmlns:p14="http://schemas.microsoft.com/office/powerpoint/2010/main" val="19976065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0FC04AA9-6CD8-4238-B0B7-CC5EA4FE2854}"/>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PROBLEM</a:t>
            </a:r>
          </a:p>
        </p:txBody>
      </p:sp>
      <p:sp>
        <p:nvSpPr>
          <p:cNvPr id="2" name="text-1">
            <a:extLst xmlns:a="http://schemas.openxmlformats.org/drawingml/2006/main">
              <a:ext uri="{FF2B5EF4-FFF2-40B4-BE49-F238E27FC236}">
                <a16:creationId xmlns:a16="http://schemas.microsoft.com/office/drawing/2014/main" id="{8EFCE8B1-A102-4898-AC30-08C9C31828C1}"/>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Business Context and Retention Opportunity</a:t>
            </a:r>
          </a:p>
        </p:txBody>
      </p:sp>
      <p:sp>
        <p:nvSpPr>
          <p:cNvPr id="3" name="">
            <a:extLst xmlns:a="http://schemas.openxmlformats.org/drawingml/2006/main">
              <a:ext uri="{FF2B5EF4-FFF2-40B4-BE49-F238E27FC236}">
                <a16:creationId xmlns:a16="http://schemas.microsoft.com/office/drawing/2014/main" id="{8B14DE84-23FF-4C14-B6CA-6CA3ECC8A7D6}"/>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8F6547-F8FD-4A4C-B3A9-0196D43B06EC}"/>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83162E39-6452-4AF0-883D-3FFC5692F892}"/>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PROBLEM.md, internal information supplied by the project participant. Figures have not been independently audited.</a:t>
            </a:r>
          </a:p>
        </p:txBody>
      </p:sp>
      <p:sp>
        <p:nvSpPr>
          <p:cNvPr id="6" name="text-5">
            <a:extLst xmlns:a="http://schemas.openxmlformats.org/drawingml/2006/main">
              <a:ext uri="{FF2B5EF4-FFF2-40B4-BE49-F238E27FC236}">
                <a16:creationId xmlns:a16="http://schemas.microsoft.com/office/drawing/2014/main" id="{B8AC0854-A5C1-4799-AC74-122735453A1E}"/>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03 / 24</a:t>
            </a:r>
          </a:p>
        </p:txBody>
      </p:sp>
      <p:pic>
        <p:nvPicPr>
          <p:cNvPr id="7" name="">
            <a:extLst xmlns:a="http://schemas.openxmlformats.org/drawingml/2006/main">
              <a:ext uri="{FF2B5EF4-FFF2-40B4-BE49-F238E27FC236}">
                <a16:creationId xmlns:a16="http://schemas.microsoft.com/office/drawing/2014/main" id="{1E572006-1642-498B-8039-E01D7C3E122C}"/>
              </a:ext>
            </a:extLst>
          </p:cNvPr>
          <p:cNvPicPr>
            <a:picLocks xmlns:a="http://schemas.openxmlformats.org/drawingml/2006/main" noChangeAspect="1"/>
          </p:cNvPicPr>
          <p:nvPr/>
        </p:nvPicPr>
        <p:blipFill>
          <a:blip xmlns:r="http://schemas.openxmlformats.org/officeDocument/2006/relationships" xmlns:a="http://schemas.openxmlformats.org/drawingml/2006/main" r:embed="R3234adc7ff204fda"/>
          <a:stretch xmlns:a="http://schemas.openxmlformats.org/drawingml/2006/main"/>
        </p:blipFill>
        <p:spPr>
          <a:xfrm xmlns:a="http://schemas.openxmlformats.org/drawingml/2006/main">
            <a:off x="8954220" y="1762125"/>
            <a:ext cx="2570311" cy="847725"/>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D0A464CC-DA0C-4151-8437-4B0653FB9103}"/>
              </a:ext>
            </a:extLst>
          </p:cNvPr>
          <p:cNvSpPr>
            <a:spLocks xmlns:a="http://schemas.openxmlformats.org/drawingml/2006/main" noGrp="1"/>
          </p:cNvSpPr>
          <p:nvPr/>
        </p:nvSpPr>
        <p:spPr>
          <a:xfrm xmlns:a="http://schemas.openxmlformats.org/drawingml/2006/main">
            <a:off x="8953500" y="272415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1">
                <a:solidFill>
                  <a:srgbClr val="0D69B3"/>
                </a:solidFill>
              </a:defRPr>
            </a:defPPr>
            <a:lvl1pPr algn="l">
              <a:defRPr sz="1725" b="1">
                <a:solidFill>
                  <a:srgbClr val="0D69B3"/>
                </a:solidFill>
              </a:defRPr>
            </a:lvl1pPr>
            <a:lvl2pPr algn="l">
              <a:defRPr sz="1725" b="1">
                <a:solidFill>
                  <a:srgbClr val="0D69B3"/>
                </a:solidFill>
              </a:defRPr>
            </a:lvl2pPr>
            <a:lvl3pPr algn="l">
              <a:defRPr sz="1725" b="1">
                <a:solidFill>
                  <a:srgbClr val="0D69B3"/>
                </a:solidFill>
              </a:defRPr>
            </a:lvl3pPr>
            <a:lvl4pPr algn="l">
              <a:defRPr sz="1725" b="1">
                <a:solidFill>
                  <a:srgbClr val="0D69B3"/>
                </a:solidFill>
              </a:defRPr>
            </a:lvl4pPr>
            <a:lvl5pPr algn="l">
              <a:defRPr sz="1725" b="1">
                <a:solidFill>
                  <a:srgbClr val="0D69B3"/>
                </a:solidFill>
              </a:defRPr>
            </a:lvl5pPr>
            <a:lvl6pPr algn="l">
              <a:defRPr sz="1725" b="1">
                <a:solidFill>
                  <a:srgbClr val="0D69B3"/>
                </a:solidFill>
              </a:defRPr>
            </a:lvl6pPr>
            <a:lvl7pPr algn="l">
              <a:defRPr sz="1725" b="1">
                <a:solidFill>
                  <a:srgbClr val="0D69B3"/>
                </a:solidFill>
              </a:defRPr>
            </a:lvl7pPr>
            <a:lvl8pPr algn="l">
              <a:defRPr sz="1725" b="1">
                <a:solidFill>
                  <a:srgbClr val="0D69B3"/>
                </a:solidFill>
              </a:defRPr>
            </a:lvl8pPr>
            <a:lvl9pPr algn="l">
              <a:defRPr sz="1725" b="1">
                <a:solidFill>
                  <a:srgbClr val="0D69B3"/>
                </a:solidFill>
              </a:defRPr>
            </a:lvl9pPr>
          </a:lstStyle>
          <a:p xmlns:a="http://schemas.openxmlformats.org/drawingml/2006/main">
            <a:pPr algn="l">
              <a:defRPr sz="1725" b="1">
                <a:solidFill>
                  <a:srgbClr val="0D69B3"/>
                </a:solidFill>
              </a:defRPr>
            </a:pPr>
            <a:r>
              <a:rPr sz="1725" b="1">
                <a:solidFill>
                  <a:srgbClr val="0D69B3"/>
                </a:solidFill>
              </a:rPr>
              <a:t>Internet services</a:t>
            </a:r>
          </a:p>
        </p:txBody>
      </p:sp>
      <p:sp>
        <p:nvSpPr>
          <p:cNvPr id="9" name="text-7">
            <a:extLst xmlns:a="http://schemas.openxmlformats.org/drawingml/2006/main">
              <a:ext uri="{FF2B5EF4-FFF2-40B4-BE49-F238E27FC236}">
                <a16:creationId xmlns:a16="http://schemas.microsoft.com/office/drawing/2014/main" id="{7E4E01B6-39C6-4CE1-9CF4-3891440620FA}"/>
              </a:ext>
            </a:extLst>
          </p:cNvPr>
          <p:cNvSpPr>
            <a:spLocks xmlns:a="http://schemas.openxmlformats.org/drawingml/2006/main" noGrp="1"/>
          </p:cNvSpPr>
          <p:nvPr/>
        </p:nvSpPr>
        <p:spPr>
          <a:xfrm xmlns:a="http://schemas.openxmlformats.org/drawingml/2006/main">
            <a:off x="609600" y="1800225"/>
            <a:ext cx="723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0D69B3"/>
                </a:solidFill>
              </a:defRPr>
            </a:defPPr>
            <a:lvl1pPr algn="l">
              <a:defRPr sz="2100" b="1">
                <a:solidFill>
                  <a:srgbClr val="0D69B3"/>
                </a:solidFill>
              </a:defRPr>
            </a:lvl1pPr>
            <a:lvl2pPr algn="l">
              <a:defRPr sz="2100" b="1">
                <a:solidFill>
                  <a:srgbClr val="0D69B3"/>
                </a:solidFill>
              </a:defRPr>
            </a:lvl2pPr>
            <a:lvl3pPr algn="l">
              <a:defRPr sz="2100" b="1">
                <a:solidFill>
                  <a:srgbClr val="0D69B3"/>
                </a:solidFill>
              </a:defRPr>
            </a:lvl3pPr>
            <a:lvl4pPr algn="l">
              <a:defRPr sz="2100" b="1">
                <a:solidFill>
                  <a:srgbClr val="0D69B3"/>
                </a:solidFill>
              </a:defRPr>
            </a:lvl4pPr>
            <a:lvl5pPr algn="l">
              <a:defRPr sz="2100" b="1">
                <a:solidFill>
                  <a:srgbClr val="0D69B3"/>
                </a:solidFill>
              </a:defRPr>
            </a:lvl5pPr>
            <a:lvl6pPr algn="l">
              <a:defRPr sz="2100" b="1">
                <a:solidFill>
                  <a:srgbClr val="0D69B3"/>
                </a:solidFill>
              </a:defRPr>
            </a:lvl6pPr>
            <a:lvl7pPr algn="l">
              <a:defRPr sz="2100" b="1">
                <a:solidFill>
                  <a:srgbClr val="0D69B3"/>
                </a:solidFill>
              </a:defRPr>
            </a:lvl7pPr>
            <a:lvl8pPr algn="l">
              <a:defRPr sz="2100" b="1">
                <a:solidFill>
                  <a:srgbClr val="0D69B3"/>
                </a:solidFill>
              </a:defRPr>
            </a:lvl8pPr>
            <a:lvl9pPr algn="l">
              <a:defRPr sz="2100" b="1">
                <a:solidFill>
                  <a:srgbClr val="0D69B3"/>
                </a:solidFill>
              </a:defRPr>
            </a:lvl9pPr>
          </a:lstStyle>
          <a:p xmlns:a="http://schemas.openxmlformats.org/drawingml/2006/main">
            <a:pPr algn="l">
              <a:defRPr sz="2100" b="1">
                <a:solidFill>
                  <a:srgbClr val="0D69B3"/>
                </a:solidFill>
              </a:defRPr>
            </a:pPr>
            <a:r>
              <a:rPr sz="2100" b="1">
                <a:solidFill>
                  <a:srgbClr val="0D69B3"/>
                </a:solidFill>
              </a:rPr>
              <a:t>Binh Duong pilot context</a:t>
            </a:r>
          </a:p>
        </p:txBody>
      </p:sp>
      <p:graphicFrame>
        <p:nvGraphicFramePr>
          <p:cNvPr id="10" name="Chart">
            <a:extLst xmlns:a="http://schemas.openxmlformats.org/drawingml/2006/main">
              <a:ext uri="{FF2B5EF4-FFF2-40B4-BE49-F238E27FC236}">
                <a16:creationId xmlns:a16="http://schemas.microsoft.com/office/drawing/2014/main" id="{67FEAA4D-5292-4036-93C3-2CE0099CA45C}"/>
              </a:ext>
            </a:extLst>
          </p:cNvPr>
          <p:cNvGraphicFramePr/>
          <p:nvPr/>
        </p:nvGraphicFramePr>
        <p:xfrm>
          <a:off xmlns:a="http://schemas.openxmlformats.org/drawingml/2006/main" x="609600" y="2314575"/>
          <a:ext xmlns:a="http://schemas.openxmlformats.org/drawingml/2006/main" cx="6667500" cy="2952750"/>
        </p:xfrm>
        <a:graphic xmlns:a="http://schemas.openxmlformats.org/drawingml/2006/main">
          <a:graphicData uri="http://schemas.openxmlformats.org/drawingml/2006/chart">
            <c:chart xmlns:r="http://schemas.openxmlformats.org/officeDocument/2006/relationships" xmlns:c="http://schemas.openxmlformats.org/drawingml/2006/chart" r:id="R000d30cf0d4e408a"/>
          </a:graphicData>
        </a:graphic>
      </p:graphicFrame>
      <p:sp>
        <p:nvSpPr>
          <p:cNvPr id="11" name="text-8">
            <a:extLst xmlns:a="http://schemas.openxmlformats.org/drawingml/2006/main">
              <a:ext uri="{FF2B5EF4-FFF2-40B4-BE49-F238E27FC236}">
                <a16:creationId xmlns:a16="http://schemas.microsoft.com/office/drawing/2014/main" id="{71FC0C68-3985-49A4-8608-9D270958B90D}"/>
              </a:ext>
            </a:extLst>
          </p:cNvPr>
          <p:cNvSpPr>
            <a:spLocks xmlns:a="http://schemas.openxmlformats.org/drawingml/2006/main" noGrp="1"/>
          </p:cNvSpPr>
          <p:nvPr/>
        </p:nvSpPr>
        <p:spPr>
          <a:xfrm xmlns:a="http://schemas.openxmlformats.org/drawingml/2006/main">
            <a:off x="8115300" y="33337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050" b="1">
                <a:solidFill>
                  <a:srgbClr val="142C48"/>
                </a:solidFill>
              </a:defRPr>
            </a:defPPr>
            <a:lvl1pPr algn="l">
              <a:defRPr sz="4050" b="1">
                <a:solidFill>
                  <a:srgbClr val="142C48"/>
                </a:solidFill>
              </a:defRPr>
            </a:lvl1pPr>
            <a:lvl2pPr algn="l">
              <a:defRPr sz="4050" b="1">
                <a:solidFill>
                  <a:srgbClr val="142C48"/>
                </a:solidFill>
              </a:defRPr>
            </a:lvl2pPr>
            <a:lvl3pPr algn="l">
              <a:defRPr sz="4050" b="1">
                <a:solidFill>
                  <a:srgbClr val="142C48"/>
                </a:solidFill>
              </a:defRPr>
            </a:lvl3pPr>
            <a:lvl4pPr algn="l">
              <a:defRPr sz="4050" b="1">
                <a:solidFill>
                  <a:srgbClr val="142C48"/>
                </a:solidFill>
              </a:defRPr>
            </a:lvl4pPr>
            <a:lvl5pPr algn="l">
              <a:defRPr sz="4050" b="1">
                <a:solidFill>
                  <a:srgbClr val="142C48"/>
                </a:solidFill>
              </a:defRPr>
            </a:lvl5pPr>
            <a:lvl6pPr algn="l">
              <a:defRPr sz="4050" b="1">
                <a:solidFill>
                  <a:srgbClr val="142C48"/>
                </a:solidFill>
              </a:defRPr>
            </a:lvl6pPr>
            <a:lvl7pPr algn="l">
              <a:defRPr sz="4050" b="1">
                <a:solidFill>
                  <a:srgbClr val="142C48"/>
                </a:solidFill>
              </a:defRPr>
            </a:lvl7pPr>
            <a:lvl8pPr algn="l">
              <a:defRPr sz="4050" b="1">
                <a:solidFill>
                  <a:srgbClr val="142C48"/>
                </a:solidFill>
              </a:defRPr>
            </a:lvl8pPr>
            <a:lvl9pPr algn="l">
              <a:defRPr sz="4050" b="1">
                <a:solidFill>
                  <a:srgbClr val="142C48"/>
                </a:solidFill>
              </a:defRPr>
            </a:lvl9pPr>
          </a:lstStyle>
          <a:p xmlns:a="http://schemas.openxmlformats.org/drawingml/2006/main">
            <a:pPr algn="l">
              <a:defRPr sz="4050" b="1">
                <a:solidFill>
                  <a:srgbClr val="142C48"/>
                </a:solidFill>
              </a:defRPr>
            </a:pPr>
            <a:r>
              <a:rPr sz="4050" b="1">
                <a:solidFill>
                  <a:srgbClr val="142C48"/>
                </a:solidFill>
              </a:rPr>
              <a:t>1.19%</a:t>
            </a:r>
          </a:p>
        </p:txBody>
      </p:sp>
      <p:sp>
        <p:nvSpPr>
          <p:cNvPr id="12" name="text-9">
            <a:extLst xmlns:a="http://schemas.openxmlformats.org/drawingml/2006/main">
              <a:ext uri="{FF2B5EF4-FFF2-40B4-BE49-F238E27FC236}">
                <a16:creationId xmlns:a16="http://schemas.microsoft.com/office/drawing/2014/main" id="{A3AE6DF4-09E8-46F1-A457-C22FE9219A83}"/>
              </a:ext>
            </a:extLst>
          </p:cNvPr>
          <p:cNvSpPr>
            <a:spLocks xmlns:a="http://schemas.openxmlformats.org/drawingml/2006/main" noGrp="1"/>
          </p:cNvSpPr>
          <p:nvPr/>
        </p:nvSpPr>
        <p:spPr>
          <a:xfrm xmlns:a="http://schemas.openxmlformats.org/drawingml/2006/main">
            <a:off x="8115300" y="4029075"/>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September churn rate</a:t>
            </a:r>
          </a:p>
          <a:p xmlns:a="http://schemas.openxmlformats.org/drawingml/2006/main">
            <a:pPr algn="l">
              <a:defRPr sz="1725" b="0">
                <a:solidFill>
                  <a:srgbClr val="61738A"/>
                </a:solidFill>
              </a:defRPr>
            </a:pPr>
            <a:r>
              <a:rPr sz="1725" b="0">
                <a:solidFill>
                  <a:srgbClr val="61738A"/>
                </a:solidFill>
              </a:rPr>
              <a:t>2,500 / approximately 210,000</a:t>
            </a:r>
          </a:p>
        </p:txBody>
      </p:sp>
      <p:sp>
        <p:nvSpPr>
          <p:cNvPr id="13" name="text-10">
            <a:extLst xmlns:a="http://schemas.openxmlformats.org/drawingml/2006/main">
              <a:ext uri="{FF2B5EF4-FFF2-40B4-BE49-F238E27FC236}">
                <a16:creationId xmlns:a16="http://schemas.microsoft.com/office/drawing/2014/main" id="{AD18351D-BD95-426D-BD33-382F4054037E}"/>
              </a:ext>
            </a:extLst>
          </p:cNvPr>
          <p:cNvSpPr>
            <a:spLocks xmlns:a="http://schemas.openxmlformats.org/drawingml/2006/main" noGrp="1"/>
          </p:cNvSpPr>
          <p:nvPr/>
        </p:nvSpPr>
        <p:spPr>
          <a:xfrm xmlns:a="http://schemas.openxmlformats.org/drawingml/2006/main">
            <a:off x="609600" y="5362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0D69B3"/>
                </a:solidFill>
              </a:defRPr>
            </a:defPPr>
            <a:lvl1pPr algn="l">
              <a:defRPr sz="1875" b="1">
                <a:solidFill>
                  <a:srgbClr val="0D69B3"/>
                </a:solidFill>
              </a:defRPr>
            </a:lvl1pPr>
            <a:lvl2pPr algn="l">
              <a:defRPr sz="1875" b="1">
                <a:solidFill>
                  <a:srgbClr val="0D69B3"/>
                </a:solidFill>
              </a:defRPr>
            </a:lvl2pPr>
            <a:lvl3pPr algn="l">
              <a:defRPr sz="1875" b="1">
                <a:solidFill>
                  <a:srgbClr val="0D69B3"/>
                </a:solidFill>
              </a:defRPr>
            </a:lvl3pPr>
            <a:lvl4pPr algn="l">
              <a:defRPr sz="1875" b="1">
                <a:solidFill>
                  <a:srgbClr val="0D69B3"/>
                </a:solidFill>
              </a:defRPr>
            </a:lvl4pPr>
            <a:lvl5pPr algn="l">
              <a:defRPr sz="1875" b="1">
                <a:solidFill>
                  <a:srgbClr val="0D69B3"/>
                </a:solidFill>
              </a:defRPr>
            </a:lvl5pPr>
            <a:lvl6pPr algn="l">
              <a:defRPr sz="1875" b="1">
                <a:solidFill>
                  <a:srgbClr val="0D69B3"/>
                </a:solidFill>
              </a:defRPr>
            </a:lvl6pPr>
            <a:lvl7pPr algn="l">
              <a:defRPr sz="1875" b="1">
                <a:solidFill>
                  <a:srgbClr val="0D69B3"/>
                </a:solidFill>
              </a:defRPr>
            </a:lvl7pPr>
            <a:lvl8pPr algn="l">
              <a:defRPr sz="1875" b="1">
                <a:solidFill>
                  <a:srgbClr val="0D69B3"/>
                </a:solidFill>
              </a:defRPr>
            </a:lvl8pPr>
            <a:lvl9pPr algn="l">
              <a:defRPr sz="1875" b="1">
                <a:solidFill>
                  <a:srgbClr val="0D69B3"/>
                </a:solidFill>
              </a:defRPr>
            </a:lvl9pPr>
          </a:lstStyle>
          <a:p xmlns:a="http://schemas.openxmlformats.org/drawingml/2006/main">
            <a:pPr algn="l">
              <a:defRPr sz="1875" b="1">
                <a:solidFill>
                  <a:srgbClr val="0D69B3"/>
                </a:solidFill>
              </a:defRPr>
            </a:pPr>
            <a:r>
              <a:rPr sz="1875" b="1">
                <a:solidFill>
                  <a:srgbClr val="0D69B3"/>
                </a:solidFill>
              </a:rPr>
              <a:t>National churn count: +20% year to date versus comparable 2025 period</a:t>
            </a:r>
          </a:p>
        </p:txBody>
      </p:sp>
      <p:sp>
        <p:nvSpPr>
          <p:cNvPr id="14" name="text-11">
            <a:extLst xmlns:a="http://schemas.openxmlformats.org/drawingml/2006/main">
              <a:ext uri="{FF2B5EF4-FFF2-40B4-BE49-F238E27FC236}">
                <a16:creationId xmlns:a16="http://schemas.microsoft.com/office/drawing/2014/main" id="{58C666F5-E928-4975-809F-7854C8E7A6C1}"/>
              </a:ext>
            </a:extLst>
          </p:cNvPr>
          <p:cNvSpPr>
            <a:spLocks xmlns:a="http://schemas.openxmlformats.org/drawingml/2006/main" noGrp="1"/>
          </p:cNvSpPr>
          <p:nvPr/>
        </p:nvSpPr>
        <p:spPr>
          <a:xfrm xmlns:a="http://schemas.openxmlformats.org/drawingml/2006/main">
            <a:off x="609600" y="58102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142C48"/>
                </a:solidFill>
              </a:defRPr>
            </a:defPPr>
            <a:lvl1pPr algn="l">
              <a:defRPr sz="1725" b="0">
                <a:solidFill>
                  <a:srgbClr val="142C48"/>
                </a:solidFill>
              </a:defRPr>
            </a:lvl1pPr>
            <a:lvl2pPr algn="l">
              <a:defRPr sz="1725" b="0">
                <a:solidFill>
                  <a:srgbClr val="142C48"/>
                </a:solidFill>
              </a:defRPr>
            </a:lvl2pPr>
            <a:lvl3pPr algn="l">
              <a:defRPr sz="1725" b="0">
                <a:solidFill>
                  <a:srgbClr val="142C48"/>
                </a:solidFill>
              </a:defRPr>
            </a:lvl3pPr>
            <a:lvl4pPr algn="l">
              <a:defRPr sz="1725" b="0">
                <a:solidFill>
                  <a:srgbClr val="142C48"/>
                </a:solidFill>
              </a:defRPr>
            </a:lvl4pPr>
            <a:lvl5pPr algn="l">
              <a:defRPr sz="1725" b="0">
                <a:solidFill>
                  <a:srgbClr val="142C48"/>
                </a:solidFill>
              </a:defRPr>
            </a:lvl5pPr>
            <a:lvl6pPr algn="l">
              <a:defRPr sz="1725" b="0">
                <a:solidFill>
                  <a:srgbClr val="142C48"/>
                </a:solidFill>
              </a:defRPr>
            </a:lvl6pPr>
            <a:lvl7pPr algn="l">
              <a:defRPr sz="1725" b="0">
                <a:solidFill>
                  <a:srgbClr val="142C48"/>
                </a:solidFill>
              </a:defRPr>
            </a:lvl7pPr>
            <a:lvl8pPr algn="l">
              <a:defRPr sz="1725" b="0">
                <a:solidFill>
                  <a:srgbClr val="142C48"/>
                </a:solidFill>
              </a:defRPr>
            </a:lvl8pPr>
            <a:lvl9pPr algn="l">
              <a:defRPr sz="1725" b="0">
                <a:solidFill>
                  <a:srgbClr val="142C48"/>
                </a:solidFill>
              </a:defRPr>
            </a:lvl9pPr>
          </a:lstStyle>
          <a:p xmlns:a="http://schemas.openxmlformats.org/drawingml/2006/main">
            <a:pPr algn="l">
              <a:defRPr sz="1725" b="0">
                <a:solidFill>
                  <a:srgbClr val="142C48"/>
                </a:solidFill>
              </a:defRPr>
            </a:pPr>
            <a:r>
              <a:rPr sz="1725" b="0">
                <a:solidFill>
                  <a:srgbClr val="142C48"/>
                </a:solidFill>
              </a:rPr>
              <a:t>VND 512.5m monthly subscription revenue associated with the churned cohort*</a:t>
            </a:r>
          </a:p>
        </p:txBody>
      </p:sp>
    </p:spTree>
    <p:extLst>
      <p:ext uri="{BB962C8B-B14F-4D97-AF65-F5344CB8AC3E}">
        <p14:creationId xmlns:p14="http://schemas.microsoft.com/office/powerpoint/2010/main" val="4147268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5195464F-6E0F-4E66-9620-8211C058E75A}"/>
              </a:ext>
            </a:extLst>
          </p:cNvPr>
          <p:cNvCxnSpPr>
            <a:stCxn xmlns:a="http://schemas.openxmlformats.org/drawingml/2006/main" id="11" idx="3"/>
            <a:endCxn xmlns:a="http://schemas.openxmlformats.org/drawingml/2006/main" id="13" idx="1"/>
          </p:cNvCxnSpPr>
          <p:nvPr/>
        </p:nvCxnSpPr>
        <p:spPr>
          <a:xfrm xmlns:a="http://schemas.openxmlformats.org/drawingml/2006/main">
            <a:off x="8686800" y="2209800"/>
            <a:ext cx="323850" cy="0"/>
          </a:xfrm>
          <a:prstGeom xmlns:a="http://schemas.openxmlformats.org/drawingml/2006/main" prst="straightConnector1">
            <a:avLst/>
          </a:prstGeom>
          <a:ln xmlns:a="http://schemas.openxmlformats.org/drawingml/2006/main" w="15240">
            <a:solidFill>
              <a:srgbClr val="0D69B3"/>
            </a:solidFill>
            <a:tailEnd type="triangle" w="sm" len="sm"/>
          </a:ln>
        </p:spPr>
      </p:cxnSp>
      <p:cxnSp>
        <p:nvCxnSpPr>
          <p:cNvPr id="16" name="">
            <a:extLst xmlns:a="http://schemas.openxmlformats.org/drawingml/2006/main">
              <a:ext uri="{FF2B5EF4-FFF2-40B4-BE49-F238E27FC236}">
                <a16:creationId xmlns:a16="http://schemas.microsoft.com/office/drawing/2014/main" id="{451F3D9C-D258-4051-999D-5F3D0099827C}"/>
              </a:ext>
            </a:extLst>
          </p:cNvPr>
          <p:cNvCxnSpPr>
            <a:stCxn xmlns:a="http://schemas.openxmlformats.org/drawingml/2006/main" id="9" idx="3"/>
            <a:endCxn xmlns:a="http://schemas.openxmlformats.org/drawingml/2006/main" id="11" idx="1"/>
          </p:cNvCxnSpPr>
          <p:nvPr/>
        </p:nvCxnSpPr>
        <p:spPr>
          <a:xfrm xmlns:a="http://schemas.openxmlformats.org/drawingml/2006/main">
            <a:off x="5886450" y="2209800"/>
            <a:ext cx="323850" cy="0"/>
          </a:xfrm>
          <a:prstGeom xmlns:a="http://schemas.openxmlformats.org/drawingml/2006/main" prst="straightConnector1">
            <a:avLst/>
          </a:prstGeom>
          <a:ln xmlns:a="http://schemas.openxmlformats.org/drawingml/2006/main" w="15240">
            <a:solidFill>
              <a:srgbClr val="0D69B3"/>
            </a:solidFill>
            <a:tailEnd type="triangle" w="sm" len="sm"/>
          </a:ln>
        </p:spPr>
      </p:cxnSp>
      <p:cxnSp>
        <p:nvCxnSpPr>
          <p:cNvPr id="15" name="">
            <a:extLst xmlns:a="http://schemas.openxmlformats.org/drawingml/2006/main">
              <a:ext uri="{FF2B5EF4-FFF2-40B4-BE49-F238E27FC236}">
                <a16:creationId xmlns:a16="http://schemas.microsoft.com/office/drawing/2014/main" id="{4A6AFF10-A1ED-4EAF-B102-17F76A238ED5}"/>
              </a:ext>
            </a:extLst>
          </p:cNvPr>
          <p:cNvCxnSpPr>
            <a:stCxn xmlns:a="http://schemas.openxmlformats.org/drawingml/2006/main" id="7" idx="3"/>
            <a:endCxn xmlns:a="http://schemas.openxmlformats.org/drawingml/2006/main" id="9" idx="1"/>
          </p:cNvCxnSpPr>
          <p:nvPr/>
        </p:nvCxnSpPr>
        <p:spPr>
          <a:xfrm xmlns:a="http://schemas.openxmlformats.org/drawingml/2006/main">
            <a:off x="3086100" y="2209800"/>
            <a:ext cx="323850" cy="0"/>
          </a:xfrm>
          <a:prstGeom xmlns:a="http://schemas.openxmlformats.org/drawingml/2006/main" prst="straightConnector1">
            <a:avLst/>
          </a:prstGeom>
          <a:ln xmlns:a="http://schemas.openxmlformats.org/drawingml/2006/main" w="15240">
            <a:solidFill>
              <a:srgbClr val="0D69B3"/>
            </a:solidFill>
            <a:tailEnd type="triangle" w="sm" len="sm"/>
          </a:ln>
        </p:spPr>
      </p:cxnSp>
      <p:sp>
        <p:nvSpPr>
          <p:cNvPr id="20" name="text-0">
            <a:extLst xmlns:a="http://schemas.openxmlformats.org/drawingml/2006/main">
              <a:ext uri="{FF2B5EF4-FFF2-40B4-BE49-F238E27FC236}">
                <a16:creationId xmlns:a16="http://schemas.microsoft.com/office/drawing/2014/main" id="{A7972DFE-785B-4DF4-85B6-21E310535E9E}"/>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PROBLEM</a:t>
            </a:r>
          </a:p>
        </p:txBody>
      </p:sp>
      <p:sp>
        <p:nvSpPr>
          <p:cNvPr id="2" name="text-1">
            <a:extLst xmlns:a="http://schemas.openxmlformats.org/drawingml/2006/main">
              <a:ext uri="{FF2B5EF4-FFF2-40B4-BE49-F238E27FC236}">
                <a16:creationId xmlns:a16="http://schemas.microsoft.com/office/drawing/2014/main" id="{D56D83CE-BD86-4D88-99C0-77647CC69AB3}"/>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Current Process and Operational Gaps</a:t>
            </a:r>
          </a:p>
        </p:txBody>
      </p:sp>
      <p:sp>
        <p:nvSpPr>
          <p:cNvPr id="3" name="">
            <a:extLst xmlns:a="http://schemas.openxmlformats.org/drawingml/2006/main">
              <a:ext uri="{FF2B5EF4-FFF2-40B4-BE49-F238E27FC236}">
                <a16:creationId xmlns:a16="http://schemas.microsoft.com/office/drawing/2014/main" id="{F4DAC05E-E20B-4652-8385-BC1898A7A68E}"/>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6524356-DC69-4A66-BAC6-3D587A2C8940}"/>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2B39A7DB-C889-4240-BDE8-1C5B1D7E09E1}"/>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PROBLEM.md. Reported current process; existing tracking tools and intervention effectiveness require verification.</a:t>
            </a:r>
          </a:p>
        </p:txBody>
      </p:sp>
      <p:sp>
        <p:nvSpPr>
          <p:cNvPr id="6" name="text-5">
            <a:extLst xmlns:a="http://schemas.openxmlformats.org/drawingml/2006/main">
              <a:ext uri="{FF2B5EF4-FFF2-40B4-BE49-F238E27FC236}">
                <a16:creationId xmlns:a16="http://schemas.microsoft.com/office/drawing/2014/main" id="{2B260417-4B43-4BDA-81AB-3429E1D97897}"/>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04 / 24</a:t>
            </a:r>
          </a:p>
        </p:txBody>
      </p:sp>
      <p:sp>
        <p:nvSpPr>
          <p:cNvPr id="7" name="">
            <a:extLst xmlns:a="http://schemas.openxmlformats.org/drawingml/2006/main">
              <a:ext uri="{FF2B5EF4-FFF2-40B4-BE49-F238E27FC236}">
                <a16:creationId xmlns:a16="http://schemas.microsoft.com/office/drawing/2014/main" id="{AE044DE9-3BB4-4F09-A767-D2CFB8F3E6DA}"/>
              </a:ext>
            </a:extLst>
          </p:cNvPr>
          <p:cNvSpPr>
            <a:spLocks xmlns:a="http://schemas.openxmlformats.org/drawingml/2006/main" noGrp="1"/>
          </p:cNvSpPr>
          <p:nvPr/>
        </p:nvSpPr>
        <p:spPr>
          <a:xfrm xmlns:a="http://schemas.openxmlformats.org/drawingml/2006/main">
            <a:off x="609600" y="187642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8" name="text-7">
            <a:extLst xmlns:a="http://schemas.openxmlformats.org/drawingml/2006/main">
              <a:ext uri="{FF2B5EF4-FFF2-40B4-BE49-F238E27FC236}">
                <a16:creationId xmlns:a16="http://schemas.microsoft.com/office/drawing/2014/main" id="{379273B0-9FB0-45DB-A2ED-E5F7DD43CF23}"/>
              </a:ext>
            </a:extLst>
          </p:cNvPr>
          <p:cNvSpPr>
            <a:spLocks xmlns:a="http://schemas.openxmlformats.org/drawingml/2006/main" noGrp="1"/>
          </p:cNvSpPr>
          <p:nvPr/>
        </p:nvSpPr>
        <p:spPr>
          <a:xfrm xmlns:a="http://schemas.openxmlformats.org/drawingml/2006/main">
            <a:off x="742950" y="2038350"/>
            <a:ext cx="2209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Monthly model output</a:t>
            </a:r>
          </a:p>
        </p:txBody>
      </p:sp>
      <p:sp>
        <p:nvSpPr>
          <p:cNvPr id="9" name="">
            <a:extLst xmlns:a="http://schemas.openxmlformats.org/drawingml/2006/main">
              <a:ext uri="{FF2B5EF4-FFF2-40B4-BE49-F238E27FC236}">
                <a16:creationId xmlns:a16="http://schemas.microsoft.com/office/drawing/2014/main" id="{4F5E7F45-B5BA-441E-BFA1-1C33FE489894}"/>
              </a:ext>
            </a:extLst>
          </p:cNvPr>
          <p:cNvSpPr>
            <a:spLocks xmlns:a="http://schemas.openxmlformats.org/drawingml/2006/main" noGrp="1"/>
          </p:cNvSpPr>
          <p:nvPr/>
        </p:nvSpPr>
        <p:spPr>
          <a:xfrm xmlns:a="http://schemas.openxmlformats.org/drawingml/2006/main">
            <a:off x="3409950" y="187642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0" name="text-9">
            <a:extLst xmlns:a="http://schemas.openxmlformats.org/drawingml/2006/main">
              <a:ext uri="{FF2B5EF4-FFF2-40B4-BE49-F238E27FC236}">
                <a16:creationId xmlns:a16="http://schemas.microsoft.com/office/drawing/2014/main" id="{E958C62F-4E24-46D6-AD2F-6923BAF29FF5}"/>
              </a:ext>
            </a:extLst>
          </p:cNvPr>
          <p:cNvSpPr>
            <a:spLocks xmlns:a="http://schemas.openxmlformats.org/drawingml/2006/main" noGrp="1"/>
          </p:cNvSpPr>
          <p:nvPr/>
        </p:nvSpPr>
        <p:spPr>
          <a:xfrm xmlns:a="http://schemas.openxmlformats.org/drawingml/2006/main">
            <a:off x="3543300" y="2038350"/>
            <a:ext cx="2209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Score &gt;500 list</a:t>
            </a:r>
          </a:p>
        </p:txBody>
      </p:sp>
      <p:sp>
        <p:nvSpPr>
          <p:cNvPr id="11" name="">
            <a:extLst xmlns:a="http://schemas.openxmlformats.org/drawingml/2006/main">
              <a:ext uri="{FF2B5EF4-FFF2-40B4-BE49-F238E27FC236}">
                <a16:creationId xmlns:a16="http://schemas.microsoft.com/office/drawing/2014/main" id="{4ABDCB43-D4BF-4950-9EEB-20567CBEAFA0}"/>
              </a:ext>
            </a:extLst>
          </p:cNvPr>
          <p:cNvSpPr>
            <a:spLocks xmlns:a="http://schemas.openxmlformats.org/drawingml/2006/main" noGrp="1"/>
          </p:cNvSpPr>
          <p:nvPr/>
        </p:nvSpPr>
        <p:spPr>
          <a:xfrm xmlns:a="http://schemas.openxmlformats.org/drawingml/2006/main">
            <a:off x="6210300" y="187642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2" name="text-11">
            <a:extLst xmlns:a="http://schemas.openxmlformats.org/drawingml/2006/main">
              <a:ext uri="{FF2B5EF4-FFF2-40B4-BE49-F238E27FC236}">
                <a16:creationId xmlns:a16="http://schemas.microsoft.com/office/drawing/2014/main" id="{7FFD3474-A579-4BA8-984F-5176B18475BD}"/>
              </a:ext>
            </a:extLst>
          </p:cNvPr>
          <p:cNvSpPr>
            <a:spLocks xmlns:a="http://schemas.openxmlformats.org/drawingml/2006/main" noGrp="1"/>
          </p:cNvSpPr>
          <p:nvPr/>
        </p:nvSpPr>
        <p:spPr>
          <a:xfrm xmlns:a="http://schemas.openxmlformats.org/drawingml/2006/main">
            <a:off x="6343650" y="2038350"/>
            <a:ext cx="2209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CS review</a:t>
            </a:r>
          </a:p>
        </p:txBody>
      </p:sp>
      <p:sp>
        <p:nvSpPr>
          <p:cNvPr id="13" name="">
            <a:extLst xmlns:a="http://schemas.openxmlformats.org/drawingml/2006/main">
              <a:ext uri="{FF2B5EF4-FFF2-40B4-BE49-F238E27FC236}">
                <a16:creationId xmlns:a16="http://schemas.microsoft.com/office/drawing/2014/main" id="{A22F457A-10A9-4FA4-9660-4799C21B916E}"/>
              </a:ext>
            </a:extLst>
          </p:cNvPr>
          <p:cNvSpPr>
            <a:spLocks xmlns:a="http://schemas.openxmlformats.org/drawingml/2006/main" noGrp="1"/>
          </p:cNvSpPr>
          <p:nvPr/>
        </p:nvSpPr>
        <p:spPr>
          <a:xfrm xmlns:a="http://schemas.openxmlformats.org/drawingml/2006/main">
            <a:off x="9010650" y="187642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4" name="text-13">
            <a:extLst xmlns:a="http://schemas.openxmlformats.org/drawingml/2006/main">
              <a:ext uri="{FF2B5EF4-FFF2-40B4-BE49-F238E27FC236}">
                <a16:creationId xmlns:a16="http://schemas.microsoft.com/office/drawing/2014/main" id="{4066822F-F74E-4B90-A5B0-C8422AFDEBDF}"/>
              </a:ext>
            </a:extLst>
          </p:cNvPr>
          <p:cNvSpPr>
            <a:spLocks xmlns:a="http://schemas.openxmlformats.org/drawingml/2006/main" noGrp="1"/>
          </p:cNvSpPr>
          <p:nvPr/>
        </p:nvSpPr>
        <p:spPr>
          <a:xfrm xmlns:a="http://schemas.openxmlformats.org/drawingml/2006/main">
            <a:off x="9144000" y="2038350"/>
            <a:ext cx="2209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Customer contact</a:t>
            </a:r>
          </a:p>
        </p:txBody>
      </p:sp>
      <p:graphicFrame>
        <p:nvGraphicFramePr>
          <p:cNvPr id="18" name="">
            <a:extLst xmlns:a="http://schemas.openxmlformats.org/drawingml/2006/main">
              <a:ext uri="{FF2B5EF4-FFF2-40B4-BE49-F238E27FC236}">
                <a16:creationId xmlns:a16="http://schemas.microsoft.com/office/drawing/2014/main" id="{012AFFFC-D608-41DA-A4A9-FF257CB65284}"/>
              </a:ext>
            </a:extLst>
          </p:cNvPr>
          <p:cNvGraphicFramePr/>
          <p:nvPr/>
        </p:nvGraphicFramePr>
        <p:xfrm>
          <a:off xmlns:a="http://schemas.openxmlformats.org/drawingml/2006/main" x="609600" y="2981325"/>
          <a:ext xmlns:a="http://schemas.openxmlformats.org/drawingml/2006/main" cx="10972800" cy="2305050"/>
        </p:xfrm>
        <a:graphic xmlns:a="http://schemas.openxmlformats.org/drawingml/2006/main">
          <a:graphicData uri="http://schemas.openxmlformats.org/drawingml/2006/table">
            <a:tbl>
              <a:tblPr/>
              <a:tblGrid>
                <a:gridCol w="5619750"/>
                <a:gridCol w="5353050"/>
              </a:tblGrid>
              <a:tr h="495300">
                <a:tc>
                  <a:txBody>
                    <a:bodyPr/>
                    <a:lstStyle/>
                    <a:p>
                      <a:r>
                        <a:rPr sz="1875" b="1">
                          <a:solidFill>
                            <a:srgbClr val="0D69B3"/>
                          </a:solidFill>
                        </a:rPr>
                        <a:t>Reported operational gap</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875" b="1">
                          <a:solidFill>
                            <a:srgbClr val="0D69B3"/>
                          </a:solidFill>
                        </a:rPr>
                        <a:t>Decision requiring support</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603250">
                <a:tc>
                  <a:txBody>
                    <a:bodyPr/>
                    <a:lstStyle/>
                    <a:p>
                      <a:r>
                        <a:rPr sz="1875" b="1">
                          <a:solidFill>
                            <a:srgbClr val="142C48"/>
                          </a:solidFill>
                        </a:rPr>
                        <a:t>Unclear approach despite a risk alert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75" b="0">
                          <a:solidFill>
                            <a:srgbClr val="142C48"/>
                          </a:solidFill>
                        </a:rPr>
                        <a:t>What should we verify and discuss?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03250">
                <a:tc>
                  <a:txBody>
                    <a:bodyPr/>
                    <a:lstStyle/>
                    <a:p>
                      <a:r>
                        <a:rPr sz="1875" b="1">
                          <a:solidFill>
                            <a:srgbClr val="142C48"/>
                          </a:solidFill>
                        </a:rPr>
                        <a:t>Some customers leave before contact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75" b="0">
                          <a:solidFill>
                            <a:srgbClr val="142C48"/>
                          </a:solidFill>
                        </a:rPr>
                        <a:t>Who should be contacted earlier?</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03250">
                <a:tc>
                  <a:txBody>
                    <a:bodyPr/>
                    <a:lstStyle/>
                    <a:p>
                      <a:r>
                        <a:rPr sz="1875" b="1">
                          <a:solidFill>
                            <a:srgbClr val="142C48"/>
                          </a:solidFill>
                        </a:rPr>
                        <a:t>Contact does not always resolve the problem</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75" b="0">
                          <a:solidFill>
                            <a:srgbClr val="142C48"/>
                          </a:solidFill>
                        </a:rPr>
                        <a:t>What action or escalation is appropriate?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19" name="text-17">
            <a:extLst xmlns:a="http://schemas.openxmlformats.org/drawingml/2006/main">
              <a:ext uri="{FF2B5EF4-FFF2-40B4-BE49-F238E27FC236}">
                <a16:creationId xmlns:a16="http://schemas.microsoft.com/office/drawing/2014/main" id="{B9E67F79-F389-4362-8E1E-1A6779D87B43}"/>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September handover: approximately 8,000 flagged customers.</a:t>
            </a:r>
          </a:p>
        </p:txBody>
      </p:sp>
    </p:spTree>
    <p:extLst>
      <p:ext uri="{BB962C8B-B14F-4D97-AF65-F5344CB8AC3E}">
        <p14:creationId xmlns:p14="http://schemas.microsoft.com/office/powerpoint/2010/main" val="95060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35105C5-6C7D-4A88-8DBE-EF32EA79B7A5}"/>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PROBLEM</a:t>
            </a:r>
          </a:p>
        </p:txBody>
      </p:sp>
      <p:sp>
        <p:nvSpPr>
          <p:cNvPr id="2" name="text-1">
            <a:extLst xmlns:a="http://schemas.openxmlformats.org/drawingml/2006/main">
              <a:ext uri="{FF2B5EF4-FFF2-40B4-BE49-F238E27FC236}">
                <a16:creationId xmlns:a16="http://schemas.microsoft.com/office/drawing/2014/main" id="{1D2CF704-81EB-4454-975D-033D1657339F}"/>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Stakeholders and Decisions</a:t>
            </a:r>
          </a:p>
        </p:txBody>
      </p:sp>
      <p:sp>
        <p:nvSpPr>
          <p:cNvPr id="3" name="">
            <a:extLst xmlns:a="http://schemas.openxmlformats.org/drawingml/2006/main">
              <a:ext uri="{FF2B5EF4-FFF2-40B4-BE49-F238E27FC236}">
                <a16:creationId xmlns:a16="http://schemas.microsoft.com/office/drawing/2014/main" id="{892FBD2B-0A52-4CE9-B99E-C8DEC300E141}"/>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6D1C463-4F7B-4098-B6EF-879AB383A702}"/>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69D356E9-D936-49D9-AFCA-578D618FCC99}"/>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SYSTEM.md scope and roles; REPORT.md stakeholder value. Expected benefits require pilot evaluation.</a:t>
            </a:r>
          </a:p>
        </p:txBody>
      </p:sp>
      <p:sp>
        <p:nvSpPr>
          <p:cNvPr id="6" name="text-5">
            <a:extLst xmlns:a="http://schemas.openxmlformats.org/drawingml/2006/main">
              <a:ext uri="{FF2B5EF4-FFF2-40B4-BE49-F238E27FC236}">
                <a16:creationId xmlns:a16="http://schemas.microsoft.com/office/drawing/2014/main" id="{74B34371-AA84-4309-A629-8B55E6D2C86C}"/>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05 / 24</a:t>
            </a:r>
          </a:p>
        </p:txBody>
      </p:sp>
      <p:graphicFrame>
        <p:nvGraphicFramePr>
          <p:cNvPr id="7" name="">
            <a:extLst xmlns:a="http://schemas.openxmlformats.org/drawingml/2006/main">
              <a:ext uri="{FF2B5EF4-FFF2-40B4-BE49-F238E27FC236}">
                <a16:creationId xmlns:a16="http://schemas.microsoft.com/office/drawing/2014/main" id="{67AE6AE6-4DDE-488A-B5BF-0D2B3CA28C96}"/>
              </a:ext>
            </a:extLst>
          </p:cNvPr>
          <p:cNvGraphicFramePr/>
          <p:nvPr/>
        </p:nvGraphicFramePr>
        <p:xfrm>
          <a:off xmlns:a="http://schemas.openxmlformats.org/drawingml/2006/main" x="609600" y="1733550"/>
          <a:ext xmlns:a="http://schemas.openxmlformats.org/drawingml/2006/main" cx="10972800" cy="3886200"/>
        </p:xfrm>
        <a:graphic xmlns:a="http://schemas.openxmlformats.org/drawingml/2006/main">
          <a:graphicData uri="http://schemas.openxmlformats.org/drawingml/2006/table">
            <a:tbl>
              <a:tblPr/>
              <a:tblGrid>
                <a:gridCol w="2190750"/>
                <a:gridCol w="3000375"/>
                <a:gridCol w="3286125"/>
                <a:gridCol w="2495550"/>
              </a:tblGrid>
              <a:tr h="495300">
                <a:tc>
                  <a:txBody>
                    <a:bodyPr/>
                    <a:lstStyle/>
                    <a:p>
                      <a:r>
                        <a:rPr sz="1575" b="1">
                          <a:solidFill>
                            <a:srgbClr val="0D69B3"/>
                          </a:solidFill>
                        </a:rPr>
                        <a:t>Stakeholder</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575" b="1">
                          <a:solidFill>
                            <a:srgbClr val="0D69B3"/>
                          </a:solidFill>
                        </a:rPr>
                        <a:t>Decision</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575" b="1">
                          <a:solidFill>
                            <a:srgbClr val="0D69B3"/>
                          </a:solidFill>
                        </a:rPr>
                        <a:t>Information needed</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575" b="1">
                          <a:solidFill>
                            <a:srgbClr val="0D69B3"/>
                          </a:solidFill>
                        </a:rPr>
                        <a:t>Expected value</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565150">
                <a:tc>
                  <a:txBody>
                    <a:bodyPr/>
                    <a:lstStyle/>
                    <a:p>
                      <a:r>
                        <a:rPr sz="1575" b="1">
                          <a:solidFill>
                            <a:srgbClr val="142C48"/>
                          </a:solidFill>
                        </a:rPr>
                        <a:t>CS Agent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Handle the assigned case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Facts, drivers, history, eligible actions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Informed customer care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65150">
                <a:tc>
                  <a:txBody>
                    <a:bodyPr/>
                    <a:lstStyle/>
                    <a:p>
                      <a:r>
                        <a:rPr sz="1575" b="1">
                          <a:solidFill>
                            <a:srgbClr val="142C48"/>
                          </a:solidFill>
                        </a:rPr>
                        <a:t>CS Supervisor</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Manage workload and exceptions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Queue, ownership, progress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Clear accountability</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65150">
                <a:tc>
                  <a:txBody>
                    <a:bodyPr/>
                    <a:lstStyle/>
                    <a:p>
                      <a:r>
                        <a:rPr sz="1575" b="1">
                          <a:solidFill>
                            <a:srgbClr val="142C48"/>
                          </a:solidFill>
                        </a:rPr>
                        <a:t>Data Analytics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Assess prediction usefulness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Versioned scores and outcomes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Traceable feedback</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65150">
                <a:tc>
                  <a:txBody>
                    <a:bodyPr/>
                    <a:lstStyle/>
                    <a:p>
                      <a:r>
                        <a:rPr sz="1575" b="1">
                          <a:solidFill>
                            <a:srgbClr val="142C48"/>
                          </a:solidFill>
                        </a:rPr>
                        <a:t>Technical Support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Investigate referred issues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Verified symptoms and request</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Relevant handoff</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65150">
                <a:tc>
                  <a:txBody>
                    <a:bodyPr/>
                    <a:lstStyle/>
                    <a:p>
                      <a:r>
                        <a:rPr sz="1575" b="1">
                          <a:solidFill>
                            <a:srgbClr val="142C48"/>
                          </a:solidFill>
                        </a:rPr>
                        <a:t>Retention / Marketing</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Define permitted offers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Policy, eligibility, usage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Controlled intervention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65150">
                <a:tc>
                  <a:txBody>
                    <a:bodyPr/>
                    <a:lstStyle/>
                    <a:p>
                      <a:r>
                        <a:rPr sz="1575" b="1">
                          <a:solidFill>
                            <a:srgbClr val="142C48"/>
                          </a:solidFill>
                        </a:rPr>
                        <a:t>Finance / Management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Continue or change the pilot</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Costs, outcomes and guardrails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Investment evidence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3858462B-3095-40FE-A596-FE6801206DEC}"/>
              </a:ext>
            </a:extLst>
          </p:cNvPr>
          <p:cNvSpPr>
            <a:spLocks xmlns:a="http://schemas.openxmlformats.org/drawingml/2006/main" noGrp="1"/>
          </p:cNvSpPr>
          <p:nvPr/>
        </p:nvSpPr>
        <p:spPr>
          <a:xfrm xmlns:a="http://schemas.openxmlformats.org/drawingml/2006/main">
            <a:off x="609600" y="58293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App users: CS Agent and Supervisor. Other teams retain their own systems.</a:t>
            </a:r>
          </a:p>
        </p:txBody>
      </p:sp>
    </p:spTree>
    <p:extLst>
      <p:ext uri="{BB962C8B-B14F-4D97-AF65-F5344CB8AC3E}">
        <p14:creationId xmlns:p14="http://schemas.microsoft.com/office/powerpoint/2010/main" val="16634145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E057F56-6059-4E13-8EBA-61DDBCE3FDA3}"/>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PROBLEM</a:t>
            </a:r>
          </a:p>
        </p:txBody>
      </p:sp>
      <p:sp>
        <p:nvSpPr>
          <p:cNvPr id="2" name="text-1">
            <a:extLst xmlns:a="http://schemas.openxmlformats.org/drawingml/2006/main">
              <a:ext uri="{FF2B5EF4-FFF2-40B4-BE49-F238E27FC236}">
                <a16:creationId xmlns:a16="http://schemas.microsoft.com/office/drawing/2014/main" id="{CE49D2C5-1ECE-4791-944D-C6B5DAC92225}"/>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Project Objectives and Scope</a:t>
            </a:r>
          </a:p>
        </p:txBody>
      </p:sp>
      <p:sp>
        <p:nvSpPr>
          <p:cNvPr id="3" name="">
            <a:extLst xmlns:a="http://schemas.openxmlformats.org/drawingml/2006/main">
              <a:ext uri="{FF2B5EF4-FFF2-40B4-BE49-F238E27FC236}">
                <a16:creationId xmlns:a16="http://schemas.microsoft.com/office/drawing/2014/main" id="{3A41537F-714B-43DD-8454-3AB66A4802E6}"/>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C840D1D-587E-4B5F-8417-FB88CF74EAB4}"/>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FDEEE39D-FE7D-4FBC-A25D-2278D10C4903}"/>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SYSTEM.md. Prototype boundary includes simulated messaging and support handoff, with staff approval.</a:t>
            </a:r>
          </a:p>
        </p:txBody>
      </p:sp>
      <p:sp>
        <p:nvSpPr>
          <p:cNvPr id="6" name="text-5">
            <a:extLst xmlns:a="http://schemas.openxmlformats.org/drawingml/2006/main">
              <a:ext uri="{FF2B5EF4-FFF2-40B4-BE49-F238E27FC236}">
                <a16:creationId xmlns:a16="http://schemas.microsoft.com/office/drawing/2014/main" id="{ED9408AF-E07E-4E8C-BA3B-AB4A04211213}"/>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06 / 24</a:t>
            </a:r>
          </a:p>
        </p:txBody>
      </p:sp>
      <p:sp>
        <p:nvSpPr>
          <p:cNvPr id="7" name="text-6">
            <a:extLst xmlns:a="http://schemas.openxmlformats.org/drawingml/2006/main">
              <a:ext uri="{FF2B5EF4-FFF2-40B4-BE49-F238E27FC236}">
                <a16:creationId xmlns:a16="http://schemas.microsoft.com/office/drawing/2014/main" id="{7C210FAE-77DD-4089-BB9F-7E86574C0504}"/>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0D69B3"/>
                </a:solidFill>
              </a:defRPr>
            </a:defPPr>
            <a:lvl1pPr algn="l">
              <a:defRPr sz="2175" b="1">
                <a:solidFill>
                  <a:srgbClr val="0D69B3"/>
                </a:solidFill>
              </a:defRPr>
            </a:lvl1pPr>
            <a:lvl2pPr algn="l">
              <a:defRPr sz="2175" b="1">
                <a:solidFill>
                  <a:srgbClr val="0D69B3"/>
                </a:solidFill>
              </a:defRPr>
            </a:lvl2pPr>
            <a:lvl3pPr algn="l">
              <a:defRPr sz="2175" b="1">
                <a:solidFill>
                  <a:srgbClr val="0D69B3"/>
                </a:solidFill>
              </a:defRPr>
            </a:lvl3pPr>
            <a:lvl4pPr algn="l">
              <a:defRPr sz="2175" b="1">
                <a:solidFill>
                  <a:srgbClr val="0D69B3"/>
                </a:solidFill>
              </a:defRPr>
            </a:lvl4pPr>
            <a:lvl5pPr algn="l">
              <a:defRPr sz="2175" b="1">
                <a:solidFill>
                  <a:srgbClr val="0D69B3"/>
                </a:solidFill>
              </a:defRPr>
            </a:lvl5pPr>
            <a:lvl6pPr algn="l">
              <a:defRPr sz="2175" b="1">
                <a:solidFill>
                  <a:srgbClr val="0D69B3"/>
                </a:solidFill>
              </a:defRPr>
            </a:lvl6pPr>
            <a:lvl7pPr algn="l">
              <a:defRPr sz="2175" b="1">
                <a:solidFill>
                  <a:srgbClr val="0D69B3"/>
                </a:solidFill>
              </a:defRPr>
            </a:lvl7pPr>
            <a:lvl8pPr algn="l">
              <a:defRPr sz="2175" b="1">
                <a:solidFill>
                  <a:srgbClr val="0D69B3"/>
                </a:solidFill>
              </a:defRPr>
            </a:lvl8pPr>
            <a:lvl9pPr algn="l">
              <a:defRPr sz="2175" b="1">
                <a:solidFill>
                  <a:srgbClr val="0D69B3"/>
                </a:solidFill>
              </a:defRPr>
            </a:lvl9pPr>
          </a:lstStyle>
          <a:p xmlns:a="http://schemas.openxmlformats.org/drawingml/2006/main">
            <a:pPr algn="l">
              <a:defRPr sz="2175" b="1">
                <a:solidFill>
                  <a:srgbClr val="0D69B3"/>
                </a:solidFill>
              </a:defRPr>
            </a:pPr>
            <a:r>
              <a:rPr sz="2175" b="1">
                <a:solidFill>
                  <a:srgbClr val="0D69B3"/>
                </a:solidFill>
              </a:rPr>
              <a:t>Three operating objectives</a:t>
            </a:r>
          </a:p>
        </p:txBody>
      </p:sp>
      <p:sp>
        <p:nvSpPr>
          <p:cNvPr id="8" name="text-7">
            <a:extLst xmlns:a="http://schemas.openxmlformats.org/drawingml/2006/main">
              <a:ext uri="{FF2B5EF4-FFF2-40B4-BE49-F238E27FC236}">
                <a16:creationId xmlns:a16="http://schemas.microsoft.com/office/drawing/2014/main" id="{4D896CD1-0DF5-43F8-AABE-688A5325EECC}"/>
              </a:ext>
            </a:extLst>
          </p:cNvPr>
          <p:cNvSpPr>
            <a:spLocks xmlns:a="http://schemas.openxmlformats.org/drawingml/2006/main" noGrp="1"/>
          </p:cNvSpPr>
          <p:nvPr/>
        </p:nvSpPr>
        <p:spPr>
          <a:xfrm xmlns:a="http://schemas.openxmlformats.org/drawingml/2006/main">
            <a:off x="609600" y="24860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F27323"/>
                </a:solidFill>
              </a:defRPr>
            </a:defPPr>
            <a:lvl1pPr algn="l">
              <a:defRPr sz="2100" b="1">
                <a:solidFill>
                  <a:srgbClr val="F27323"/>
                </a:solidFill>
              </a:defRPr>
            </a:lvl1pPr>
            <a:lvl2pPr algn="l">
              <a:defRPr sz="2100" b="1">
                <a:solidFill>
                  <a:srgbClr val="F27323"/>
                </a:solidFill>
              </a:defRPr>
            </a:lvl2pPr>
            <a:lvl3pPr algn="l">
              <a:defRPr sz="2100" b="1">
                <a:solidFill>
                  <a:srgbClr val="F27323"/>
                </a:solidFill>
              </a:defRPr>
            </a:lvl3pPr>
            <a:lvl4pPr algn="l">
              <a:defRPr sz="2100" b="1">
                <a:solidFill>
                  <a:srgbClr val="F27323"/>
                </a:solidFill>
              </a:defRPr>
            </a:lvl4pPr>
            <a:lvl5pPr algn="l">
              <a:defRPr sz="2100" b="1">
                <a:solidFill>
                  <a:srgbClr val="F27323"/>
                </a:solidFill>
              </a:defRPr>
            </a:lvl5pPr>
            <a:lvl6pPr algn="l">
              <a:defRPr sz="2100" b="1">
                <a:solidFill>
                  <a:srgbClr val="F27323"/>
                </a:solidFill>
              </a:defRPr>
            </a:lvl6pPr>
            <a:lvl7pPr algn="l">
              <a:defRPr sz="2100" b="1">
                <a:solidFill>
                  <a:srgbClr val="F27323"/>
                </a:solidFill>
              </a:defRPr>
            </a:lvl7pPr>
            <a:lvl8pPr algn="l">
              <a:defRPr sz="2100" b="1">
                <a:solidFill>
                  <a:srgbClr val="F27323"/>
                </a:solidFill>
              </a:defRPr>
            </a:lvl8pPr>
            <a:lvl9pPr algn="l">
              <a:defRPr sz="2100" b="1">
                <a:solidFill>
                  <a:srgbClr val="F27323"/>
                </a:solidFill>
              </a:defRPr>
            </a:lvl9pPr>
          </a:lstStyle>
          <a:p xmlns:a="http://schemas.openxmlformats.org/drawingml/2006/main">
            <a:pPr algn="l">
              <a:defRPr sz="2100" b="1">
                <a:solidFill>
                  <a:srgbClr val="F27323"/>
                </a:solidFill>
              </a:defRPr>
            </a:pPr>
            <a:r>
              <a:rPr sz="2100" b="1">
                <a:solidFill>
                  <a:srgbClr val="F27323"/>
                </a:solidFill>
              </a:rPr>
              <a:t>01</a:t>
            </a:r>
          </a:p>
        </p:txBody>
      </p:sp>
      <p:sp>
        <p:nvSpPr>
          <p:cNvPr id="9" name="text-8">
            <a:extLst xmlns:a="http://schemas.openxmlformats.org/drawingml/2006/main">
              <a:ext uri="{FF2B5EF4-FFF2-40B4-BE49-F238E27FC236}">
                <a16:creationId xmlns:a16="http://schemas.microsoft.com/office/drawing/2014/main" id="{DCA64B2C-135E-4A2F-9659-3FC32F75B053}"/>
              </a:ext>
            </a:extLst>
          </p:cNvPr>
          <p:cNvSpPr>
            <a:spLocks xmlns:a="http://schemas.openxmlformats.org/drawingml/2006/main" noGrp="1"/>
          </p:cNvSpPr>
          <p:nvPr/>
        </p:nvSpPr>
        <p:spPr>
          <a:xfrm xmlns:a="http://schemas.openxmlformats.org/drawingml/2006/main">
            <a:off x="1133475" y="2486025"/>
            <a:ext cx="457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42C48"/>
                </a:solidFill>
              </a:defRPr>
            </a:defPPr>
            <a:lvl1pPr algn="l">
              <a:defRPr sz="2025" b="1">
                <a:solidFill>
                  <a:srgbClr val="142C48"/>
                </a:solidFill>
              </a:defRPr>
            </a:lvl1pPr>
            <a:lvl2pPr algn="l">
              <a:defRPr sz="2025" b="1">
                <a:solidFill>
                  <a:srgbClr val="142C48"/>
                </a:solidFill>
              </a:defRPr>
            </a:lvl2pPr>
            <a:lvl3pPr algn="l">
              <a:defRPr sz="2025" b="1">
                <a:solidFill>
                  <a:srgbClr val="142C48"/>
                </a:solidFill>
              </a:defRPr>
            </a:lvl3pPr>
            <a:lvl4pPr algn="l">
              <a:defRPr sz="2025" b="1">
                <a:solidFill>
                  <a:srgbClr val="142C48"/>
                </a:solidFill>
              </a:defRPr>
            </a:lvl4pPr>
            <a:lvl5pPr algn="l">
              <a:defRPr sz="2025" b="1">
                <a:solidFill>
                  <a:srgbClr val="142C48"/>
                </a:solidFill>
              </a:defRPr>
            </a:lvl5pPr>
            <a:lvl6pPr algn="l">
              <a:defRPr sz="2025" b="1">
                <a:solidFill>
                  <a:srgbClr val="142C48"/>
                </a:solidFill>
              </a:defRPr>
            </a:lvl6pPr>
            <a:lvl7pPr algn="l">
              <a:defRPr sz="2025" b="1">
                <a:solidFill>
                  <a:srgbClr val="142C48"/>
                </a:solidFill>
              </a:defRPr>
            </a:lvl7pPr>
            <a:lvl8pPr algn="l">
              <a:defRPr sz="2025" b="1">
                <a:solidFill>
                  <a:srgbClr val="142C48"/>
                </a:solidFill>
              </a:defRPr>
            </a:lvl8pPr>
            <a:lvl9pPr algn="l">
              <a:defRPr sz="2025" b="1">
                <a:solidFill>
                  <a:srgbClr val="142C48"/>
                </a:solidFill>
              </a:defRPr>
            </a:lvl9pPr>
          </a:lstStyle>
          <a:p xmlns:a="http://schemas.openxmlformats.org/drawingml/2006/main">
            <a:pPr algn="l">
              <a:defRPr sz="2025" b="1">
                <a:solidFill>
                  <a:srgbClr val="142C48"/>
                </a:solidFill>
              </a:defRPr>
            </a:pPr>
            <a:r>
              <a:rPr sz="2025" b="1">
                <a:solidFill>
                  <a:srgbClr val="142C48"/>
                </a:solidFill>
              </a:rPr>
              <a:t>Prioritise and understand</a:t>
            </a:r>
          </a:p>
        </p:txBody>
      </p:sp>
      <p:sp>
        <p:nvSpPr>
          <p:cNvPr id="10" name="text-9">
            <a:extLst xmlns:a="http://schemas.openxmlformats.org/drawingml/2006/main">
              <a:ext uri="{FF2B5EF4-FFF2-40B4-BE49-F238E27FC236}">
                <a16:creationId xmlns:a16="http://schemas.microsoft.com/office/drawing/2014/main" id="{13ACC5E1-892C-4895-9E1E-562526CD71F6}"/>
              </a:ext>
            </a:extLst>
          </p:cNvPr>
          <p:cNvSpPr>
            <a:spLocks xmlns:a="http://schemas.openxmlformats.org/drawingml/2006/main" noGrp="1"/>
          </p:cNvSpPr>
          <p:nvPr/>
        </p:nvSpPr>
        <p:spPr>
          <a:xfrm xmlns:a="http://schemas.openxmlformats.org/drawingml/2006/main">
            <a:off x="1133475" y="3009900"/>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Review alerts with context and model explanations.</a:t>
            </a:r>
          </a:p>
        </p:txBody>
      </p:sp>
      <p:sp>
        <p:nvSpPr>
          <p:cNvPr id="11" name="text-10">
            <a:extLst xmlns:a="http://schemas.openxmlformats.org/drawingml/2006/main">
              <a:ext uri="{FF2B5EF4-FFF2-40B4-BE49-F238E27FC236}">
                <a16:creationId xmlns:a16="http://schemas.microsoft.com/office/drawing/2014/main" id="{2C8A0689-7F65-4E96-A061-F78D1FD8BD15}"/>
              </a:ext>
            </a:extLst>
          </p:cNvPr>
          <p:cNvSpPr>
            <a:spLocks xmlns:a="http://schemas.openxmlformats.org/drawingml/2006/main" noGrp="1"/>
          </p:cNvSpPr>
          <p:nvPr/>
        </p:nvSpPr>
        <p:spPr>
          <a:xfrm xmlns:a="http://schemas.openxmlformats.org/drawingml/2006/main">
            <a:off x="609600" y="37814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F27323"/>
                </a:solidFill>
              </a:defRPr>
            </a:defPPr>
            <a:lvl1pPr algn="l">
              <a:defRPr sz="2100" b="1">
                <a:solidFill>
                  <a:srgbClr val="F27323"/>
                </a:solidFill>
              </a:defRPr>
            </a:lvl1pPr>
            <a:lvl2pPr algn="l">
              <a:defRPr sz="2100" b="1">
                <a:solidFill>
                  <a:srgbClr val="F27323"/>
                </a:solidFill>
              </a:defRPr>
            </a:lvl2pPr>
            <a:lvl3pPr algn="l">
              <a:defRPr sz="2100" b="1">
                <a:solidFill>
                  <a:srgbClr val="F27323"/>
                </a:solidFill>
              </a:defRPr>
            </a:lvl3pPr>
            <a:lvl4pPr algn="l">
              <a:defRPr sz="2100" b="1">
                <a:solidFill>
                  <a:srgbClr val="F27323"/>
                </a:solidFill>
              </a:defRPr>
            </a:lvl4pPr>
            <a:lvl5pPr algn="l">
              <a:defRPr sz="2100" b="1">
                <a:solidFill>
                  <a:srgbClr val="F27323"/>
                </a:solidFill>
              </a:defRPr>
            </a:lvl5pPr>
            <a:lvl6pPr algn="l">
              <a:defRPr sz="2100" b="1">
                <a:solidFill>
                  <a:srgbClr val="F27323"/>
                </a:solidFill>
              </a:defRPr>
            </a:lvl6pPr>
            <a:lvl7pPr algn="l">
              <a:defRPr sz="2100" b="1">
                <a:solidFill>
                  <a:srgbClr val="F27323"/>
                </a:solidFill>
              </a:defRPr>
            </a:lvl7pPr>
            <a:lvl8pPr algn="l">
              <a:defRPr sz="2100" b="1">
                <a:solidFill>
                  <a:srgbClr val="F27323"/>
                </a:solidFill>
              </a:defRPr>
            </a:lvl8pPr>
            <a:lvl9pPr algn="l">
              <a:defRPr sz="2100" b="1">
                <a:solidFill>
                  <a:srgbClr val="F27323"/>
                </a:solidFill>
              </a:defRPr>
            </a:lvl9pPr>
          </a:lstStyle>
          <a:p xmlns:a="http://schemas.openxmlformats.org/drawingml/2006/main">
            <a:pPr algn="l">
              <a:defRPr sz="2100" b="1">
                <a:solidFill>
                  <a:srgbClr val="F27323"/>
                </a:solidFill>
              </a:defRPr>
            </a:pPr>
            <a:r>
              <a:rPr sz="2100" b="1">
                <a:solidFill>
                  <a:srgbClr val="F27323"/>
                </a:solidFill>
              </a:rPr>
              <a:t>02</a:t>
            </a:r>
          </a:p>
        </p:txBody>
      </p:sp>
      <p:sp>
        <p:nvSpPr>
          <p:cNvPr id="12" name="text-11">
            <a:extLst xmlns:a="http://schemas.openxmlformats.org/drawingml/2006/main">
              <a:ext uri="{FF2B5EF4-FFF2-40B4-BE49-F238E27FC236}">
                <a16:creationId xmlns:a16="http://schemas.microsoft.com/office/drawing/2014/main" id="{9E1A5267-5101-4DDE-B838-D36691EAE988}"/>
              </a:ext>
            </a:extLst>
          </p:cNvPr>
          <p:cNvSpPr>
            <a:spLocks xmlns:a="http://schemas.openxmlformats.org/drawingml/2006/main" noGrp="1"/>
          </p:cNvSpPr>
          <p:nvPr/>
        </p:nvSpPr>
        <p:spPr>
          <a:xfrm xmlns:a="http://schemas.openxmlformats.org/drawingml/2006/main">
            <a:off x="1133475" y="3781425"/>
            <a:ext cx="457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42C48"/>
                </a:solidFill>
              </a:defRPr>
            </a:defPPr>
            <a:lvl1pPr algn="l">
              <a:defRPr sz="2025" b="1">
                <a:solidFill>
                  <a:srgbClr val="142C48"/>
                </a:solidFill>
              </a:defRPr>
            </a:lvl1pPr>
            <a:lvl2pPr algn="l">
              <a:defRPr sz="2025" b="1">
                <a:solidFill>
                  <a:srgbClr val="142C48"/>
                </a:solidFill>
              </a:defRPr>
            </a:lvl2pPr>
            <a:lvl3pPr algn="l">
              <a:defRPr sz="2025" b="1">
                <a:solidFill>
                  <a:srgbClr val="142C48"/>
                </a:solidFill>
              </a:defRPr>
            </a:lvl3pPr>
            <a:lvl4pPr algn="l">
              <a:defRPr sz="2025" b="1">
                <a:solidFill>
                  <a:srgbClr val="142C48"/>
                </a:solidFill>
              </a:defRPr>
            </a:lvl4pPr>
            <a:lvl5pPr algn="l">
              <a:defRPr sz="2025" b="1">
                <a:solidFill>
                  <a:srgbClr val="142C48"/>
                </a:solidFill>
              </a:defRPr>
            </a:lvl5pPr>
            <a:lvl6pPr algn="l">
              <a:defRPr sz="2025" b="1">
                <a:solidFill>
                  <a:srgbClr val="142C48"/>
                </a:solidFill>
              </a:defRPr>
            </a:lvl6pPr>
            <a:lvl7pPr algn="l">
              <a:defRPr sz="2025" b="1">
                <a:solidFill>
                  <a:srgbClr val="142C48"/>
                </a:solidFill>
              </a:defRPr>
            </a:lvl7pPr>
            <a:lvl8pPr algn="l">
              <a:defRPr sz="2025" b="1">
                <a:solidFill>
                  <a:srgbClr val="142C48"/>
                </a:solidFill>
              </a:defRPr>
            </a:lvl8pPr>
            <a:lvl9pPr algn="l">
              <a:defRPr sz="2025" b="1">
                <a:solidFill>
                  <a:srgbClr val="142C48"/>
                </a:solidFill>
              </a:defRPr>
            </a:lvl9pPr>
          </a:lstStyle>
          <a:p xmlns:a="http://schemas.openxmlformats.org/drawingml/2006/main">
            <a:pPr algn="l">
              <a:defRPr sz="2025" b="1">
                <a:solidFill>
                  <a:srgbClr val="142C48"/>
                </a:solidFill>
              </a:defRPr>
            </a:pPr>
            <a:r>
              <a:rPr sz="2025" b="1">
                <a:solidFill>
                  <a:srgbClr val="142C48"/>
                </a:solidFill>
              </a:rPr>
              <a:t>Support an appropriate action</a:t>
            </a:r>
          </a:p>
        </p:txBody>
      </p:sp>
      <p:sp>
        <p:nvSpPr>
          <p:cNvPr id="13" name="text-12">
            <a:extLst xmlns:a="http://schemas.openxmlformats.org/drawingml/2006/main">
              <a:ext uri="{FF2B5EF4-FFF2-40B4-BE49-F238E27FC236}">
                <a16:creationId xmlns:a16="http://schemas.microsoft.com/office/drawing/2014/main" id="{1CA24CC1-BB9C-4C75-BC80-8748486E8632}"/>
              </a:ext>
            </a:extLst>
          </p:cNvPr>
          <p:cNvSpPr>
            <a:spLocks xmlns:a="http://schemas.openxmlformats.org/drawingml/2006/main" noGrp="1"/>
          </p:cNvSpPr>
          <p:nvPr/>
        </p:nvSpPr>
        <p:spPr>
          <a:xfrm xmlns:a="http://schemas.openxmlformats.org/drawingml/2006/main">
            <a:off x="1133475" y="4305300"/>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Prepare communication and service escalation.</a:t>
            </a:r>
          </a:p>
        </p:txBody>
      </p:sp>
      <p:sp>
        <p:nvSpPr>
          <p:cNvPr id="14" name="text-13">
            <a:extLst xmlns:a="http://schemas.openxmlformats.org/drawingml/2006/main">
              <a:ext uri="{FF2B5EF4-FFF2-40B4-BE49-F238E27FC236}">
                <a16:creationId xmlns:a16="http://schemas.microsoft.com/office/drawing/2014/main" id="{F42DE0F3-CC7E-4D80-940B-2B23C4F27C3A}"/>
              </a:ext>
            </a:extLst>
          </p:cNvPr>
          <p:cNvSpPr>
            <a:spLocks xmlns:a="http://schemas.openxmlformats.org/drawingml/2006/main" noGrp="1"/>
          </p:cNvSpPr>
          <p:nvPr/>
        </p:nvSpPr>
        <p:spPr>
          <a:xfrm xmlns:a="http://schemas.openxmlformats.org/drawingml/2006/main">
            <a:off x="609600" y="50292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F27323"/>
                </a:solidFill>
              </a:defRPr>
            </a:defPPr>
            <a:lvl1pPr algn="l">
              <a:defRPr sz="2100" b="1">
                <a:solidFill>
                  <a:srgbClr val="F27323"/>
                </a:solidFill>
              </a:defRPr>
            </a:lvl1pPr>
            <a:lvl2pPr algn="l">
              <a:defRPr sz="2100" b="1">
                <a:solidFill>
                  <a:srgbClr val="F27323"/>
                </a:solidFill>
              </a:defRPr>
            </a:lvl2pPr>
            <a:lvl3pPr algn="l">
              <a:defRPr sz="2100" b="1">
                <a:solidFill>
                  <a:srgbClr val="F27323"/>
                </a:solidFill>
              </a:defRPr>
            </a:lvl3pPr>
            <a:lvl4pPr algn="l">
              <a:defRPr sz="2100" b="1">
                <a:solidFill>
                  <a:srgbClr val="F27323"/>
                </a:solidFill>
              </a:defRPr>
            </a:lvl4pPr>
            <a:lvl5pPr algn="l">
              <a:defRPr sz="2100" b="1">
                <a:solidFill>
                  <a:srgbClr val="F27323"/>
                </a:solidFill>
              </a:defRPr>
            </a:lvl5pPr>
            <a:lvl6pPr algn="l">
              <a:defRPr sz="2100" b="1">
                <a:solidFill>
                  <a:srgbClr val="F27323"/>
                </a:solidFill>
              </a:defRPr>
            </a:lvl6pPr>
            <a:lvl7pPr algn="l">
              <a:defRPr sz="2100" b="1">
                <a:solidFill>
                  <a:srgbClr val="F27323"/>
                </a:solidFill>
              </a:defRPr>
            </a:lvl7pPr>
            <a:lvl8pPr algn="l">
              <a:defRPr sz="2100" b="1">
                <a:solidFill>
                  <a:srgbClr val="F27323"/>
                </a:solidFill>
              </a:defRPr>
            </a:lvl8pPr>
            <a:lvl9pPr algn="l">
              <a:defRPr sz="2100" b="1">
                <a:solidFill>
                  <a:srgbClr val="F27323"/>
                </a:solidFill>
              </a:defRPr>
            </a:lvl9pPr>
          </a:lstStyle>
          <a:p xmlns:a="http://schemas.openxmlformats.org/drawingml/2006/main">
            <a:pPr algn="l">
              <a:defRPr sz="2100" b="1">
                <a:solidFill>
                  <a:srgbClr val="F27323"/>
                </a:solidFill>
              </a:defRPr>
            </a:pPr>
            <a:r>
              <a:rPr sz="2100" b="1">
                <a:solidFill>
                  <a:srgbClr val="F27323"/>
                </a:solidFill>
              </a:rPr>
              <a:t>03</a:t>
            </a:r>
          </a:p>
        </p:txBody>
      </p:sp>
      <p:sp>
        <p:nvSpPr>
          <p:cNvPr id="15" name="text-14">
            <a:extLst xmlns:a="http://schemas.openxmlformats.org/drawingml/2006/main">
              <a:ext uri="{FF2B5EF4-FFF2-40B4-BE49-F238E27FC236}">
                <a16:creationId xmlns:a16="http://schemas.microsoft.com/office/drawing/2014/main" id="{33ACD414-E754-4B43-9F75-D600A591E2FC}"/>
              </a:ext>
            </a:extLst>
          </p:cNvPr>
          <p:cNvSpPr>
            <a:spLocks xmlns:a="http://schemas.openxmlformats.org/drawingml/2006/main" noGrp="1"/>
          </p:cNvSpPr>
          <p:nvPr/>
        </p:nvSpPr>
        <p:spPr>
          <a:xfrm xmlns:a="http://schemas.openxmlformats.org/drawingml/2006/main">
            <a:off x="1133475" y="5029200"/>
            <a:ext cx="457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42C48"/>
                </a:solidFill>
              </a:defRPr>
            </a:defPPr>
            <a:lvl1pPr algn="l">
              <a:defRPr sz="2025" b="1">
                <a:solidFill>
                  <a:srgbClr val="142C48"/>
                </a:solidFill>
              </a:defRPr>
            </a:lvl1pPr>
            <a:lvl2pPr algn="l">
              <a:defRPr sz="2025" b="1">
                <a:solidFill>
                  <a:srgbClr val="142C48"/>
                </a:solidFill>
              </a:defRPr>
            </a:lvl2pPr>
            <a:lvl3pPr algn="l">
              <a:defRPr sz="2025" b="1">
                <a:solidFill>
                  <a:srgbClr val="142C48"/>
                </a:solidFill>
              </a:defRPr>
            </a:lvl3pPr>
            <a:lvl4pPr algn="l">
              <a:defRPr sz="2025" b="1">
                <a:solidFill>
                  <a:srgbClr val="142C48"/>
                </a:solidFill>
              </a:defRPr>
            </a:lvl4pPr>
            <a:lvl5pPr algn="l">
              <a:defRPr sz="2025" b="1">
                <a:solidFill>
                  <a:srgbClr val="142C48"/>
                </a:solidFill>
              </a:defRPr>
            </a:lvl5pPr>
            <a:lvl6pPr algn="l">
              <a:defRPr sz="2025" b="1">
                <a:solidFill>
                  <a:srgbClr val="142C48"/>
                </a:solidFill>
              </a:defRPr>
            </a:lvl6pPr>
            <a:lvl7pPr algn="l">
              <a:defRPr sz="2025" b="1">
                <a:solidFill>
                  <a:srgbClr val="142C48"/>
                </a:solidFill>
              </a:defRPr>
            </a:lvl7pPr>
            <a:lvl8pPr algn="l">
              <a:defRPr sz="2025" b="1">
                <a:solidFill>
                  <a:srgbClr val="142C48"/>
                </a:solidFill>
              </a:defRPr>
            </a:lvl8pPr>
            <a:lvl9pPr algn="l">
              <a:defRPr sz="2025" b="1">
                <a:solidFill>
                  <a:srgbClr val="142C48"/>
                </a:solidFill>
              </a:defRPr>
            </a:lvl9pPr>
          </a:lstStyle>
          <a:p xmlns:a="http://schemas.openxmlformats.org/drawingml/2006/main">
            <a:pPr algn="l">
              <a:defRPr sz="2025" b="1">
                <a:solidFill>
                  <a:srgbClr val="142C48"/>
                </a:solidFill>
              </a:defRPr>
            </a:pPr>
            <a:r>
              <a:rPr sz="2025" b="1">
                <a:solidFill>
                  <a:srgbClr val="142C48"/>
                </a:solidFill>
              </a:rPr>
              <a:t>Preserve accountability</a:t>
            </a:r>
          </a:p>
        </p:txBody>
      </p:sp>
      <p:sp>
        <p:nvSpPr>
          <p:cNvPr id="16" name="text-15">
            <a:extLst xmlns:a="http://schemas.openxmlformats.org/drawingml/2006/main">
              <a:ext uri="{FF2B5EF4-FFF2-40B4-BE49-F238E27FC236}">
                <a16:creationId xmlns:a16="http://schemas.microsoft.com/office/drawing/2014/main" id="{7209115C-DE09-496C-BFB8-AF350F8895A6}"/>
              </a:ext>
            </a:extLst>
          </p:cNvPr>
          <p:cNvSpPr>
            <a:spLocks xmlns:a="http://schemas.openxmlformats.org/drawingml/2006/main" noGrp="1"/>
          </p:cNvSpPr>
          <p:nvPr/>
        </p:nvSpPr>
        <p:spPr>
          <a:xfrm xmlns:a="http://schemas.openxmlformats.org/drawingml/2006/main">
            <a:off x="1133475" y="5553075"/>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Record ownership, approval and period outcomes.</a:t>
            </a:r>
          </a:p>
        </p:txBody>
      </p:sp>
      <p:sp>
        <p:nvSpPr>
          <p:cNvPr id="17" name="text-16">
            <a:extLst xmlns:a="http://schemas.openxmlformats.org/drawingml/2006/main">
              <a:ext uri="{FF2B5EF4-FFF2-40B4-BE49-F238E27FC236}">
                <a16:creationId xmlns:a16="http://schemas.microsoft.com/office/drawing/2014/main" id="{CB5E2BC4-E0E1-4370-82EC-4FF3F056F954}"/>
              </a:ext>
            </a:extLst>
          </p:cNvPr>
          <p:cNvSpPr>
            <a:spLocks xmlns:a="http://schemas.openxmlformats.org/drawingml/2006/main" noGrp="1"/>
          </p:cNvSpPr>
          <p:nvPr/>
        </p:nvSpPr>
        <p:spPr>
          <a:xfrm xmlns:a="http://schemas.openxmlformats.org/drawingml/2006/main">
            <a:off x="6877050" y="1857375"/>
            <a:ext cx="4705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0D69B3"/>
                </a:solidFill>
              </a:defRPr>
            </a:defPPr>
            <a:lvl1pPr algn="l">
              <a:defRPr sz="2175" b="1">
                <a:solidFill>
                  <a:srgbClr val="0D69B3"/>
                </a:solidFill>
              </a:defRPr>
            </a:lvl1pPr>
            <a:lvl2pPr algn="l">
              <a:defRPr sz="2175" b="1">
                <a:solidFill>
                  <a:srgbClr val="0D69B3"/>
                </a:solidFill>
              </a:defRPr>
            </a:lvl2pPr>
            <a:lvl3pPr algn="l">
              <a:defRPr sz="2175" b="1">
                <a:solidFill>
                  <a:srgbClr val="0D69B3"/>
                </a:solidFill>
              </a:defRPr>
            </a:lvl3pPr>
            <a:lvl4pPr algn="l">
              <a:defRPr sz="2175" b="1">
                <a:solidFill>
                  <a:srgbClr val="0D69B3"/>
                </a:solidFill>
              </a:defRPr>
            </a:lvl4pPr>
            <a:lvl5pPr algn="l">
              <a:defRPr sz="2175" b="1">
                <a:solidFill>
                  <a:srgbClr val="0D69B3"/>
                </a:solidFill>
              </a:defRPr>
            </a:lvl5pPr>
            <a:lvl6pPr algn="l">
              <a:defRPr sz="2175" b="1">
                <a:solidFill>
                  <a:srgbClr val="0D69B3"/>
                </a:solidFill>
              </a:defRPr>
            </a:lvl6pPr>
            <a:lvl7pPr algn="l">
              <a:defRPr sz="2175" b="1">
                <a:solidFill>
                  <a:srgbClr val="0D69B3"/>
                </a:solidFill>
              </a:defRPr>
            </a:lvl7pPr>
            <a:lvl8pPr algn="l">
              <a:defRPr sz="2175" b="1">
                <a:solidFill>
                  <a:srgbClr val="0D69B3"/>
                </a:solidFill>
              </a:defRPr>
            </a:lvl8pPr>
            <a:lvl9pPr algn="l">
              <a:defRPr sz="2175" b="1">
                <a:solidFill>
                  <a:srgbClr val="0D69B3"/>
                </a:solidFill>
              </a:defRPr>
            </a:lvl9pPr>
          </a:lstStyle>
          <a:p xmlns:a="http://schemas.openxmlformats.org/drawingml/2006/main">
            <a:pPr algn="l">
              <a:defRPr sz="2175" b="1">
                <a:solidFill>
                  <a:srgbClr val="0D69B3"/>
                </a:solidFill>
              </a:defRPr>
            </a:pPr>
            <a:r>
              <a:rPr sz="2175" b="1">
                <a:solidFill>
                  <a:srgbClr val="0D69B3"/>
                </a:solidFill>
              </a:rPr>
              <a:t>CS workspace</a:t>
            </a:r>
          </a:p>
        </p:txBody>
      </p:sp>
      <p:graphicFrame>
        <p:nvGraphicFramePr>
          <p:cNvPr id="18" name="">
            <a:extLst xmlns:a="http://schemas.openxmlformats.org/drawingml/2006/main">
              <a:ext uri="{FF2B5EF4-FFF2-40B4-BE49-F238E27FC236}">
                <a16:creationId xmlns:a16="http://schemas.microsoft.com/office/drawing/2014/main" id="{8CCF8DE0-8303-419F-A005-18A18AAF3CED}"/>
              </a:ext>
            </a:extLst>
          </p:cNvPr>
          <p:cNvGraphicFramePr/>
          <p:nvPr/>
        </p:nvGraphicFramePr>
        <p:xfrm>
          <a:off xmlns:a="http://schemas.openxmlformats.org/drawingml/2006/main" x="6877050" y="2409825"/>
          <a:ext xmlns:a="http://schemas.openxmlformats.org/drawingml/2006/main" cx="4705350" cy="2857500"/>
        </p:xfrm>
        <a:graphic xmlns:a="http://schemas.openxmlformats.org/drawingml/2006/main">
          <a:graphicData uri="http://schemas.openxmlformats.org/drawingml/2006/table">
            <a:tbl>
              <a:tblPr/>
              <a:tblGrid>
                <a:gridCol w="2352675"/>
                <a:gridCol w="2352675"/>
              </a:tblGrid>
              <a:tr h="495300">
                <a:tc>
                  <a:txBody>
                    <a:bodyPr/>
                    <a:lstStyle/>
                    <a:p>
                      <a:r>
                        <a:rPr sz="1575" b="1">
                          <a:solidFill>
                            <a:srgbClr val="0D69B3"/>
                          </a:solidFill>
                        </a:rPr>
                        <a:t>Inside the prototype</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575" b="1">
                          <a:solidFill>
                            <a:srgbClr val="0D69B3"/>
                          </a:solidFill>
                        </a:rPr>
                        <a:t>External / future</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590550">
                <a:tc>
                  <a:txBody>
                    <a:bodyPr/>
                    <a:lstStyle/>
                    <a:p>
                      <a:r>
                        <a:rPr sz="1575" b="1">
                          <a:solidFill>
                            <a:srgbClr val="142C48"/>
                          </a:solidFill>
                        </a:rPr>
                        <a:t>Queue and case details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Production model</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90550">
                <a:tc>
                  <a:txBody>
                    <a:bodyPr/>
                    <a:lstStyle/>
                    <a:p>
                      <a:r>
                        <a:rPr sz="1575" b="1">
                          <a:solidFill>
                            <a:srgbClr val="142C48"/>
                          </a:solidFill>
                        </a:rPr>
                        <a:t>SHAP and AI drafts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Technical-service execution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90550">
                <a:tc>
                  <a:txBody>
                    <a:bodyPr/>
                    <a:lstStyle/>
                    <a:p>
                      <a:r>
                        <a:rPr sz="1575" b="1">
                          <a:solidFill>
                            <a:srgbClr val="142C48"/>
                          </a:solidFill>
                        </a:rPr>
                        <a:t>Approve mock messages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Live channel providers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90550">
                <a:tc>
                  <a:txBody>
                    <a:bodyPr/>
                    <a:lstStyle/>
                    <a:p>
                      <a:r>
                        <a:rPr sz="1575" b="1">
                          <a:solidFill>
                            <a:srgbClr val="142C48"/>
                          </a:solidFill>
                        </a:rPr>
                        <a:t>Follow-up and handoff</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Causal uplift targeting</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19" name="text-17">
            <a:extLst xmlns:a="http://schemas.openxmlformats.org/drawingml/2006/main">
              <a:ext uri="{FF2B5EF4-FFF2-40B4-BE49-F238E27FC236}">
                <a16:creationId xmlns:a16="http://schemas.microsoft.com/office/drawing/2014/main" id="{9DD5B46A-5C38-44F7-8F0A-109D6658BD51}"/>
              </a:ext>
            </a:extLst>
          </p:cNvPr>
          <p:cNvSpPr>
            <a:spLocks xmlns:a="http://schemas.openxmlformats.org/drawingml/2006/main" noGrp="1"/>
          </p:cNvSpPr>
          <p:nvPr/>
        </p:nvSpPr>
        <p:spPr>
          <a:xfrm xmlns:a="http://schemas.openxmlformats.org/drawingml/2006/main">
            <a:off x="6877050" y="5524500"/>
            <a:ext cx="4705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142C48"/>
                </a:solidFill>
              </a:defRPr>
            </a:defPPr>
            <a:lvl1pPr algn="l">
              <a:defRPr sz="1950" b="1">
                <a:solidFill>
                  <a:srgbClr val="142C48"/>
                </a:solidFill>
              </a:defRPr>
            </a:lvl1pPr>
            <a:lvl2pPr algn="l">
              <a:defRPr sz="1950" b="1">
                <a:solidFill>
                  <a:srgbClr val="142C48"/>
                </a:solidFill>
              </a:defRPr>
            </a:lvl2pPr>
            <a:lvl3pPr algn="l">
              <a:defRPr sz="1950" b="1">
                <a:solidFill>
                  <a:srgbClr val="142C48"/>
                </a:solidFill>
              </a:defRPr>
            </a:lvl3pPr>
            <a:lvl4pPr algn="l">
              <a:defRPr sz="1950" b="1">
                <a:solidFill>
                  <a:srgbClr val="142C48"/>
                </a:solidFill>
              </a:defRPr>
            </a:lvl4pPr>
            <a:lvl5pPr algn="l">
              <a:defRPr sz="1950" b="1">
                <a:solidFill>
                  <a:srgbClr val="142C48"/>
                </a:solidFill>
              </a:defRPr>
            </a:lvl5pPr>
            <a:lvl6pPr algn="l">
              <a:defRPr sz="1950" b="1">
                <a:solidFill>
                  <a:srgbClr val="142C48"/>
                </a:solidFill>
              </a:defRPr>
            </a:lvl6pPr>
            <a:lvl7pPr algn="l">
              <a:defRPr sz="1950" b="1">
                <a:solidFill>
                  <a:srgbClr val="142C48"/>
                </a:solidFill>
              </a:defRPr>
            </a:lvl7pPr>
            <a:lvl8pPr algn="l">
              <a:defRPr sz="1950" b="1">
                <a:solidFill>
                  <a:srgbClr val="142C48"/>
                </a:solidFill>
              </a:defRPr>
            </a:lvl8pPr>
            <a:lvl9pPr algn="l">
              <a:defRPr sz="1950" b="1">
                <a:solidFill>
                  <a:srgbClr val="142C48"/>
                </a:solidFill>
              </a:defRPr>
            </a:lvl9pPr>
          </a:lstStyle>
          <a:p xmlns:a="http://schemas.openxmlformats.org/drawingml/2006/main">
            <a:pPr algn="l">
              <a:defRPr sz="1950" b="1">
                <a:solidFill>
                  <a:srgbClr val="142C48"/>
                </a:solidFill>
              </a:defRPr>
            </a:pPr>
            <a:r>
              <a:rPr sz="1950" b="1">
                <a:solidFill>
                  <a:srgbClr val="142C48"/>
                </a:solidFill>
              </a:rPr>
              <a:t>Every outbound message</a:t>
            </a:r>
          </a:p>
          <a:p xmlns:a="http://schemas.openxmlformats.org/drawingml/2006/main">
            <a:pPr algn="l">
              <a:defRPr sz="1950" b="1">
                <a:solidFill>
                  <a:srgbClr val="142C48"/>
                </a:solidFill>
              </a:defRPr>
            </a:pPr>
            <a:r>
              <a:rPr sz="1950" b="1">
                <a:solidFill>
                  <a:srgbClr val="142C48"/>
                </a:solidFill>
              </a:rPr>
              <a:t>requires staff approval.</a:t>
            </a:r>
          </a:p>
        </p:txBody>
      </p:sp>
    </p:spTree>
    <p:extLst>
      <p:ext uri="{BB962C8B-B14F-4D97-AF65-F5344CB8AC3E}">
        <p14:creationId xmlns:p14="http://schemas.microsoft.com/office/powerpoint/2010/main" val="3853037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5E75C8A-554D-40ED-9FA3-70B645736175}"/>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DATA</a:t>
            </a:r>
          </a:p>
        </p:txBody>
      </p:sp>
      <p:sp>
        <p:nvSpPr>
          <p:cNvPr id="2" name="text-1">
            <a:extLst xmlns:a="http://schemas.openxmlformats.org/drawingml/2006/main">
              <a:ext uri="{FF2B5EF4-FFF2-40B4-BE49-F238E27FC236}">
                <a16:creationId xmlns:a16="http://schemas.microsoft.com/office/drawing/2014/main" id="{3FB24449-2435-4802-97DE-BF0D583A211D}"/>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Data Requirements and Sources</a:t>
            </a:r>
          </a:p>
        </p:txBody>
      </p:sp>
      <p:sp>
        <p:nvSpPr>
          <p:cNvPr id="3" name="">
            <a:extLst xmlns:a="http://schemas.openxmlformats.org/drawingml/2006/main">
              <a:ext uri="{FF2B5EF4-FFF2-40B4-BE49-F238E27FC236}">
                <a16:creationId xmlns:a16="http://schemas.microsoft.com/office/drawing/2014/main" id="{92047013-73AA-44CE-80B8-5A4A020D0ED7}"/>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0C6576-E655-46E1-8B58-13C3C5C6FDB7}"/>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93FE16CE-5D46-41AC-A0BA-EC3337BB91B5}"/>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DATA_ML.md and source_data_profile.json. Fictional public source and generated histories, not FPT customer records.</a:t>
            </a:r>
          </a:p>
        </p:txBody>
      </p:sp>
      <p:sp>
        <p:nvSpPr>
          <p:cNvPr id="6" name="text-5">
            <a:extLst xmlns:a="http://schemas.openxmlformats.org/drawingml/2006/main">
              <a:ext uri="{FF2B5EF4-FFF2-40B4-BE49-F238E27FC236}">
                <a16:creationId xmlns:a16="http://schemas.microsoft.com/office/drawing/2014/main" id="{95840E38-91FB-4953-9585-E59240B0444F}"/>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07 / 24</a:t>
            </a:r>
          </a:p>
        </p:txBody>
      </p:sp>
      <p:graphicFrame>
        <p:nvGraphicFramePr>
          <p:cNvPr id="7" name="">
            <a:extLst xmlns:a="http://schemas.openxmlformats.org/drawingml/2006/main">
              <a:ext uri="{FF2B5EF4-FFF2-40B4-BE49-F238E27FC236}">
                <a16:creationId xmlns:a16="http://schemas.microsoft.com/office/drawing/2014/main" id="{08FC9EE4-2101-4101-AD5A-F1114BA3AD0B}"/>
              </a:ext>
            </a:extLst>
          </p:cNvPr>
          <p:cNvGraphicFramePr/>
          <p:nvPr/>
        </p:nvGraphicFramePr>
        <p:xfrm>
          <a:off xmlns:a="http://schemas.openxmlformats.org/drawingml/2006/main" x="609600" y="1762125"/>
          <a:ext xmlns:a="http://schemas.openxmlformats.org/drawingml/2006/main" cx="10972800" cy="3810000"/>
        </p:xfrm>
        <a:graphic xmlns:a="http://schemas.openxmlformats.org/drawingml/2006/main">
          <a:graphicData uri="http://schemas.openxmlformats.org/drawingml/2006/table">
            <a:tbl>
              <a:tblPr/>
              <a:tblGrid>
                <a:gridCol w="2952750"/>
                <a:gridCol w="3333750"/>
                <a:gridCol w="4686300"/>
              </a:tblGrid>
              <a:tr h="495300">
                <a:tc>
                  <a:txBody>
                    <a:bodyPr/>
                    <a:lstStyle/>
                    <a:p>
                      <a:r>
                        <a:rPr sz="1650" b="1">
                          <a:solidFill>
                            <a:srgbClr val="0D69B3"/>
                          </a:solidFill>
                        </a:rPr>
                        <a:t>Data domain</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650" b="1">
                          <a:solidFill>
                            <a:srgbClr val="0D69B3"/>
                          </a:solidFill>
                        </a:rPr>
                        <a:t>Business use</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650" b="1">
                          <a:solidFill>
                            <a:srgbClr val="0D69B3"/>
                          </a:solidFill>
                        </a:rPr>
                        <a:t>Prototype source / status</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552450">
                <a:tc>
                  <a:txBody>
                    <a:bodyPr/>
                    <a:lstStyle/>
                    <a:p>
                      <a:r>
                        <a:rPr sz="1650" b="1">
                          <a:solidFill>
                            <a:srgbClr val="142C48"/>
                          </a:solidFill>
                        </a:rPr>
                        <a:t>Subscription and plan</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Understand the relationship</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Synthetic profiles; public cohort seeds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52450">
                <a:tc>
                  <a:txBody>
                    <a:bodyPr/>
                    <a:lstStyle/>
                    <a:p>
                      <a:r>
                        <a:rPr sz="1650" b="1">
                          <a:solidFill>
                            <a:srgbClr val="142C48"/>
                          </a:solidFill>
                        </a:rPr>
                        <a:t>Service, billing and support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Verify context and follow up</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Simulated timestamped histories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52450">
                <a:tc>
                  <a:txBody>
                    <a:bodyPr/>
                    <a:lstStyle/>
                    <a:p>
                      <a:r>
                        <a:rPr sz="1650" b="1">
                          <a:solidFill>
                            <a:srgbClr val="142C48"/>
                          </a:solidFill>
                        </a:rPr>
                        <a:t>Prediction and explanation</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Review risk and attribution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V5 outputs and native SHAP</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52450">
                <a:tc>
                  <a:txBody>
                    <a:bodyPr/>
                    <a:lstStyle/>
                    <a:p>
                      <a:r>
                        <a:rPr sz="1650" b="1">
                          <a:solidFill>
                            <a:srgbClr val="142C48"/>
                          </a:solidFill>
                        </a:rPr>
                        <a:t>Conversation and actions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Coordinate the next interaction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App records; historical mock evidence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52450">
                <a:tc>
                  <a:txBody>
                    <a:bodyPr/>
                    <a:lstStyle/>
                    <a:p>
                      <a:r>
                        <a:rPr sz="1650" b="1">
                          <a:solidFill>
                            <a:srgbClr val="142C48"/>
                          </a:solidFill>
                        </a:rPr>
                        <a:t>Policies, offers and costs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Check eligibility and value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Demo knowledge; catalog/cost UI pending</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52450">
                <a:tc>
                  <a:txBody>
                    <a:bodyPr/>
                    <a:lstStyle/>
                    <a:p>
                      <a:r>
                        <a:rPr sz="1650" b="1">
                          <a:solidFill>
                            <a:srgbClr val="142C48"/>
                          </a:solidFill>
                        </a:rPr>
                        <a:t>Service outcome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Assess churn in the correct period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Mature labels offline; current batch Unknown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6B38A36F-D075-4962-9FDE-11C66B1EB0E9}"/>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Public starting file: 7,043 records × 38 columns; 5,517 Internet customers.</a:t>
            </a:r>
          </a:p>
        </p:txBody>
      </p:sp>
    </p:spTree>
    <p:extLst>
      <p:ext uri="{BB962C8B-B14F-4D97-AF65-F5344CB8AC3E}">
        <p14:creationId xmlns:p14="http://schemas.microsoft.com/office/powerpoint/2010/main" val="845216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26A2A673-D177-4119-8FEC-CA56FD614442}"/>
              </a:ext>
            </a:extLst>
          </p:cNvPr>
          <p:cNvCxnSpPr>
            <a:stCxn xmlns:a="http://schemas.openxmlformats.org/drawingml/2006/main" id="13" idx="3"/>
            <a:endCxn xmlns:a="http://schemas.openxmlformats.org/drawingml/2006/main" id="15" idx="1"/>
          </p:cNvCxnSpPr>
          <p:nvPr/>
        </p:nvCxnSpPr>
        <p:spPr>
          <a:xfrm xmlns:a="http://schemas.openxmlformats.org/drawingml/2006/main">
            <a:off x="9344025" y="2100263"/>
            <a:ext cx="219075" cy="0"/>
          </a:xfrm>
          <a:prstGeom xmlns:a="http://schemas.openxmlformats.org/drawingml/2006/main" prst="straightConnector1">
            <a:avLst/>
          </a:prstGeom>
          <a:ln xmlns:a="http://schemas.openxmlformats.org/drawingml/2006/main" w="15240">
            <a:solidFill>
              <a:srgbClr val="0D69B3"/>
            </a:solidFill>
            <a:tailEnd type="triangle" w="sm" len="sm"/>
          </a:ln>
        </p:spPr>
      </p:cxnSp>
      <p:cxnSp>
        <p:nvCxnSpPr>
          <p:cNvPr id="19" name="">
            <a:extLst xmlns:a="http://schemas.openxmlformats.org/drawingml/2006/main">
              <a:ext uri="{FF2B5EF4-FFF2-40B4-BE49-F238E27FC236}">
                <a16:creationId xmlns:a16="http://schemas.microsoft.com/office/drawing/2014/main" id="{26366CEB-D5D2-4303-8897-20A236358A66}"/>
              </a:ext>
            </a:extLst>
          </p:cNvPr>
          <p:cNvCxnSpPr>
            <a:stCxn xmlns:a="http://schemas.openxmlformats.org/drawingml/2006/main" id="11" idx="3"/>
            <a:endCxn xmlns:a="http://schemas.openxmlformats.org/drawingml/2006/main" id="13" idx="1"/>
          </p:cNvCxnSpPr>
          <p:nvPr/>
        </p:nvCxnSpPr>
        <p:spPr>
          <a:xfrm xmlns:a="http://schemas.openxmlformats.org/drawingml/2006/main">
            <a:off x="7105650" y="2100263"/>
            <a:ext cx="219075" cy="0"/>
          </a:xfrm>
          <a:prstGeom xmlns:a="http://schemas.openxmlformats.org/drawingml/2006/main" prst="straightConnector1">
            <a:avLst/>
          </a:prstGeom>
          <a:ln xmlns:a="http://schemas.openxmlformats.org/drawingml/2006/main" w="15240">
            <a:solidFill>
              <a:srgbClr val="0D69B3"/>
            </a:solidFill>
            <a:tailEnd type="triangle" w="sm" len="sm"/>
          </a:ln>
        </p:spPr>
      </p:cxnSp>
      <p:cxnSp>
        <p:nvCxnSpPr>
          <p:cNvPr id="18" name="">
            <a:extLst xmlns:a="http://schemas.openxmlformats.org/drawingml/2006/main">
              <a:ext uri="{FF2B5EF4-FFF2-40B4-BE49-F238E27FC236}">
                <a16:creationId xmlns:a16="http://schemas.microsoft.com/office/drawing/2014/main" id="{2BD8DDBB-900D-474F-B2B3-3C5443FB3745}"/>
              </a:ext>
            </a:extLst>
          </p:cNvPr>
          <p:cNvCxnSpPr>
            <a:stCxn xmlns:a="http://schemas.openxmlformats.org/drawingml/2006/main" id="9" idx="3"/>
            <a:endCxn xmlns:a="http://schemas.openxmlformats.org/drawingml/2006/main" id="11" idx="1"/>
          </p:cNvCxnSpPr>
          <p:nvPr/>
        </p:nvCxnSpPr>
        <p:spPr>
          <a:xfrm xmlns:a="http://schemas.openxmlformats.org/drawingml/2006/main">
            <a:off x="4867275" y="2100263"/>
            <a:ext cx="219075" cy="0"/>
          </a:xfrm>
          <a:prstGeom xmlns:a="http://schemas.openxmlformats.org/drawingml/2006/main" prst="straightConnector1">
            <a:avLst/>
          </a:prstGeom>
          <a:ln xmlns:a="http://schemas.openxmlformats.org/drawingml/2006/main" w="15240">
            <a:solidFill>
              <a:srgbClr val="0D69B3"/>
            </a:solidFill>
            <a:tailEnd type="triangle" w="sm" len="sm"/>
          </a:ln>
        </p:spPr>
      </p:cxnSp>
      <p:cxnSp>
        <p:nvCxnSpPr>
          <p:cNvPr id="17" name="">
            <a:extLst xmlns:a="http://schemas.openxmlformats.org/drawingml/2006/main">
              <a:ext uri="{FF2B5EF4-FFF2-40B4-BE49-F238E27FC236}">
                <a16:creationId xmlns:a16="http://schemas.microsoft.com/office/drawing/2014/main" id="{560E5945-1B67-4E68-9293-BB1103484DBC}"/>
              </a:ext>
            </a:extLst>
          </p:cNvPr>
          <p:cNvCxnSpPr>
            <a:stCxn xmlns:a="http://schemas.openxmlformats.org/drawingml/2006/main" id="7" idx="3"/>
            <a:endCxn xmlns:a="http://schemas.openxmlformats.org/drawingml/2006/main" id="9" idx="1"/>
          </p:cNvCxnSpPr>
          <p:nvPr/>
        </p:nvCxnSpPr>
        <p:spPr>
          <a:xfrm xmlns:a="http://schemas.openxmlformats.org/drawingml/2006/main">
            <a:off x="2628900" y="2100263"/>
            <a:ext cx="219075" cy="0"/>
          </a:xfrm>
          <a:prstGeom xmlns:a="http://schemas.openxmlformats.org/drawingml/2006/main" prst="straightConnector1">
            <a:avLst/>
          </a:prstGeom>
          <a:ln xmlns:a="http://schemas.openxmlformats.org/drawingml/2006/main" w="15240">
            <a:solidFill>
              <a:srgbClr val="0D69B3"/>
            </a:solidFill>
            <a:tailEnd type="triangle" w="sm" len="sm"/>
          </a:ln>
        </p:spPr>
      </p:cxnSp>
      <p:sp>
        <p:nvSpPr>
          <p:cNvPr id="23" name="text-0">
            <a:extLst xmlns:a="http://schemas.openxmlformats.org/drawingml/2006/main">
              <a:ext uri="{FF2B5EF4-FFF2-40B4-BE49-F238E27FC236}">
                <a16:creationId xmlns:a16="http://schemas.microsoft.com/office/drawing/2014/main" id="{B952D24F-AAEE-471D-83CB-FC50F15D5A39}"/>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DATA</a:t>
            </a:r>
          </a:p>
        </p:txBody>
      </p:sp>
      <p:sp>
        <p:nvSpPr>
          <p:cNvPr id="2" name="text-1">
            <a:extLst xmlns:a="http://schemas.openxmlformats.org/drawingml/2006/main">
              <a:ext uri="{FF2B5EF4-FFF2-40B4-BE49-F238E27FC236}">
                <a16:creationId xmlns:a16="http://schemas.microsoft.com/office/drawing/2014/main" id="{33B2C784-E064-466F-8151-5375F5603A53}"/>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Data Preparation and Quality Controls</a:t>
            </a:r>
          </a:p>
        </p:txBody>
      </p:sp>
      <p:sp>
        <p:nvSpPr>
          <p:cNvPr id="3" name="">
            <a:extLst xmlns:a="http://schemas.openxmlformats.org/drawingml/2006/main">
              <a:ext uri="{FF2B5EF4-FFF2-40B4-BE49-F238E27FC236}">
                <a16:creationId xmlns:a16="http://schemas.microsoft.com/office/drawing/2014/main" id="{1FB38D01-7DCB-4859-889D-78B1A59A32AE}"/>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7B1B46-5B7D-4E45-A198-B355493CC9E7}"/>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18E64A52-8392-420B-978E-92D2E3E93276}"/>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DATA_ML.md and v5 generation_quality.json. Repeated snapshot observations; all longitudinal histories are synthetic.</a:t>
            </a:r>
          </a:p>
        </p:txBody>
      </p:sp>
      <p:sp>
        <p:nvSpPr>
          <p:cNvPr id="6" name="text-5">
            <a:extLst xmlns:a="http://schemas.openxmlformats.org/drawingml/2006/main">
              <a:ext uri="{FF2B5EF4-FFF2-40B4-BE49-F238E27FC236}">
                <a16:creationId xmlns:a16="http://schemas.microsoft.com/office/drawing/2014/main" id="{527ECD45-8A9C-4469-8605-FDA66372A9F6}"/>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08 / 24</a:t>
            </a:r>
          </a:p>
        </p:txBody>
      </p:sp>
      <p:sp>
        <p:nvSpPr>
          <p:cNvPr id="7" name="">
            <a:extLst xmlns:a="http://schemas.openxmlformats.org/drawingml/2006/main">
              <a:ext uri="{FF2B5EF4-FFF2-40B4-BE49-F238E27FC236}">
                <a16:creationId xmlns:a16="http://schemas.microsoft.com/office/drawing/2014/main" id="{44237FAC-369F-488B-957B-345B91618DE4}"/>
              </a:ext>
            </a:extLst>
          </p:cNvPr>
          <p:cNvSpPr>
            <a:spLocks xmlns:a="http://schemas.openxmlformats.org/drawingml/2006/main" noGrp="1"/>
          </p:cNvSpPr>
          <p:nvPr/>
        </p:nvSpPr>
        <p:spPr>
          <a:xfrm xmlns:a="http://schemas.openxmlformats.org/drawingml/2006/main">
            <a:off x="609600" y="1790700"/>
            <a:ext cx="20193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8" name="text-7">
            <a:extLst xmlns:a="http://schemas.openxmlformats.org/drawingml/2006/main">
              <a:ext uri="{FF2B5EF4-FFF2-40B4-BE49-F238E27FC236}">
                <a16:creationId xmlns:a16="http://schemas.microsoft.com/office/drawing/2014/main" id="{2BCB1160-643A-4D82-BE4B-12DE824DDA04}"/>
              </a:ext>
            </a:extLst>
          </p:cNvPr>
          <p:cNvSpPr>
            <a:spLocks xmlns:a="http://schemas.openxmlformats.org/drawingml/2006/main" noGrp="1"/>
          </p:cNvSpPr>
          <p:nvPr/>
        </p:nvSpPr>
        <p:spPr>
          <a:xfrm xmlns:a="http://schemas.openxmlformats.org/drawingml/2006/main">
            <a:off x="742950" y="1952625"/>
            <a:ext cx="1752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Public cohort</a:t>
            </a:r>
          </a:p>
        </p:txBody>
      </p:sp>
      <p:sp>
        <p:nvSpPr>
          <p:cNvPr id="9" name="">
            <a:extLst xmlns:a="http://schemas.openxmlformats.org/drawingml/2006/main">
              <a:ext uri="{FF2B5EF4-FFF2-40B4-BE49-F238E27FC236}">
                <a16:creationId xmlns:a16="http://schemas.microsoft.com/office/drawing/2014/main" id="{E4D18D75-F9C6-4D74-BF0D-0F5468BF06A2}"/>
              </a:ext>
            </a:extLst>
          </p:cNvPr>
          <p:cNvSpPr>
            <a:spLocks xmlns:a="http://schemas.openxmlformats.org/drawingml/2006/main" noGrp="1"/>
          </p:cNvSpPr>
          <p:nvPr/>
        </p:nvSpPr>
        <p:spPr>
          <a:xfrm xmlns:a="http://schemas.openxmlformats.org/drawingml/2006/main">
            <a:off x="2847975" y="1790700"/>
            <a:ext cx="20193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0" name="text-9">
            <a:extLst xmlns:a="http://schemas.openxmlformats.org/drawingml/2006/main">
              <a:ext uri="{FF2B5EF4-FFF2-40B4-BE49-F238E27FC236}">
                <a16:creationId xmlns:a16="http://schemas.microsoft.com/office/drawing/2014/main" id="{C9D7D368-A8AC-4F9C-8D89-6A981F539F56}"/>
              </a:ext>
            </a:extLst>
          </p:cNvPr>
          <p:cNvSpPr>
            <a:spLocks xmlns:a="http://schemas.openxmlformats.org/drawingml/2006/main" noGrp="1"/>
          </p:cNvSpPr>
          <p:nvPr/>
        </p:nvSpPr>
        <p:spPr>
          <a:xfrm xmlns:a="http://schemas.openxmlformats.org/drawingml/2006/main">
            <a:off x="2981325" y="1952625"/>
            <a:ext cx="1752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Event histories</a:t>
            </a:r>
          </a:p>
        </p:txBody>
      </p:sp>
      <p:sp>
        <p:nvSpPr>
          <p:cNvPr id="11" name="">
            <a:extLst xmlns:a="http://schemas.openxmlformats.org/drawingml/2006/main">
              <a:ext uri="{FF2B5EF4-FFF2-40B4-BE49-F238E27FC236}">
                <a16:creationId xmlns:a16="http://schemas.microsoft.com/office/drawing/2014/main" id="{A3A38B47-1A44-47A3-978F-49A8421FDF5D}"/>
              </a:ext>
            </a:extLst>
          </p:cNvPr>
          <p:cNvSpPr>
            <a:spLocks xmlns:a="http://schemas.openxmlformats.org/drawingml/2006/main" noGrp="1"/>
          </p:cNvSpPr>
          <p:nvPr/>
        </p:nvSpPr>
        <p:spPr>
          <a:xfrm xmlns:a="http://schemas.openxmlformats.org/drawingml/2006/main">
            <a:off x="5086350" y="1790700"/>
            <a:ext cx="20193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2" name="text-11">
            <a:extLst xmlns:a="http://schemas.openxmlformats.org/drawingml/2006/main">
              <a:ext uri="{FF2B5EF4-FFF2-40B4-BE49-F238E27FC236}">
                <a16:creationId xmlns:a16="http://schemas.microsoft.com/office/drawing/2014/main" id="{C9D0B2D6-F39C-47F0-89B4-07FC0ACE89CE}"/>
              </a:ext>
            </a:extLst>
          </p:cNvPr>
          <p:cNvSpPr>
            <a:spLocks xmlns:a="http://schemas.openxmlformats.org/drawingml/2006/main" noGrp="1"/>
          </p:cNvSpPr>
          <p:nvPr/>
        </p:nvSpPr>
        <p:spPr>
          <a:xfrm xmlns:a="http://schemas.openxmlformats.org/drawingml/2006/main">
            <a:off x="5219700" y="1952625"/>
            <a:ext cx="1752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As-of snapshots</a:t>
            </a:r>
          </a:p>
        </p:txBody>
      </p:sp>
      <p:sp>
        <p:nvSpPr>
          <p:cNvPr id="13" name="">
            <a:extLst xmlns:a="http://schemas.openxmlformats.org/drawingml/2006/main">
              <a:ext uri="{FF2B5EF4-FFF2-40B4-BE49-F238E27FC236}">
                <a16:creationId xmlns:a16="http://schemas.microsoft.com/office/drawing/2014/main" id="{B2DC923E-6483-4904-B3B5-75FCA415C6B7}"/>
              </a:ext>
            </a:extLst>
          </p:cNvPr>
          <p:cNvSpPr>
            <a:spLocks xmlns:a="http://schemas.openxmlformats.org/drawingml/2006/main" noGrp="1"/>
          </p:cNvSpPr>
          <p:nvPr/>
        </p:nvSpPr>
        <p:spPr>
          <a:xfrm xmlns:a="http://schemas.openxmlformats.org/drawingml/2006/main">
            <a:off x="7324725" y="1790700"/>
            <a:ext cx="20193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4" name="text-13">
            <a:extLst xmlns:a="http://schemas.openxmlformats.org/drawingml/2006/main">
              <a:ext uri="{FF2B5EF4-FFF2-40B4-BE49-F238E27FC236}">
                <a16:creationId xmlns:a16="http://schemas.microsoft.com/office/drawing/2014/main" id="{F7C4596A-5462-4936-9379-923269C14396}"/>
              </a:ext>
            </a:extLst>
          </p:cNvPr>
          <p:cNvSpPr>
            <a:spLocks xmlns:a="http://schemas.openxmlformats.org/drawingml/2006/main" noGrp="1"/>
          </p:cNvSpPr>
          <p:nvPr/>
        </p:nvSpPr>
        <p:spPr>
          <a:xfrm xmlns:a="http://schemas.openxmlformats.org/drawingml/2006/main">
            <a:off x="7458075" y="1952625"/>
            <a:ext cx="1752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127 features</a:t>
            </a:r>
          </a:p>
        </p:txBody>
      </p:sp>
      <p:sp>
        <p:nvSpPr>
          <p:cNvPr id="15" name="">
            <a:extLst xmlns:a="http://schemas.openxmlformats.org/drawingml/2006/main">
              <a:ext uri="{FF2B5EF4-FFF2-40B4-BE49-F238E27FC236}">
                <a16:creationId xmlns:a16="http://schemas.microsoft.com/office/drawing/2014/main" id="{383826C7-4117-4028-A257-7D30DEE1570E}"/>
              </a:ext>
            </a:extLst>
          </p:cNvPr>
          <p:cNvSpPr>
            <a:spLocks xmlns:a="http://schemas.openxmlformats.org/drawingml/2006/main" noGrp="1"/>
          </p:cNvSpPr>
          <p:nvPr/>
        </p:nvSpPr>
        <p:spPr>
          <a:xfrm xmlns:a="http://schemas.openxmlformats.org/drawingml/2006/main">
            <a:off x="9563100" y="1790700"/>
            <a:ext cx="20193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6" name="text-15">
            <a:extLst xmlns:a="http://schemas.openxmlformats.org/drawingml/2006/main">
              <a:ext uri="{FF2B5EF4-FFF2-40B4-BE49-F238E27FC236}">
                <a16:creationId xmlns:a16="http://schemas.microsoft.com/office/drawing/2014/main" id="{3F76DCE5-A912-4B60-AABC-7780B194AE8F}"/>
              </a:ext>
            </a:extLst>
          </p:cNvPr>
          <p:cNvSpPr>
            <a:spLocks xmlns:a="http://schemas.openxmlformats.org/drawingml/2006/main" noGrp="1"/>
          </p:cNvSpPr>
          <p:nvPr/>
        </p:nvSpPr>
        <p:spPr>
          <a:xfrm xmlns:a="http://schemas.openxmlformats.org/drawingml/2006/main">
            <a:off x="9696450" y="1952625"/>
            <a:ext cx="1752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Purged partitions</a:t>
            </a:r>
          </a:p>
        </p:txBody>
      </p:sp>
      <p:graphicFrame>
        <p:nvGraphicFramePr>
          <p:cNvPr id="21" name="">
            <a:extLst xmlns:a="http://schemas.openxmlformats.org/drawingml/2006/main">
              <a:ext uri="{FF2B5EF4-FFF2-40B4-BE49-F238E27FC236}">
                <a16:creationId xmlns:a16="http://schemas.microsoft.com/office/drawing/2014/main" id="{40993330-FE38-4A07-B51C-53658E09D2C7}"/>
              </a:ext>
            </a:extLst>
          </p:cNvPr>
          <p:cNvGraphicFramePr/>
          <p:nvPr/>
        </p:nvGraphicFramePr>
        <p:xfrm>
          <a:off xmlns:a="http://schemas.openxmlformats.org/drawingml/2006/main" x="609600" y="2743200"/>
          <a:ext xmlns:a="http://schemas.openxmlformats.org/drawingml/2006/main" cx="10972800" cy="2762250"/>
        </p:xfrm>
        <a:graphic xmlns:a="http://schemas.openxmlformats.org/drawingml/2006/main">
          <a:graphicData uri="http://schemas.openxmlformats.org/drawingml/2006/table">
            <a:tbl>
              <a:tblPr/>
              <a:tblGrid>
                <a:gridCol w="2952750"/>
                <a:gridCol w="8020050"/>
              </a:tblGrid>
              <a:tr h="495300">
                <a:tc>
                  <a:txBody>
                    <a:bodyPr/>
                    <a:lstStyle/>
                    <a:p>
                      <a:r>
                        <a:rPr sz="1800" b="1">
                          <a:solidFill>
                            <a:srgbClr val="0D69B3"/>
                          </a:solidFill>
                        </a:rPr>
                        <a:t>Quality control</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800" b="1">
                          <a:solidFill>
                            <a:srgbClr val="0D69B3"/>
                          </a:solidFill>
                        </a:rPr>
                        <a:t>Rule</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453390">
                <a:tc>
                  <a:txBody>
                    <a:bodyPr/>
                    <a:lstStyle/>
                    <a:p>
                      <a:r>
                        <a:rPr sz="1800" b="1">
                          <a:solidFill>
                            <a:srgbClr val="142C48"/>
                          </a:solidFill>
                        </a:rPr>
                        <a:t>Time integrity</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Use facts available at the snapshot cutoff</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53390">
                <a:tc>
                  <a:txBody>
                    <a:bodyPr/>
                    <a:lstStyle/>
                    <a:p>
                      <a:r>
                        <a:rPr sz="1800" b="1">
                          <a:solidFill>
                            <a:srgbClr val="142C48"/>
                          </a:solidFill>
                        </a:rPr>
                        <a:t>Feature whitelist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Exclude IDs, labels, future events and generation audit fields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53390">
                <a:tc>
                  <a:txBody>
                    <a:bodyPr/>
                    <a:lstStyle/>
                    <a:p>
                      <a:r>
                        <a:rPr sz="1800" b="1">
                          <a:solidFill>
                            <a:srgbClr val="142C48"/>
                          </a:solidFill>
                        </a:rPr>
                        <a:t>Missingness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Prepaid payment fields mean not applicable, not unpaid debt</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53390">
                <a:tc>
                  <a:txBody>
                    <a:bodyPr/>
                    <a:lstStyle/>
                    <a:p>
                      <a:r>
                        <a:rPr sz="1800" b="1">
                          <a:solidFill>
                            <a:srgbClr val="142C48"/>
                          </a:solidFill>
                        </a:rPr>
                        <a:t>Label consistency</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One churn event determines all overlapping-window labels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53390">
                <a:tc>
                  <a:txBody>
                    <a:bodyPr/>
                    <a:lstStyle/>
                    <a:p>
                      <a:r>
                        <a:rPr sz="1800" b="1">
                          <a:solidFill>
                            <a:srgbClr val="142C48"/>
                          </a:solidFill>
                        </a:rPr>
                        <a:t>Observation maturity</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Incomplete target windows remain Unknown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22" name="text-20">
            <a:extLst xmlns:a="http://schemas.openxmlformats.org/drawingml/2006/main">
              <a:ext uri="{FF2B5EF4-FFF2-40B4-BE49-F238E27FC236}">
                <a16:creationId xmlns:a16="http://schemas.microsoft.com/office/drawing/2014/main" id="{CCCE6455-6592-4B81-AF3F-C2B450BF1853}"/>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V5 panel: 5,517 customers, 113,937 snapshots. Refresh on days 1, 11 and 21.</a:t>
            </a:r>
          </a:p>
        </p:txBody>
      </p:sp>
    </p:spTree>
    <p:extLst>
      <p:ext uri="{BB962C8B-B14F-4D97-AF65-F5344CB8AC3E}">
        <p14:creationId xmlns:p14="http://schemas.microsoft.com/office/powerpoint/2010/main" val="11930846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5278EA6B-8CC5-4142-AD81-EFB88006E53D}"/>
              </a:ext>
            </a:extLst>
          </p:cNvPr>
          <p:cNvCxnSpPr>
            <a:stCxn xmlns:a="http://schemas.openxmlformats.org/drawingml/2006/main" id="11" idx="3"/>
            <a:endCxn xmlns:a="http://schemas.openxmlformats.org/drawingml/2006/main" id="13" idx="1"/>
          </p:cNvCxnSpPr>
          <p:nvPr/>
        </p:nvCxnSpPr>
        <p:spPr>
          <a:xfrm xmlns:a="http://schemas.openxmlformats.org/drawingml/2006/main">
            <a:off x="8686800" y="2128838"/>
            <a:ext cx="323850" cy="0"/>
          </a:xfrm>
          <a:prstGeom xmlns:a="http://schemas.openxmlformats.org/drawingml/2006/main" prst="straightConnector1">
            <a:avLst/>
          </a:prstGeom>
          <a:ln xmlns:a="http://schemas.openxmlformats.org/drawingml/2006/main" w="15240">
            <a:solidFill>
              <a:srgbClr val="0D69B3"/>
            </a:solidFill>
            <a:tailEnd type="triangle" w="sm" len="sm"/>
          </a:ln>
        </p:spPr>
      </p:cxnSp>
      <p:cxnSp>
        <p:nvCxnSpPr>
          <p:cNvPr id="16" name="">
            <a:extLst xmlns:a="http://schemas.openxmlformats.org/drawingml/2006/main">
              <a:ext uri="{FF2B5EF4-FFF2-40B4-BE49-F238E27FC236}">
                <a16:creationId xmlns:a16="http://schemas.microsoft.com/office/drawing/2014/main" id="{86B90E16-B175-49EC-BD0D-1572FE6D702B}"/>
              </a:ext>
            </a:extLst>
          </p:cNvPr>
          <p:cNvCxnSpPr>
            <a:stCxn xmlns:a="http://schemas.openxmlformats.org/drawingml/2006/main" id="9" idx="3"/>
            <a:endCxn xmlns:a="http://schemas.openxmlformats.org/drawingml/2006/main" id="11" idx="1"/>
          </p:cNvCxnSpPr>
          <p:nvPr/>
        </p:nvCxnSpPr>
        <p:spPr>
          <a:xfrm xmlns:a="http://schemas.openxmlformats.org/drawingml/2006/main">
            <a:off x="5886450" y="2128838"/>
            <a:ext cx="323850" cy="0"/>
          </a:xfrm>
          <a:prstGeom xmlns:a="http://schemas.openxmlformats.org/drawingml/2006/main" prst="straightConnector1">
            <a:avLst/>
          </a:prstGeom>
          <a:ln xmlns:a="http://schemas.openxmlformats.org/drawingml/2006/main" w="15240">
            <a:solidFill>
              <a:srgbClr val="0D69B3"/>
            </a:solidFill>
            <a:tailEnd type="triangle" w="sm" len="sm"/>
          </a:ln>
        </p:spPr>
      </p:cxnSp>
      <p:cxnSp>
        <p:nvCxnSpPr>
          <p:cNvPr id="15" name="">
            <a:extLst xmlns:a="http://schemas.openxmlformats.org/drawingml/2006/main">
              <a:ext uri="{FF2B5EF4-FFF2-40B4-BE49-F238E27FC236}">
                <a16:creationId xmlns:a16="http://schemas.microsoft.com/office/drawing/2014/main" id="{FD88A911-C468-4DDA-A995-59E780CAFB41}"/>
              </a:ext>
            </a:extLst>
          </p:cNvPr>
          <p:cNvCxnSpPr>
            <a:stCxn xmlns:a="http://schemas.openxmlformats.org/drawingml/2006/main" id="7" idx="3"/>
            <a:endCxn xmlns:a="http://schemas.openxmlformats.org/drawingml/2006/main" id="9" idx="1"/>
          </p:cNvCxnSpPr>
          <p:nvPr/>
        </p:nvCxnSpPr>
        <p:spPr>
          <a:xfrm xmlns:a="http://schemas.openxmlformats.org/drawingml/2006/main">
            <a:off x="3086100" y="2128838"/>
            <a:ext cx="323850" cy="0"/>
          </a:xfrm>
          <a:prstGeom xmlns:a="http://schemas.openxmlformats.org/drawingml/2006/main" prst="straightConnector1">
            <a:avLst/>
          </a:prstGeom>
          <a:ln xmlns:a="http://schemas.openxmlformats.org/drawingml/2006/main" w="15240">
            <a:solidFill>
              <a:srgbClr val="0D69B3"/>
            </a:solidFill>
            <a:tailEnd type="triangle" w="sm" len="sm"/>
          </a:ln>
        </p:spPr>
      </p:cxnSp>
      <p:sp>
        <p:nvSpPr>
          <p:cNvPr id="22" name="text-0">
            <a:extLst xmlns:a="http://schemas.openxmlformats.org/drawingml/2006/main">
              <a:ext uri="{FF2B5EF4-FFF2-40B4-BE49-F238E27FC236}">
                <a16:creationId xmlns:a16="http://schemas.microsoft.com/office/drawing/2014/main" id="{99FF1CE7-819E-40BC-A902-67EF0AEF1CF1}"/>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DATA</a:t>
            </a:r>
          </a:p>
        </p:txBody>
      </p:sp>
      <p:sp>
        <p:nvSpPr>
          <p:cNvPr id="2" name="text-1">
            <a:extLst xmlns:a="http://schemas.openxmlformats.org/drawingml/2006/main">
              <a:ext uri="{FF2B5EF4-FFF2-40B4-BE49-F238E27FC236}">
                <a16:creationId xmlns:a16="http://schemas.microsoft.com/office/drawing/2014/main" id="{EC9EE8E3-CFAA-4CA7-88E9-ABF24680A76D}"/>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Data Architecture and Example Records</a:t>
            </a:r>
          </a:p>
        </p:txBody>
      </p:sp>
      <p:sp>
        <p:nvSpPr>
          <p:cNvPr id="3" name="">
            <a:extLst xmlns:a="http://schemas.openxmlformats.org/drawingml/2006/main">
              <a:ext uri="{FF2B5EF4-FFF2-40B4-BE49-F238E27FC236}">
                <a16:creationId xmlns:a16="http://schemas.microsoft.com/office/drawing/2014/main" id="{5F7B156D-0B5C-425E-AC36-79E165D2EA2B}"/>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D024115-0A9E-4A5C-966E-CEA413EA5E01}"/>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02748FB7-8A8E-4F46-A230-5D529DF6B9F9}"/>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SYSTEM.md and v5 cutover evidence. DEMO-A is an invented presentation identifier, not a query result.</a:t>
            </a:r>
          </a:p>
        </p:txBody>
      </p:sp>
      <p:sp>
        <p:nvSpPr>
          <p:cNvPr id="6" name="text-5">
            <a:extLst xmlns:a="http://schemas.openxmlformats.org/drawingml/2006/main">
              <a:ext uri="{FF2B5EF4-FFF2-40B4-BE49-F238E27FC236}">
                <a16:creationId xmlns:a16="http://schemas.microsoft.com/office/drawing/2014/main" id="{4AB0549D-63D1-4312-9FF8-7DBA07C3BD3A}"/>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09 / 24</a:t>
            </a:r>
          </a:p>
        </p:txBody>
      </p:sp>
      <p:sp>
        <p:nvSpPr>
          <p:cNvPr id="7" name="">
            <a:extLst xmlns:a="http://schemas.openxmlformats.org/drawingml/2006/main">
              <a:ext uri="{FF2B5EF4-FFF2-40B4-BE49-F238E27FC236}">
                <a16:creationId xmlns:a16="http://schemas.microsoft.com/office/drawing/2014/main" id="{77763FDC-AB0B-4B75-8B83-563077E4BD47}"/>
              </a:ext>
            </a:extLst>
          </p:cNvPr>
          <p:cNvSpPr>
            <a:spLocks xmlns:a="http://schemas.openxmlformats.org/drawingml/2006/main" noGrp="1"/>
          </p:cNvSpPr>
          <p:nvPr/>
        </p:nvSpPr>
        <p:spPr>
          <a:xfrm xmlns:a="http://schemas.openxmlformats.org/drawingml/2006/main">
            <a:off x="609600" y="1819275"/>
            <a:ext cx="24765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8" name="text-7">
            <a:extLst xmlns:a="http://schemas.openxmlformats.org/drawingml/2006/main">
              <a:ext uri="{FF2B5EF4-FFF2-40B4-BE49-F238E27FC236}">
                <a16:creationId xmlns:a16="http://schemas.microsoft.com/office/drawing/2014/main" id="{5AEF0D8D-8C77-4829-B2C3-56D771885FD4}"/>
              </a:ext>
            </a:extLst>
          </p:cNvPr>
          <p:cNvSpPr>
            <a:spLocks xmlns:a="http://schemas.openxmlformats.org/drawingml/2006/main" noGrp="1"/>
          </p:cNvSpPr>
          <p:nvPr/>
        </p:nvSpPr>
        <p:spPr>
          <a:xfrm xmlns:a="http://schemas.openxmlformats.org/drawingml/2006/main">
            <a:off x="742950" y="1981200"/>
            <a:ext cx="2209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Customer</a:t>
            </a:r>
          </a:p>
        </p:txBody>
      </p:sp>
      <p:sp>
        <p:nvSpPr>
          <p:cNvPr id="9" name="">
            <a:extLst xmlns:a="http://schemas.openxmlformats.org/drawingml/2006/main">
              <a:ext uri="{FF2B5EF4-FFF2-40B4-BE49-F238E27FC236}">
                <a16:creationId xmlns:a16="http://schemas.microsoft.com/office/drawing/2014/main" id="{E6B7D94F-85B6-45F1-AE5D-A6D946DF9010}"/>
              </a:ext>
            </a:extLst>
          </p:cNvPr>
          <p:cNvSpPr>
            <a:spLocks xmlns:a="http://schemas.openxmlformats.org/drawingml/2006/main" noGrp="1"/>
          </p:cNvSpPr>
          <p:nvPr/>
        </p:nvSpPr>
        <p:spPr>
          <a:xfrm xmlns:a="http://schemas.openxmlformats.org/drawingml/2006/main">
            <a:off x="3409950" y="1819275"/>
            <a:ext cx="24765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0" name="text-9">
            <a:extLst xmlns:a="http://schemas.openxmlformats.org/drawingml/2006/main">
              <a:ext uri="{FF2B5EF4-FFF2-40B4-BE49-F238E27FC236}">
                <a16:creationId xmlns:a16="http://schemas.microsoft.com/office/drawing/2014/main" id="{217E04CD-F709-4C24-91FB-375BC3C7E866}"/>
              </a:ext>
            </a:extLst>
          </p:cNvPr>
          <p:cNvSpPr>
            <a:spLocks xmlns:a="http://schemas.openxmlformats.org/drawingml/2006/main" noGrp="1"/>
          </p:cNvSpPr>
          <p:nvPr/>
        </p:nvSpPr>
        <p:spPr>
          <a:xfrm xmlns:a="http://schemas.openxmlformats.org/drawingml/2006/main">
            <a:off x="3543300" y="1981200"/>
            <a:ext cx="2209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Snapshot</a:t>
            </a:r>
          </a:p>
        </p:txBody>
      </p:sp>
      <p:sp>
        <p:nvSpPr>
          <p:cNvPr id="11" name="">
            <a:extLst xmlns:a="http://schemas.openxmlformats.org/drawingml/2006/main">
              <a:ext uri="{FF2B5EF4-FFF2-40B4-BE49-F238E27FC236}">
                <a16:creationId xmlns:a16="http://schemas.microsoft.com/office/drawing/2014/main" id="{41B54C3C-9F2F-490C-9293-F7D5A0D77E0B}"/>
              </a:ext>
            </a:extLst>
          </p:cNvPr>
          <p:cNvSpPr>
            <a:spLocks xmlns:a="http://schemas.openxmlformats.org/drawingml/2006/main" noGrp="1"/>
          </p:cNvSpPr>
          <p:nvPr/>
        </p:nvSpPr>
        <p:spPr>
          <a:xfrm xmlns:a="http://schemas.openxmlformats.org/drawingml/2006/main">
            <a:off x="6210300" y="1819275"/>
            <a:ext cx="24765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2" name="text-11">
            <a:extLst xmlns:a="http://schemas.openxmlformats.org/drawingml/2006/main">
              <a:ext uri="{FF2B5EF4-FFF2-40B4-BE49-F238E27FC236}">
                <a16:creationId xmlns:a16="http://schemas.microsoft.com/office/drawing/2014/main" id="{15649D86-8526-4C98-9E71-70F3FADB31B7}"/>
              </a:ext>
            </a:extLst>
          </p:cNvPr>
          <p:cNvSpPr>
            <a:spLocks xmlns:a="http://schemas.openxmlformats.org/drawingml/2006/main" noGrp="1"/>
          </p:cNvSpPr>
          <p:nvPr/>
        </p:nvSpPr>
        <p:spPr>
          <a:xfrm xmlns:a="http://schemas.openxmlformats.org/drawingml/2006/main">
            <a:off x="6343650" y="1981200"/>
            <a:ext cx="2209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Prediction</a:t>
            </a:r>
          </a:p>
        </p:txBody>
      </p:sp>
      <p:sp>
        <p:nvSpPr>
          <p:cNvPr id="13" name="">
            <a:extLst xmlns:a="http://schemas.openxmlformats.org/drawingml/2006/main">
              <a:ext uri="{FF2B5EF4-FFF2-40B4-BE49-F238E27FC236}">
                <a16:creationId xmlns:a16="http://schemas.microsoft.com/office/drawing/2014/main" id="{BF825473-9DDB-4AAE-A5B5-9A0830221A0A}"/>
              </a:ext>
            </a:extLst>
          </p:cNvPr>
          <p:cNvSpPr>
            <a:spLocks xmlns:a="http://schemas.openxmlformats.org/drawingml/2006/main" noGrp="1"/>
          </p:cNvSpPr>
          <p:nvPr/>
        </p:nvSpPr>
        <p:spPr>
          <a:xfrm xmlns:a="http://schemas.openxmlformats.org/drawingml/2006/main">
            <a:off x="9010650" y="1819275"/>
            <a:ext cx="24765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4" name="text-13">
            <a:extLst xmlns:a="http://schemas.openxmlformats.org/drawingml/2006/main">
              <a:ext uri="{FF2B5EF4-FFF2-40B4-BE49-F238E27FC236}">
                <a16:creationId xmlns:a16="http://schemas.microsoft.com/office/drawing/2014/main" id="{82320795-EC18-443B-BF06-AF7B36F86126}"/>
              </a:ext>
            </a:extLst>
          </p:cNvPr>
          <p:cNvSpPr>
            <a:spLocks xmlns:a="http://schemas.openxmlformats.org/drawingml/2006/main" noGrp="1"/>
          </p:cNvSpPr>
          <p:nvPr/>
        </p:nvSpPr>
        <p:spPr>
          <a:xfrm xmlns:a="http://schemas.openxmlformats.org/drawingml/2006/main">
            <a:off x="9144000" y="1981200"/>
            <a:ext cx="2209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Retention case</a:t>
            </a:r>
          </a:p>
        </p:txBody>
      </p:sp>
      <p:sp>
        <p:nvSpPr>
          <p:cNvPr id="18" name="text-17">
            <a:extLst xmlns:a="http://schemas.openxmlformats.org/drawingml/2006/main">
              <a:ext uri="{FF2B5EF4-FFF2-40B4-BE49-F238E27FC236}">
                <a16:creationId xmlns:a16="http://schemas.microsoft.com/office/drawing/2014/main" id="{A733C4A8-2581-492F-B70A-8F0A377A1AA8}"/>
              </a:ext>
            </a:extLst>
          </p:cNvPr>
          <p:cNvSpPr>
            <a:spLocks xmlns:a="http://schemas.openxmlformats.org/drawingml/2006/main" noGrp="1"/>
          </p:cNvSpPr>
          <p:nvPr/>
        </p:nvSpPr>
        <p:spPr>
          <a:xfrm xmlns:a="http://schemas.openxmlformats.org/drawingml/2006/main">
            <a:off x="609600" y="28956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0D69B3"/>
                </a:solidFill>
              </a:defRPr>
            </a:defPPr>
            <a:lvl1pPr algn="l">
              <a:defRPr sz="2100" b="1">
                <a:solidFill>
                  <a:srgbClr val="0D69B3"/>
                </a:solidFill>
              </a:defRPr>
            </a:lvl1pPr>
            <a:lvl2pPr algn="l">
              <a:defRPr sz="2100" b="1">
                <a:solidFill>
                  <a:srgbClr val="0D69B3"/>
                </a:solidFill>
              </a:defRPr>
            </a:lvl2pPr>
            <a:lvl3pPr algn="l">
              <a:defRPr sz="2100" b="1">
                <a:solidFill>
                  <a:srgbClr val="0D69B3"/>
                </a:solidFill>
              </a:defRPr>
            </a:lvl3pPr>
            <a:lvl4pPr algn="l">
              <a:defRPr sz="2100" b="1">
                <a:solidFill>
                  <a:srgbClr val="0D69B3"/>
                </a:solidFill>
              </a:defRPr>
            </a:lvl4pPr>
            <a:lvl5pPr algn="l">
              <a:defRPr sz="2100" b="1">
                <a:solidFill>
                  <a:srgbClr val="0D69B3"/>
                </a:solidFill>
              </a:defRPr>
            </a:lvl5pPr>
            <a:lvl6pPr algn="l">
              <a:defRPr sz="2100" b="1">
                <a:solidFill>
                  <a:srgbClr val="0D69B3"/>
                </a:solidFill>
              </a:defRPr>
            </a:lvl6pPr>
            <a:lvl7pPr algn="l">
              <a:defRPr sz="2100" b="1">
                <a:solidFill>
                  <a:srgbClr val="0D69B3"/>
                </a:solidFill>
              </a:defRPr>
            </a:lvl7pPr>
            <a:lvl8pPr algn="l">
              <a:defRPr sz="2100" b="1">
                <a:solidFill>
                  <a:srgbClr val="0D69B3"/>
                </a:solidFill>
              </a:defRPr>
            </a:lvl8pPr>
            <a:lvl9pPr algn="l">
              <a:defRPr sz="2100" b="1">
                <a:solidFill>
                  <a:srgbClr val="0D69B3"/>
                </a:solidFill>
              </a:defRPr>
            </a:lvl9pPr>
          </a:lstStyle>
          <a:p xmlns:a="http://schemas.openxmlformats.org/drawingml/2006/main">
            <a:pPr algn="l">
              <a:defRPr sz="2100" b="1">
                <a:solidFill>
                  <a:srgbClr val="0D69B3"/>
                </a:solidFill>
              </a:defRPr>
            </a:pPr>
            <a:r>
              <a:rPr sz="2100" b="1">
                <a:solidFill>
                  <a:srgbClr val="0D69B3"/>
                </a:solidFill>
              </a:rPr>
              <a:t>Case records</a:t>
            </a:r>
          </a:p>
        </p:txBody>
      </p:sp>
      <p:sp>
        <p:nvSpPr>
          <p:cNvPr id="19" name="text-18">
            <a:extLst xmlns:a="http://schemas.openxmlformats.org/drawingml/2006/main">
              <a:ext uri="{FF2B5EF4-FFF2-40B4-BE49-F238E27FC236}">
                <a16:creationId xmlns:a16="http://schemas.microsoft.com/office/drawing/2014/main" id="{8FA4367C-39F6-495D-B004-23DE628FA5DF}"/>
              </a:ext>
            </a:extLst>
          </p:cNvPr>
          <p:cNvSpPr>
            <a:spLocks xmlns:a="http://schemas.openxmlformats.org/drawingml/2006/main" noGrp="1"/>
          </p:cNvSpPr>
          <p:nvPr/>
        </p:nvSpPr>
        <p:spPr>
          <a:xfrm xmlns:a="http://schemas.openxmlformats.org/drawingml/2006/main">
            <a:off x="609600" y="3476625"/>
            <a:ext cx="4572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142C48"/>
                </a:solidFill>
              </a:defRPr>
            </a:defPPr>
            <a:lvl1pPr algn="l">
              <a:defRPr sz="2025" b="0">
                <a:solidFill>
                  <a:srgbClr val="142C48"/>
                </a:solidFill>
              </a:defRPr>
            </a:lvl1pPr>
            <a:lvl2pPr algn="l">
              <a:defRPr sz="2025" b="0">
                <a:solidFill>
                  <a:srgbClr val="142C48"/>
                </a:solidFill>
              </a:defRPr>
            </a:lvl2pPr>
            <a:lvl3pPr algn="l">
              <a:defRPr sz="2025" b="0">
                <a:solidFill>
                  <a:srgbClr val="142C48"/>
                </a:solidFill>
              </a:defRPr>
            </a:lvl3pPr>
            <a:lvl4pPr algn="l">
              <a:defRPr sz="2025" b="0">
                <a:solidFill>
                  <a:srgbClr val="142C48"/>
                </a:solidFill>
              </a:defRPr>
            </a:lvl4pPr>
            <a:lvl5pPr algn="l">
              <a:defRPr sz="2025" b="0">
                <a:solidFill>
                  <a:srgbClr val="142C48"/>
                </a:solidFill>
              </a:defRPr>
            </a:lvl5pPr>
            <a:lvl6pPr algn="l">
              <a:defRPr sz="2025" b="0">
                <a:solidFill>
                  <a:srgbClr val="142C48"/>
                </a:solidFill>
              </a:defRPr>
            </a:lvl6pPr>
            <a:lvl7pPr algn="l">
              <a:defRPr sz="2025" b="0">
                <a:solidFill>
                  <a:srgbClr val="142C48"/>
                </a:solidFill>
              </a:defRPr>
            </a:lvl7pPr>
            <a:lvl8pPr algn="l">
              <a:defRPr sz="2025" b="0">
                <a:solidFill>
                  <a:srgbClr val="142C48"/>
                </a:solidFill>
              </a:defRPr>
            </a:lvl8pPr>
            <a:lvl9pPr algn="l">
              <a:defRPr sz="2025" b="0">
                <a:solidFill>
                  <a:srgbClr val="142C48"/>
                </a:solidFill>
              </a:defRPr>
            </a:lvl9pPr>
          </a:lstStyle>
          <a:p xmlns:a="http://schemas.openxmlformats.org/drawingml/2006/main">
            <a:pPr algn="l">
              <a:defRPr sz="2025" b="0">
                <a:solidFill>
                  <a:srgbClr val="142C48"/>
                </a:solidFill>
              </a:defRPr>
            </a:pPr>
            <a:r>
              <a:rPr sz="2025" b="0">
                <a:solidFill>
                  <a:srgbClr val="142C48"/>
                </a:solidFill>
              </a:rPr>
              <a:t>Conversation and approved messages</a:t>
            </a:r>
          </a:p>
          <a:p xmlns:a="http://schemas.openxmlformats.org/drawingml/2006/main">
            <a:pPr algn="l">
              <a:defRPr sz="2025" b="0">
                <a:solidFill>
                  <a:srgbClr val="142C48"/>
                </a:solidFill>
              </a:defRPr>
            </a:pPr>
            <a:r>
              <a:rPr sz="2025" b="0">
                <a:solidFill>
                  <a:srgbClr val="142C48"/>
                </a:solidFill>
              </a:rPr>
              <a:t>Support requests and cost records</a:t>
            </a:r>
          </a:p>
          <a:p xmlns:a="http://schemas.openxmlformats.org/drawingml/2006/main">
            <a:pPr algn="l">
              <a:defRPr sz="2025" b="0">
                <a:solidFill>
                  <a:srgbClr val="142C48"/>
                </a:solidFill>
              </a:defRPr>
            </a:pPr>
            <a:r>
              <a:rPr sz="2025" b="0">
                <a:solidFill>
                  <a:srgbClr val="142C48"/>
                </a:solidFill>
              </a:rPr>
              <a:t>Customer + period service outcomes</a:t>
            </a:r>
          </a:p>
        </p:txBody>
      </p:sp>
      <p:graphicFrame>
        <p:nvGraphicFramePr>
          <p:cNvPr id="20" name="">
            <a:extLst xmlns:a="http://schemas.openxmlformats.org/drawingml/2006/main">
              <a:ext uri="{FF2B5EF4-FFF2-40B4-BE49-F238E27FC236}">
                <a16:creationId xmlns:a16="http://schemas.microsoft.com/office/drawing/2014/main" id="{E8E26B69-6B16-403F-918B-0F7F768593EE}"/>
              </a:ext>
            </a:extLst>
          </p:cNvPr>
          <p:cNvGraphicFramePr/>
          <p:nvPr/>
        </p:nvGraphicFramePr>
        <p:xfrm>
          <a:off xmlns:a="http://schemas.openxmlformats.org/drawingml/2006/main" x="5295900" y="2828925"/>
          <a:ext xmlns:a="http://schemas.openxmlformats.org/drawingml/2006/main" cx="6286500" cy="2752725"/>
        </p:xfrm>
        <a:graphic xmlns:a="http://schemas.openxmlformats.org/drawingml/2006/main">
          <a:graphicData uri="http://schemas.openxmlformats.org/drawingml/2006/table">
            <a:tbl>
              <a:tblPr/>
              <a:tblGrid>
                <a:gridCol w="2095500"/>
                <a:gridCol w="4191000"/>
              </a:tblGrid>
              <a:tr h="495300">
                <a:tc>
                  <a:txBody>
                    <a:bodyPr/>
                    <a:lstStyle/>
                    <a:p>
                      <a:r>
                        <a:rPr sz="1650" b="1">
                          <a:solidFill>
                            <a:srgbClr val="0D69B3"/>
                          </a:solidFill>
                        </a:rPr>
                        <a:t>Illustrative field</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650" b="1">
                          <a:solidFill>
                            <a:srgbClr val="0D69B3"/>
                          </a:solidFill>
                        </a:rPr>
                        <a:t>Example</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451485">
                <a:tc>
                  <a:txBody>
                    <a:bodyPr/>
                    <a:lstStyle/>
                    <a:p>
                      <a:r>
                        <a:rPr sz="1650" b="1">
                          <a:solidFill>
                            <a:srgbClr val="142C48"/>
                          </a:solidFill>
                        </a:rPr>
                        <a:t>Customer reference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DEMO-A</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51485">
                <a:tc>
                  <a:txBody>
                    <a:bodyPr/>
                    <a:lstStyle/>
                    <a:p>
                      <a:r>
                        <a:rPr sz="1650" b="1">
                          <a:solidFill>
                            <a:srgbClr val="142C48"/>
                          </a:solidFill>
                        </a:rPr>
                        <a:t>Snapshot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10 October 2026, end of day</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51485">
                <a:tc>
                  <a:txBody>
                    <a:bodyPr/>
                    <a:lstStyle/>
                    <a:p>
                      <a:r>
                        <a:rPr sz="1650" b="1">
                          <a:solidFill>
                            <a:srgbClr val="142C48"/>
                          </a:solidFill>
                        </a:rPr>
                        <a:t>Target window</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[11 October, 11 November 2026)</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51485">
                <a:tc>
                  <a:txBody>
                    <a:bodyPr/>
                    <a:lstStyle/>
                    <a:p>
                      <a:r>
                        <a:rPr sz="1650" b="1">
                          <a:solidFill>
                            <a:srgbClr val="142C48"/>
                          </a:solidFill>
                        </a:rPr>
                        <a:t>Case status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Care completed — illustrative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51485">
                <a:tc>
                  <a:txBody>
                    <a:bodyPr/>
                    <a:lstStyle/>
                    <a:p>
                      <a:r>
                        <a:rPr sz="1650" b="1">
                          <a:solidFill>
                            <a:srgbClr val="142C48"/>
                          </a:solidFill>
                        </a:rPr>
                        <a:t>Service outcome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650" b="0">
                          <a:solidFill>
                            <a:srgbClr val="142C48"/>
                          </a:solidFill>
                        </a:rPr>
                        <a:t>Unknown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21" name="text-19">
            <a:extLst xmlns:a="http://schemas.openxmlformats.org/drawingml/2006/main">
              <a:ext uri="{FF2B5EF4-FFF2-40B4-BE49-F238E27FC236}">
                <a16:creationId xmlns:a16="http://schemas.microsoft.com/office/drawing/2014/main" id="{05640EFC-0E8D-496E-B90D-6C4F99962160}"/>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Care completion does not establish retention.</a:t>
            </a:r>
          </a:p>
        </p:txBody>
      </p:sp>
    </p:spTree>
    <p:extLst>
      <p:ext uri="{BB962C8B-B14F-4D97-AF65-F5344CB8AC3E}">
        <p14:creationId xmlns:p14="http://schemas.microsoft.com/office/powerpoint/2010/main" val="12999399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13D6701-0C12-4BDF-A262-F01395EEE4D8}"/>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METHOD</a:t>
            </a:r>
          </a:p>
        </p:txBody>
      </p:sp>
      <p:sp>
        <p:nvSpPr>
          <p:cNvPr id="2" name="text-1">
            <a:extLst xmlns:a="http://schemas.openxmlformats.org/drawingml/2006/main">
              <a:ext uri="{FF2B5EF4-FFF2-40B4-BE49-F238E27FC236}">
                <a16:creationId xmlns:a16="http://schemas.microsoft.com/office/drawing/2014/main" id="{5BF13B04-8F7B-43AA-8F53-FFA33A00A260}"/>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Literature Review: Approaches to Customer Retention</a:t>
            </a:r>
          </a:p>
        </p:txBody>
      </p:sp>
      <p:sp>
        <p:nvSpPr>
          <p:cNvPr id="3" name="">
            <a:extLst xmlns:a="http://schemas.openxmlformats.org/drawingml/2006/main">
              <a:ext uri="{FF2B5EF4-FFF2-40B4-BE49-F238E27FC236}">
                <a16:creationId xmlns:a16="http://schemas.microsoft.com/office/drawing/2014/main" id="{6E67D397-CFC0-46D5-8389-C6667A9389FB}"/>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433E1CB-6ABF-4C63-AEEC-2FD5CAF6ABA9}"/>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5BACED67-B962-4DCD-A349-0F82BFA764FD}"/>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Sources: Lundberg &amp; Lee (2017); Poudel et al. (2024); Verbeke et al. (2012); Ascarza (2018); Brynjolfsson et al. (2025).</a:t>
            </a:r>
          </a:p>
        </p:txBody>
      </p:sp>
      <p:sp>
        <p:nvSpPr>
          <p:cNvPr id="6" name="text-5">
            <a:extLst xmlns:a="http://schemas.openxmlformats.org/drawingml/2006/main">
              <a:ext uri="{FF2B5EF4-FFF2-40B4-BE49-F238E27FC236}">
                <a16:creationId xmlns:a16="http://schemas.microsoft.com/office/drawing/2014/main" id="{6C1BA2D5-133E-41C8-909C-ED1F2B87C09D}"/>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10 / 24</a:t>
            </a:r>
          </a:p>
        </p:txBody>
      </p:sp>
      <p:graphicFrame>
        <p:nvGraphicFramePr>
          <p:cNvPr id="7" name="">
            <a:extLst xmlns:a="http://schemas.openxmlformats.org/drawingml/2006/main">
              <a:ext uri="{FF2B5EF4-FFF2-40B4-BE49-F238E27FC236}">
                <a16:creationId xmlns:a16="http://schemas.microsoft.com/office/drawing/2014/main" id="{DBED7C75-4A7A-4666-BE39-9AF4EA7FE685}"/>
              </a:ext>
            </a:extLst>
          </p:cNvPr>
          <p:cNvGraphicFramePr/>
          <p:nvPr/>
        </p:nvGraphicFramePr>
        <p:xfrm>
          <a:off xmlns:a="http://schemas.openxmlformats.org/drawingml/2006/main" x="609600" y="1828800"/>
          <a:ext xmlns:a="http://schemas.openxmlformats.org/drawingml/2006/main" cx="10972800" cy="3695700"/>
        </p:xfrm>
        <a:graphic xmlns:a="http://schemas.openxmlformats.org/drawingml/2006/main">
          <a:graphicData uri="http://schemas.openxmlformats.org/drawingml/2006/table">
            <a:tbl>
              <a:tblPr/>
              <a:tblGrid>
                <a:gridCol w="3095625"/>
                <a:gridCol w="4191000"/>
                <a:gridCol w="3686175"/>
              </a:tblGrid>
              <a:tr h="495300">
                <a:tc>
                  <a:txBody>
                    <a:bodyPr/>
                    <a:lstStyle/>
                    <a:p>
                      <a:r>
                        <a:rPr sz="1800" b="1">
                          <a:solidFill>
                            <a:srgbClr val="0D69B3"/>
                          </a:solidFill>
                        </a:rPr>
                        <a:t>Approach</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800" b="1">
                          <a:solidFill>
                            <a:srgbClr val="0D69B3"/>
                          </a:solidFill>
                        </a:rPr>
                        <a:t>Evidence / contribution</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800" b="1">
                          <a:solidFill>
                            <a:srgbClr val="0D69B3"/>
                          </a:solidFill>
                        </a:rPr>
                        <a:t>Boundary for this case</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800100">
                <a:tc>
                  <a:txBody>
                    <a:bodyPr/>
                    <a:lstStyle/>
                    <a:p>
                      <a:r>
                        <a:rPr sz="1800" b="1">
                          <a:solidFill>
                            <a:srgbClr val="142C48"/>
                          </a:solidFill>
                        </a:rPr>
                        <a:t>Explainable churn prediction</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Local/global model attribution using SHAP [R1–R2]</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Attribution does not establish an action’s causal effect</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800100">
                <a:tc>
                  <a:txBody>
                    <a:bodyPr/>
                    <a:lstStyle/>
                    <a:p>
                      <a:r>
                        <a:rPr sz="1800" b="1">
                          <a:solidFill>
                            <a:srgbClr val="142C48"/>
                          </a:solidFill>
                        </a:rPr>
                        <a:t>Profit-driven retention</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Campaign economics inform evaluation and customer selection [R3]</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Needs defensible costs and customer value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800100">
                <a:tc>
                  <a:txBody>
                    <a:bodyPr/>
                    <a:lstStyle/>
                    <a:p>
                      <a:r>
                        <a:rPr sz="1800" b="1">
                          <a:solidFill>
                            <a:srgbClr val="142C48"/>
                          </a:solidFill>
                        </a:rPr>
                        <a:t>Intervention-sensitive targeting</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Highest-risk customers need not respond best to treatment [R4]</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Needs treatment/control evidence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800100">
                <a:tc>
                  <a:txBody>
                    <a:bodyPr/>
                    <a:lstStyle/>
                    <a:p>
                      <a:r>
                        <a:rPr sz="1800" b="1">
                          <a:solidFill>
                            <a:srgbClr val="142C48"/>
                          </a:solidFill>
                        </a:rPr>
                        <a:t>AI assistance for service staff</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Field evidence of improved issues resolved per hour [R5]</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Different firm and service context</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BF2D92A7-5765-4616-AC2B-7F354C86E454}"/>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Selective research review. External results do not validate this prototype.</a:t>
            </a:r>
          </a:p>
        </p:txBody>
      </p:sp>
    </p:spTree>
    <p:extLst>
      <p:ext uri="{BB962C8B-B14F-4D97-AF65-F5344CB8AC3E}">
        <p14:creationId xmlns:p14="http://schemas.microsoft.com/office/powerpoint/2010/main" val="10640328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7D41975-1EEA-489A-92C0-F1A098D696F0}"/>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METHOD</a:t>
            </a:r>
          </a:p>
        </p:txBody>
      </p:sp>
      <p:sp>
        <p:nvSpPr>
          <p:cNvPr id="2" name="text-1">
            <a:extLst xmlns:a="http://schemas.openxmlformats.org/drawingml/2006/main">
              <a:ext uri="{FF2B5EF4-FFF2-40B4-BE49-F238E27FC236}">
                <a16:creationId xmlns:a16="http://schemas.microsoft.com/office/drawing/2014/main" id="{AFCBEDD0-7122-412A-8C17-611385E79CA5}"/>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Literature-Informed Design Choices</a:t>
            </a:r>
          </a:p>
        </p:txBody>
      </p:sp>
      <p:sp>
        <p:nvSpPr>
          <p:cNvPr id="3" name="">
            <a:extLst xmlns:a="http://schemas.openxmlformats.org/drawingml/2006/main">
              <a:ext uri="{FF2B5EF4-FFF2-40B4-BE49-F238E27FC236}">
                <a16:creationId xmlns:a16="http://schemas.microsoft.com/office/drawing/2014/main" id="{D1234B1C-CC55-445F-9277-4E69A36ACAB1}"/>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56C3C71-DA08-43D1-9802-EE73A0391414}"/>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D975AB8A-2F1D-4590-9499-D2B778B43496}"/>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Sources: R1–R5, SYSTEM.md, v5 ML evidence and n8n_migration.json. Full reference links are in speaker notes.</a:t>
            </a:r>
          </a:p>
        </p:txBody>
      </p:sp>
      <p:sp>
        <p:nvSpPr>
          <p:cNvPr id="6" name="text-5">
            <a:extLst xmlns:a="http://schemas.openxmlformats.org/drawingml/2006/main">
              <a:ext uri="{FF2B5EF4-FFF2-40B4-BE49-F238E27FC236}">
                <a16:creationId xmlns:a16="http://schemas.microsoft.com/office/drawing/2014/main" id="{0DE1FDDE-EA7A-4373-93F2-B368BC1BDF16}"/>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11 / 24</a:t>
            </a:r>
          </a:p>
        </p:txBody>
      </p:sp>
      <p:graphicFrame>
        <p:nvGraphicFramePr>
          <p:cNvPr id="7" name="">
            <a:extLst xmlns:a="http://schemas.openxmlformats.org/drawingml/2006/main">
              <a:ext uri="{FF2B5EF4-FFF2-40B4-BE49-F238E27FC236}">
                <a16:creationId xmlns:a16="http://schemas.microsoft.com/office/drawing/2014/main" id="{2344ED6E-3F59-4366-83CC-506A3CA0C5EA}"/>
              </a:ext>
            </a:extLst>
          </p:cNvPr>
          <p:cNvGraphicFramePr/>
          <p:nvPr/>
        </p:nvGraphicFramePr>
        <p:xfrm>
          <a:off xmlns:a="http://schemas.openxmlformats.org/drawingml/2006/main" x="609600" y="1828800"/>
          <a:ext xmlns:a="http://schemas.openxmlformats.org/drawingml/2006/main" cx="10972800" cy="3695700"/>
        </p:xfrm>
        <a:graphic xmlns:a="http://schemas.openxmlformats.org/drawingml/2006/main">
          <a:graphicData uri="http://schemas.openxmlformats.org/drawingml/2006/table">
            <a:tbl>
              <a:tblPr/>
              <a:tblGrid>
                <a:gridCol w="2857500"/>
                <a:gridCol w="4762500"/>
                <a:gridCol w="3352800"/>
              </a:tblGrid>
              <a:tr h="495300">
                <a:tc>
                  <a:txBody>
                    <a:bodyPr/>
                    <a:lstStyle/>
                    <a:p>
                      <a:r>
                        <a:rPr sz="1800" b="1">
                          <a:solidFill>
                            <a:srgbClr val="0D69B3"/>
                          </a:solidFill>
                        </a:rPr>
                        <a:t>Research insight</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800" b="1">
                          <a:solidFill>
                            <a:srgbClr val="0D69B3"/>
                          </a:solidFill>
                        </a:rPr>
                        <a:t>Project design choice</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800" b="1">
                          <a:solidFill>
                            <a:srgbClr val="0D69B3"/>
                          </a:solidFill>
                        </a:rPr>
                        <a:t>Status</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800100">
                <a:tc>
                  <a:txBody>
                    <a:bodyPr/>
                    <a:lstStyle/>
                    <a:p>
                      <a:r>
                        <a:rPr sz="1800" b="1">
                          <a:solidFill>
                            <a:srgbClr val="142C48"/>
                          </a:solidFill>
                        </a:rPr>
                        <a:t>Explain individual predictions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Native SHAP; six business groups plus customer facts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Implemented on v5</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800100">
                <a:tc>
                  <a:txBody>
                    <a:bodyPr/>
                    <a:lstStyle/>
                    <a:p>
                      <a:r>
                        <a:rPr sz="1800" b="1">
                          <a:solidFill>
                            <a:srgbClr val="142C48"/>
                          </a:solidFill>
                        </a:rPr>
                        <a:t>Assist frontline staff</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Separate explanation, chat and call scripts; staff review</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Historical live evidence; new runtime pending</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800100">
                <a:tc>
                  <a:txBody>
                    <a:bodyPr/>
                    <a:lstStyle/>
                    <a:p>
                      <a:r>
                        <a:rPr sz="1800" b="1">
                          <a:solidFill>
                            <a:srgbClr val="142C48"/>
                          </a:solidFill>
                        </a:rPr>
                        <a:t>Evaluate campaign economics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Record costs; margin-based scenarios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Partial implementation; pilot planned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800100">
                <a:tc>
                  <a:txBody>
                    <a:bodyPr/>
                    <a:lstStyle/>
                    <a:p>
                      <a:r>
                        <a:rPr sz="1800" b="1">
                          <a:solidFill>
                            <a:srgbClr val="142C48"/>
                          </a:solidFill>
                        </a:rPr>
                        <a:t>Risk differs from responsiveness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Risk-scoring demo; randomised evaluation before uplift</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Pilot planned; uplift deferred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986541B8-BEE1-4F65-B2C0-1276C015C65D}"/>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Contribution: integration and adaptation to the Customer Service workflow.</a:t>
            </a:r>
          </a:p>
        </p:txBody>
      </p:sp>
    </p:spTree>
    <p:extLst>
      <p:ext uri="{BB962C8B-B14F-4D97-AF65-F5344CB8AC3E}">
        <p14:creationId xmlns:p14="http://schemas.microsoft.com/office/powerpoint/2010/main" val="13572017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B00BE3A6-8D33-4743-A2DC-23206E950D58}"/>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METHOD</a:t>
            </a:r>
          </a:p>
        </p:txBody>
      </p:sp>
      <p:sp>
        <p:nvSpPr>
          <p:cNvPr id="2" name="text-1">
            <a:extLst xmlns:a="http://schemas.openxmlformats.org/drawingml/2006/main">
              <a:ext uri="{FF2B5EF4-FFF2-40B4-BE49-F238E27FC236}">
                <a16:creationId xmlns:a16="http://schemas.microsoft.com/office/drawing/2014/main" id="{DA576E5D-9F3F-4B2B-9021-278A9430C5AB}"/>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Analytical and Decision Workflow</a:t>
            </a:r>
          </a:p>
        </p:txBody>
      </p:sp>
      <p:sp>
        <p:nvSpPr>
          <p:cNvPr id="3" name="">
            <a:extLst xmlns:a="http://schemas.openxmlformats.org/drawingml/2006/main">
              <a:ext uri="{FF2B5EF4-FFF2-40B4-BE49-F238E27FC236}">
                <a16:creationId xmlns:a16="http://schemas.microsoft.com/office/drawing/2014/main" id="{AE204A86-62B5-44A2-A6D2-7FCEBD62D86E}"/>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BAC17C4-61B5-4442-89EE-E459A286DA96}"/>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610F6FCF-6E41-4D36-B28B-F2C438D17C05}"/>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SYSTEM.md and n8n/README.md. Diagram describes the intended workflow; current runtime boundaries follow on slides 19–20.</a:t>
            </a:r>
          </a:p>
        </p:txBody>
      </p:sp>
      <p:sp>
        <p:nvSpPr>
          <p:cNvPr id="6" name="text-5">
            <a:extLst xmlns:a="http://schemas.openxmlformats.org/drawingml/2006/main">
              <a:ext uri="{FF2B5EF4-FFF2-40B4-BE49-F238E27FC236}">
                <a16:creationId xmlns:a16="http://schemas.microsoft.com/office/drawing/2014/main" id="{55330126-0CC6-4C41-BA7A-588B978E2843}"/>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12 / 24</a:t>
            </a:r>
          </a:p>
        </p:txBody>
      </p:sp>
      <p:sp>
        <p:nvSpPr>
          <p:cNvPr id="7" name="text-6">
            <a:extLst xmlns:a="http://schemas.openxmlformats.org/drawingml/2006/main">
              <a:ext uri="{FF2B5EF4-FFF2-40B4-BE49-F238E27FC236}">
                <a16:creationId xmlns:a16="http://schemas.microsoft.com/office/drawing/2014/main" id="{B28205A2-C772-4640-828D-DE79D1338E33}"/>
              </a:ext>
            </a:extLst>
          </p:cNvPr>
          <p:cNvSpPr>
            <a:spLocks xmlns:a="http://schemas.openxmlformats.org/drawingml/2006/main" noGrp="1"/>
          </p:cNvSpPr>
          <p:nvPr/>
        </p:nvSpPr>
        <p:spPr>
          <a:xfrm xmlns:a="http://schemas.openxmlformats.org/drawingml/2006/main">
            <a:off x="609600" y="19526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F27323"/>
                </a:solidFill>
              </a:defRPr>
            </a:defPPr>
            <a:lvl1pPr algn="l">
              <a:defRPr sz="2100" b="1">
                <a:solidFill>
                  <a:srgbClr val="F27323"/>
                </a:solidFill>
              </a:defRPr>
            </a:lvl1pPr>
            <a:lvl2pPr algn="l">
              <a:defRPr sz="2100" b="1">
                <a:solidFill>
                  <a:srgbClr val="F27323"/>
                </a:solidFill>
              </a:defRPr>
            </a:lvl2pPr>
            <a:lvl3pPr algn="l">
              <a:defRPr sz="2100" b="1">
                <a:solidFill>
                  <a:srgbClr val="F27323"/>
                </a:solidFill>
              </a:defRPr>
            </a:lvl3pPr>
            <a:lvl4pPr algn="l">
              <a:defRPr sz="2100" b="1">
                <a:solidFill>
                  <a:srgbClr val="F27323"/>
                </a:solidFill>
              </a:defRPr>
            </a:lvl4pPr>
            <a:lvl5pPr algn="l">
              <a:defRPr sz="2100" b="1">
                <a:solidFill>
                  <a:srgbClr val="F27323"/>
                </a:solidFill>
              </a:defRPr>
            </a:lvl5pPr>
            <a:lvl6pPr algn="l">
              <a:defRPr sz="2100" b="1">
                <a:solidFill>
                  <a:srgbClr val="F27323"/>
                </a:solidFill>
              </a:defRPr>
            </a:lvl6pPr>
            <a:lvl7pPr algn="l">
              <a:defRPr sz="2100" b="1">
                <a:solidFill>
                  <a:srgbClr val="F27323"/>
                </a:solidFill>
              </a:defRPr>
            </a:lvl7pPr>
            <a:lvl8pPr algn="l">
              <a:defRPr sz="2100" b="1">
                <a:solidFill>
                  <a:srgbClr val="F27323"/>
                </a:solidFill>
              </a:defRPr>
            </a:lvl8pPr>
            <a:lvl9pPr algn="l">
              <a:defRPr sz="2100" b="1">
                <a:solidFill>
                  <a:srgbClr val="F27323"/>
                </a:solidFill>
              </a:defRPr>
            </a:lvl9pPr>
          </a:lstStyle>
          <a:p xmlns:a="http://schemas.openxmlformats.org/drawingml/2006/main">
            <a:pPr algn="l">
              <a:defRPr sz="2100" b="1">
                <a:solidFill>
                  <a:srgbClr val="F27323"/>
                </a:solidFill>
              </a:defRPr>
            </a:pPr>
            <a:r>
              <a:rPr sz="2100" b="1">
                <a:solidFill>
                  <a:srgbClr val="F27323"/>
                </a:solidFill>
              </a:rPr>
              <a:t>01</a:t>
            </a:r>
          </a:p>
        </p:txBody>
      </p:sp>
      <p:sp>
        <p:nvSpPr>
          <p:cNvPr id="8" name="text-7">
            <a:extLst xmlns:a="http://schemas.openxmlformats.org/drawingml/2006/main">
              <a:ext uri="{FF2B5EF4-FFF2-40B4-BE49-F238E27FC236}">
                <a16:creationId xmlns:a16="http://schemas.microsoft.com/office/drawing/2014/main" id="{3B626A77-FF9E-4A62-8E14-EEB7D5E80547}"/>
              </a:ext>
            </a:extLst>
          </p:cNvPr>
          <p:cNvSpPr>
            <a:spLocks xmlns:a="http://schemas.openxmlformats.org/drawingml/2006/main" noGrp="1"/>
          </p:cNvSpPr>
          <p:nvPr/>
        </p:nvSpPr>
        <p:spPr>
          <a:xfrm xmlns:a="http://schemas.openxmlformats.org/drawingml/2006/main">
            <a:off x="1133475" y="195262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42C48"/>
                </a:solidFill>
              </a:defRPr>
            </a:defPPr>
            <a:lvl1pPr algn="l">
              <a:defRPr sz="2025" b="1">
                <a:solidFill>
                  <a:srgbClr val="142C48"/>
                </a:solidFill>
              </a:defRPr>
            </a:lvl1pPr>
            <a:lvl2pPr algn="l">
              <a:defRPr sz="2025" b="1">
                <a:solidFill>
                  <a:srgbClr val="142C48"/>
                </a:solidFill>
              </a:defRPr>
            </a:lvl2pPr>
            <a:lvl3pPr algn="l">
              <a:defRPr sz="2025" b="1">
                <a:solidFill>
                  <a:srgbClr val="142C48"/>
                </a:solidFill>
              </a:defRPr>
            </a:lvl3pPr>
            <a:lvl4pPr algn="l">
              <a:defRPr sz="2025" b="1">
                <a:solidFill>
                  <a:srgbClr val="142C48"/>
                </a:solidFill>
              </a:defRPr>
            </a:lvl4pPr>
            <a:lvl5pPr algn="l">
              <a:defRPr sz="2025" b="1">
                <a:solidFill>
                  <a:srgbClr val="142C48"/>
                </a:solidFill>
              </a:defRPr>
            </a:lvl5pPr>
            <a:lvl6pPr algn="l">
              <a:defRPr sz="2025" b="1">
                <a:solidFill>
                  <a:srgbClr val="142C48"/>
                </a:solidFill>
              </a:defRPr>
            </a:lvl6pPr>
            <a:lvl7pPr algn="l">
              <a:defRPr sz="2025" b="1">
                <a:solidFill>
                  <a:srgbClr val="142C48"/>
                </a:solidFill>
              </a:defRPr>
            </a:lvl7pPr>
            <a:lvl8pPr algn="l">
              <a:defRPr sz="2025" b="1">
                <a:solidFill>
                  <a:srgbClr val="142C48"/>
                </a:solidFill>
              </a:defRPr>
            </a:lvl8pPr>
            <a:lvl9pPr algn="l">
              <a:defRPr sz="2025" b="1">
                <a:solidFill>
                  <a:srgbClr val="142C48"/>
                </a:solidFill>
              </a:defRPr>
            </a:lvl9pPr>
          </a:lstStyle>
          <a:p xmlns:a="http://schemas.openxmlformats.org/drawingml/2006/main">
            <a:pPr algn="l">
              <a:defRPr sz="2025" b="1">
                <a:solidFill>
                  <a:srgbClr val="142C48"/>
                </a:solidFill>
              </a:defRPr>
            </a:pPr>
            <a:r>
              <a:rPr sz="2025" b="1">
                <a:solidFill>
                  <a:srgbClr val="142C48"/>
                </a:solidFill>
              </a:rPr>
              <a:t>Identify</a:t>
            </a:r>
          </a:p>
        </p:txBody>
      </p:sp>
      <p:sp>
        <p:nvSpPr>
          <p:cNvPr id="9" name="text-8">
            <a:extLst xmlns:a="http://schemas.openxmlformats.org/drawingml/2006/main">
              <a:ext uri="{FF2B5EF4-FFF2-40B4-BE49-F238E27FC236}">
                <a16:creationId xmlns:a16="http://schemas.microsoft.com/office/drawing/2014/main" id="{2958CEB1-4E63-4327-9F2E-D57AAEDB19B2}"/>
              </a:ext>
            </a:extLst>
          </p:cNvPr>
          <p:cNvSpPr>
            <a:spLocks xmlns:a="http://schemas.openxmlformats.org/drawingml/2006/main" noGrp="1"/>
          </p:cNvSpPr>
          <p:nvPr/>
        </p:nvSpPr>
        <p:spPr>
          <a:xfrm xmlns:a="http://schemas.openxmlformats.org/drawingml/2006/main">
            <a:off x="1133475" y="2476500"/>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Versioned score and target window</a:t>
            </a:r>
          </a:p>
        </p:txBody>
      </p:sp>
      <p:sp>
        <p:nvSpPr>
          <p:cNvPr id="10" name="text-9">
            <a:extLst xmlns:a="http://schemas.openxmlformats.org/drawingml/2006/main">
              <a:ext uri="{FF2B5EF4-FFF2-40B4-BE49-F238E27FC236}">
                <a16:creationId xmlns:a16="http://schemas.microsoft.com/office/drawing/2014/main" id="{FA977967-6C0E-4680-9332-82FD9C2B7550}"/>
              </a:ext>
            </a:extLst>
          </p:cNvPr>
          <p:cNvSpPr>
            <a:spLocks xmlns:a="http://schemas.openxmlformats.org/drawingml/2006/main" noGrp="1"/>
          </p:cNvSpPr>
          <p:nvPr/>
        </p:nvSpPr>
        <p:spPr>
          <a:xfrm xmlns:a="http://schemas.openxmlformats.org/drawingml/2006/main">
            <a:off x="4362450" y="19526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F27323"/>
                </a:solidFill>
              </a:defRPr>
            </a:defPPr>
            <a:lvl1pPr algn="l">
              <a:defRPr sz="2100" b="1">
                <a:solidFill>
                  <a:srgbClr val="F27323"/>
                </a:solidFill>
              </a:defRPr>
            </a:lvl1pPr>
            <a:lvl2pPr algn="l">
              <a:defRPr sz="2100" b="1">
                <a:solidFill>
                  <a:srgbClr val="F27323"/>
                </a:solidFill>
              </a:defRPr>
            </a:lvl2pPr>
            <a:lvl3pPr algn="l">
              <a:defRPr sz="2100" b="1">
                <a:solidFill>
                  <a:srgbClr val="F27323"/>
                </a:solidFill>
              </a:defRPr>
            </a:lvl3pPr>
            <a:lvl4pPr algn="l">
              <a:defRPr sz="2100" b="1">
                <a:solidFill>
                  <a:srgbClr val="F27323"/>
                </a:solidFill>
              </a:defRPr>
            </a:lvl4pPr>
            <a:lvl5pPr algn="l">
              <a:defRPr sz="2100" b="1">
                <a:solidFill>
                  <a:srgbClr val="F27323"/>
                </a:solidFill>
              </a:defRPr>
            </a:lvl5pPr>
            <a:lvl6pPr algn="l">
              <a:defRPr sz="2100" b="1">
                <a:solidFill>
                  <a:srgbClr val="F27323"/>
                </a:solidFill>
              </a:defRPr>
            </a:lvl6pPr>
            <a:lvl7pPr algn="l">
              <a:defRPr sz="2100" b="1">
                <a:solidFill>
                  <a:srgbClr val="F27323"/>
                </a:solidFill>
              </a:defRPr>
            </a:lvl7pPr>
            <a:lvl8pPr algn="l">
              <a:defRPr sz="2100" b="1">
                <a:solidFill>
                  <a:srgbClr val="F27323"/>
                </a:solidFill>
              </a:defRPr>
            </a:lvl8pPr>
            <a:lvl9pPr algn="l">
              <a:defRPr sz="2100" b="1">
                <a:solidFill>
                  <a:srgbClr val="F27323"/>
                </a:solidFill>
              </a:defRPr>
            </a:lvl9pPr>
          </a:lstStyle>
          <a:p xmlns:a="http://schemas.openxmlformats.org/drawingml/2006/main">
            <a:pPr algn="l">
              <a:defRPr sz="2100" b="1">
                <a:solidFill>
                  <a:srgbClr val="F27323"/>
                </a:solidFill>
              </a:defRPr>
            </a:pPr>
            <a:r>
              <a:rPr sz="2100" b="1">
                <a:solidFill>
                  <a:srgbClr val="F27323"/>
                </a:solidFill>
              </a:rPr>
              <a:t>02</a:t>
            </a:r>
          </a:p>
        </p:txBody>
      </p:sp>
      <p:sp>
        <p:nvSpPr>
          <p:cNvPr id="11" name="text-10">
            <a:extLst xmlns:a="http://schemas.openxmlformats.org/drawingml/2006/main">
              <a:ext uri="{FF2B5EF4-FFF2-40B4-BE49-F238E27FC236}">
                <a16:creationId xmlns:a16="http://schemas.microsoft.com/office/drawing/2014/main" id="{9AB44C6D-4DEA-4836-9DF4-965D24672B32}"/>
              </a:ext>
            </a:extLst>
          </p:cNvPr>
          <p:cNvSpPr>
            <a:spLocks xmlns:a="http://schemas.openxmlformats.org/drawingml/2006/main" noGrp="1"/>
          </p:cNvSpPr>
          <p:nvPr/>
        </p:nvSpPr>
        <p:spPr>
          <a:xfrm xmlns:a="http://schemas.openxmlformats.org/drawingml/2006/main">
            <a:off x="4886325" y="195262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42C48"/>
                </a:solidFill>
              </a:defRPr>
            </a:defPPr>
            <a:lvl1pPr algn="l">
              <a:defRPr sz="2025" b="1">
                <a:solidFill>
                  <a:srgbClr val="142C48"/>
                </a:solidFill>
              </a:defRPr>
            </a:lvl1pPr>
            <a:lvl2pPr algn="l">
              <a:defRPr sz="2025" b="1">
                <a:solidFill>
                  <a:srgbClr val="142C48"/>
                </a:solidFill>
              </a:defRPr>
            </a:lvl2pPr>
            <a:lvl3pPr algn="l">
              <a:defRPr sz="2025" b="1">
                <a:solidFill>
                  <a:srgbClr val="142C48"/>
                </a:solidFill>
              </a:defRPr>
            </a:lvl3pPr>
            <a:lvl4pPr algn="l">
              <a:defRPr sz="2025" b="1">
                <a:solidFill>
                  <a:srgbClr val="142C48"/>
                </a:solidFill>
              </a:defRPr>
            </a:lvl4pPr>
            <a:lvl5pPr algn="l">
              <a:defRPr sz="2025" b="1">
                <a:solidFill>
                  <a:srgbClr val="142C48"/>
                </a:solidFill>
              </a:defRPr>
            </a:lvl5pPr>
            <a:lvl6pPr algn="l">
              <a:defRPr sz="2025" b="1">
                <a:solidFill>
                  <a:srgbClr val="142C48"/>
                </a:solidFill>
              </a:defRPr>
            </a:lvl6pPr>
            <a:lvl7pPr algn="l">
              <a:defRPr sz="2025" b="1">
                <a:solidFill>
                  <a:srgbClr val="142C48"/>
                </a:solidFill>
              </a:defRPr>
            </a:lvl7pPr>
            <a:lvl8pPr algn="l">
              <a:defRPr sz="2025" b="1">
                <a:solidFill>
                  <a:srgbClr val="142C48"/>
                </a:solidFill>
              </a:defRPr>
            </a:lvl8pPr>
            <a:lvl9pPr algn="l">
              <a:defRPr sz="2025" b="1">
                <a:solidFill>
                  <a:srgbClr val="142C48"/>
                </a:solidFill>
              </a:defRPr>
            </a:lvl9pPr>
          </a:lstStyle>
          <a:p xmlns:a="http://schemas.openxmlformats.org/drawingml/2006/main">
            <a:pPr algn="l">
              <a:defRPr sz="2025" b="1">
                <a:solidFill>
                  <a:srgbClr val="142C48"/>
                </a:solidFill>
              </a:defRPr>
            </a:pPr>
            <a:r>
              <a:rPr sz="2025" b="1">
                <a:solidFill>
                  <a:srgbClr val="142C48"/>
                </a:solidFill>
              </a:rPr>
              <a:t>Understand</a:t>
            </a:r>
          </a:p>
        </p:txBody>
      </p:sp>
      <p:sp>
        <p:nvSpPr>
          <p:cNvPr id="12" name="text-11">
            <a:extLst xmlns:a="http://schemas.openxmlformats.org/drawingml/2006/main">
              <a:ext uri="{FF2B5EF4-FFF2-40B4-BE49-F238E27FC236}">
                <a16:creationId xmlns:a16="http://schemas.microsoft.com/office/drawing/2014/main" id="{C38246D2-51E8-4F06-9466-EA41F7BEF9D0}"/>
              </a:ext>
            </a:extLst>
          </p:cNvPr>
          <p:cNvSpPr>
            <a:spLocks xmlns:a="http://schemas.openxmlformats.org/drawingml/2006/main" noGrp="1"/>
          </p:cNvSpPr>
          <p:nvPr/>
        </p:nvSpPr>
        <p:spPr>
          <a:xfrm xmlns:a="http://schemas.openxmlformats.org/drawingml/2006/main">
            <a:off x="4886325" y="2476500"/>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SHAP groups and timestamped facts</a:t>
            </a:r>
          </a:p>
        </p:txBody>
      </p:sp>
      <p:sp>
        <p:nvSpPr>
          <p:cNvPr id="13" name="text-12">
            <a:extLst xmlns:a="http://schemas.openxmlformats.org/drawingml/2006/main">
              <a:ext uri="{FF2B5EF4-FFF2-40B4-BE49-F238E27FC236}">
                <a16:creationId xmlns:a16="http://schemas.microsoft.com/office/drawing/2014/main" id="{BE936329-DA55-4484-8827-7A75BA286319}"/>
              </a:ext>
            </a:extLst>
          </p:cNvPr>
          <p:cNvSpPr>
            <a:spLocks xmlns:a="http://schemas.openxmlformats.org/drawingml/2006/main" noGrp="1"/>
          </p:cNvSpPr>
          <p:nvPr/>
        </p:nvSpPr>
        <p:spPr>
          <a:xfrm xmlns:a="http://schemas.openxmlformats.org/drawingml/2006/main">
            <a:off x="8115300" y="19526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F27323"/>
                </a:solidFill>
              </a:defRPr>
            </a:defPPr>
            <a:lvl1pPr algn="l">
              <a:defRPr sz="2100" b="1">
                <a:solidFill>
                  <a:srgbClr val="F27323"/>
                </a:solidFill>
              </a:defRPr>
            </a:lvl1pPr>
            <a:lvl2pPr algn="l">
              <a:defRPr sz="2100" b="1">
                <a:solidFill>
                  <a:srgbClr val="F27323"/>
                </a:solidFill>
              </a:defRPr>
            </a:lvl2pPr>
            <a:lvl3pPr algn="l">
              <a:defRPr sz="2100" b="1">
                <a:solidFill>
                  <a:srgbClr val="F27323"/>
                </a:solidFill>
              </a:defRPr>
            </a:lvl3pPr>
            <a:lvl4pPr algn="l">
              <a:defRPr sz="2100" b="1">
                <a:solidFill>
                  <a:srgbClr val="F27323"/>
                </a:solidFill>
              </a:defRPr>
            </a:lvl4pPr>
            <a:lvl5pPr algn="l">
              <a:defRPr sz="2100" b="1">
                <a:solidFill>
                  <a:srgbClr val="F27323"/>
                </a:solidFill>
              </a:defRPr>
            </a:lvl5pPr>
            <a:lvl6pPr algn="l">
              <a:defRPr sz="2100" b="1">
                <a:solidFill>
                  <a:srgbClr val="F27323"/>
                </a:solidFill>
              </a:defRPr>
            </a:lvl6pPr>
            <a:lvl7pPr algn="l">
              <a:defRPr sz="2100" b="1">
                <a:solidFill>
                  <a:srgbClr val="F27323"/>
                </a:solidFill>
              </a:defRPr>
            </a:lvl7pPr>
            <a:lvl8pPr algn="l">
              <a:defRPr sz="2100" b="1">
                <a:solidFill>
                  <a:srgbClr val="F27323"/>
                </a:solidFill>
              </a:defRPr>
            </a:lvl8pPr>
            <a:lvl9pPr algn="l">
              <a:defRPr sz="2100" b="1">
                <a:solidFill>
                  <a:srgbClr val="F27323"/>
                </a:solidFill>
              </a:defRPr>
            </a:lvl9pPr>
          </a:lstStyle>
          <a:p xmlns:a="http://schemas.openxmlformats.org/drawingml/2006/main">
            <a:pPr algn="l">
              <a:defRPr sz="2100" b="1">
                <a:solidFill>
                  <a:srgbClr val="F27323"/>
                </a:solidFill>
              </a:defRPr>
            </a:pPr>
            <a:r>
              <a:rPr sz="2100" b="1">
                <a:solidFill>
                  <a:srgbClr val="F27323"/>
                </a:solidFill>
              </a:rPr>
              <a:t>03</a:t>
            </a:r>
          </a:p>
        </p:txBody>
      </p:sp>
      <p:sp>
        <p:nvSpPr>
          <p:cNvPr id="14" name="text-13">
            <a:extLst xmlns:a="http://schemas.openxmlformats.org/drawingml/2006/main">
              <a:ext uri="{FF2B5EF4-FFF2-40B4-BE49-F238E27FC236}">
                <a16:creationId xmlns:a16="http://schemas.microsoft.com/office/drawing/2014/main" id="{92D20806-EEA9-46CF-9E57-6B2266C1C71B}"/>
              </a:ext>
            </a:extLst>
          </p:cNvPr>
          <p:cNvSpPr>
            <a:spLocks xmlns:a="http://schemas.openxmlformats.org/drawingml/2006/main" noGrp="1"/>
          </p:cNvSpPr>
          <p:nvPr/>
        </p:nvSpPr>
        <p:spPr>
          <a:xfrm xmlns:a="http://schemas.openxmlformats.org/drawingml/2006/main">
            <a:off x="8639175" y="195262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42C48"/>
                </a:solidFill>
              </a:defRPr>
            </a:defPPr>
            <a:lvl1pPr algn="l">
              <a:defRPr sz="2025" b="1">
                <a:solidFill>
                  <a:srgbClr val="142C48"/>
                </a:solidFill>
              </a:defRPr>
            </a:lvl1pPr>
            <a:lvl2pPr algn="l">
              <a:defRPr sz="2025" b="1">
                <a:solidFill>
                  <a:srgbClr val="142C48"/>
                </a:solidFill>
              </a:defRPr>
            </a:lvl2pPr>
            <a:lvl3pPr algn="l">
              <a:defRPr sz="2025" b="1">
                <a:solidFill>
                  <a:srgbClr val="142C48"/>
                </a:solidFill>
              </a:defRPr>
            </a:lvl3pPr>
            <a:lvl4pPr algn="l">
              <a:defRPr sz="2025" b="1">
                <a:solidFill>
                  <a:srgbClr val="142C48"/>
                </a:solidFill>
              </a:defRPr>
            </a:lvl4pPr>
            <a:lvl5pPr algn="l">
              <a:defRPr sz="2025" b="1">
                <a:solidFill>
                  <a:srgbClr val="142C48"/>
                </a:solidFill>
              </a:defRPr>
            </a:lvl5pPr>
            <a:lvl6pPr algn="l">
              <a:defRPr sz="2025" b="1">
                <a:solidFill>
                  <a:srgbClr val="142C48"/>
                </a:solidFill>
              </a:defRPr>
            </a:lvl6pPr>
            <a:lvl7pPr algn="l">
              <a:defRPr sz="2025" b="1">
                <a:solidFill>
                  <a:srgbClr val="142C48"/>
                </a:solidFill>
              </a:defRPr>
            </a:lvl7pPr>
            <a:lvl8pPr algn="l">
              <a:defRPr sz="2025" b="1">
                <a:solidFill>
                  <a:srgbClr val="142C48"/>
                </a:solidFill>
              </a:defRPr>
            </a:lvl8pPr>
            <a:lvl9pPr algn="l">
              <a:defRPr sz="2025" b="1">
                <a:solidFill>
                  <a:srgbClr val="142C48"/>
                </a:solidFill>
              </a:defRPr>
            </a:lvl9pPr>
          </a:lstStyle>
          <a:p xmlns:a="http://schemas.openxmlformats.org/drawingml/2006/main">
            <a:pPr algn="l">
              <a:defRPr sz="2025" b="1">
                <a:solidFill>
                  <a:srgbClr val="142C48"/>
                </a:solidFill>
              </a:defRPr>
            </a:pPr>
            <a:r>
              <a:rPr sz="2025" b="1">
                <a:solidFill>
                  <a:srgbClr val="142C48"/>
                </a:solidFill>
              </a:rPr>
              <a:t>Prepare</a:t>
            </a:r>
          </a:p>
        </p:txBody>
      </p:sp>
      <p:sp>
        <p:nvSpPr>
          <p:cNvPr id="15" name="text-14">
            <a:extLst xmlns:a="http://schemas.openxmlformats.org/drawingml/2006/main">
              <a:ext uri="{FF2B5EF4-FFF2-40B4-BE49-F238E27FC236}">
                <a16:creationId xmlns:a16="http://schemas.microsoft.com/office/drawing/2014/main" id="{2B363600-39A4-4B72-B79C-01A66C43A421}"/>
              </a:ext>
            </a:extLst>
          </p:cNvPr>
          <p:cNvSpPr>
            <a:spLocks xmlns:a="http://schemas.openxmlformats.org/drawingml/2006/main" noGrp="1"/>
          </p:cNvSpPr>
          <p:nvPr/>
        </p:nvSpPr>
        <p:spPr>
          <a:xfrm xmlns:a="http://schemas.openxmlformats.org/drawingml/2006/main">
            <a:off x="8639175" y="2476500"/>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Eligibility checks and AI draft</a:t>
            </a:r>
          </a:p>
        </p:txBody>
      </p:sp>
      <p:sp>
        <p:nvSpPr>
          <p:cNvPr id="16" name="text-15">
            <a:extLst xmlns:a="http://schemas.openxmlformats.org/drawingml/2006/main">
              <a:ext uri="{FF2B5EF4-FFF2-40B4-BE49-F238E27FC236}">
                <a16:creationId xmlns:a16="http://schemas.microsoft.com/office/drawing/2014/main" id="{44871181-8226-4AC4-BEF8-E5D61B9E7307}"/>
              </a:ext>
            </a:extLst>
          </p:cNvPr>
          <p:cNvSpPr>
            <a:spLocks xmlns:a="http://schemas.openxmlformats.org/drawingml/2006/main" noGrp="1"/>
          </p:cNvSpPr>
          <p:nvPr/>
        </p:nvSpPr>
        <p:spPr>
          <a:xfrm xmlns:a="http://schemas.openxmlformats.org/drawingml/2006/main">
            <a:off x="609600" y="37719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F27323"/>
                </a:solidFill>
              </a:defRPr>
            </a:defPPr>
            <a:lvl1pPr algn="l">
              <a:defRPr sz="2100" b="1">
                <a:solidFill>
                  <a:srgbClr val="F27323"/>
                </a:solidFill>
              </a:defRPr>
            </a:lvl1pPr>
            <a:lvl2pPr algn="l">
              <a:defRPr sz="2100" b="1">
                <a:solidFill>
                  <a:srgbClr val="F27323"/>
                </a:solidFill>
              </a:defRPr>
            </a:lvl2pPr>
            <a:lvl3pPr algn="l">
              <a:defRPr sz="2100" b="1">
                <a:solidFill>
                  <a:srgbClr val="F27323"/>
                </a:solidFill>
              </a:defRPr>
            </a:lvl3pPr>
            <a:lvl4pPr algn="l">
              <a:defRPr sz="2100" b="1">
                <a:solidFill>
                  <a:srgbClr val="F27323"/>
                </a:solidFill>
              </a:defRPr>
            </a:lvl4pPr>
            <a:lvl5pPr algn="l">
              <a:defRPr sz="2100" b="1">
                <a:solidFill>
                  <a:srgbClr val="F27323"/>
                </a:solidFill>
              </a:defRPr>
            </a:lvl5pPr>
            <a:lvl6pPr algn="l">
              <a:defRPr sz="2100" b="1">
                <a:solidFill>
                  <a:srgbClr val="F27323"/>
                </a:solidFill>
              </a:defRPr>
            </a:lvl6pPr>
            <a:lvl7pPr algn="l">
              <a:defRPr sz="2100" b="1">
                <a:solidFill>
                  <a:srgbClr val="F27323"/>
                </a:solidFill>
              </a:defRPr>
            </a:lvl7pPr>
            <a:lvl8pPr algn="l">
              <a:defRPr sz="2100" b="1">
                <a:solidFill>
                  <a:srgbClr val="F27323"/>
                </a:solidFill>
              </a:defRPr>
            </a:lvl8pPr>
            <a:lvl9pPr algn="l">
              <a:defRPr sz="2100" b="1">
                <a:solidFill>
                  <a:srgbClr val="F27323"/>
                </a:solidFill>
              </a:defRPr>
            </a:lvl9pPr>
          </a:lstStyle>
          <a:p xmlns:a="http://schemas.openxmlformats.org/drawingml/2006/main">
            <a:pPr algn="l">
              <a:defRPr sz="2100" b="1">
                <a:solidFill>
                  <a:srgbClr val="F27323"/>
                </a:solidFill>
              </a:defRPr>
            </a:pPr>
            <a:r>
              <a:rPr sz="2100" b="1">
                <a:solidFill>
                  <a:srgbClr val="F27323"/>
                </a:solidFill>
              </a:rPr>
              <a:t>04</a:t>
            </a:r>
          </a:p>
        </p:txBody>
      </p:sp>
      <p:sp>
        <p:nvSpPr>
          <p:cNvPr id="17" name="text-16">
            <a:extLst xmlns:a="http://schemas.openxmlformats.org/drawingml/2006/main">
              <a:ext uri="{FF2B5EF4-FFF2-40B4-BE49-F238E27FC236}">
                <a16:creationId xmlns:a16="http://schemas.microsoft.com/office/drawing/2014/main" id="{996B73B6-8034-416B-B37E-622C9A03ADB5}"/>
              </a:ext>
            </a:extLst>
          </p:cNvPr>
          <p:cNvSpPr>
            <a:spLocks xmlns:a="http://schemas.openxmlformats.org/drawingml/2006/main" noGrp="1"/>
          </p:cNvSpPr>
          <p:nvPr/>
        </p:nvSpPr>
        <p:spPr>
          <a:xfrm xmlns:a="http://schemas.openxmlformats.org/drawingml/2006/main">
            <a:off x="1133475" y="377190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42C48"/>
                </a:solidFill>
              </a:defRPr>
            </a:defPPr>
            <a:lvl1pPr algn="l">
              <a:defRPr sz="2025" b="1">
                <a:solidFill>
                  <a:srgbClr val="142C48"/>
                </a:solidFill>
              </a:defRPr>
            </a:lvl1pPr>
            <a:lvl2pPr algn="l">
              <a:defRPr sz="2025" b="1">
                <a:solidFill>
                  <a:srgbClr val="142C48"/>
                </a:solidFill>
              </a:defRPr>
            </a:lvl2pPr>
            <a:lvl3pPr algn="l">
              <a:defRPr sz="2025" b="1">
                <a:solidFill>
                  <a:srgbClr val="142C48"/>
                </a:solidFill>
              </a:defRPr>
            </a:lvl3pPr>
            <a:lvl4pPr algn="l">
              <a:defRPr sz="2025" b="1">
                <a:solidFill>
                  <a:srgbClr val="142C48"/>
                </a:solidFill>
              </a:defRPr>
            </a:lvl4pPr>
            <a:lvl5pPr algn="l">
              <a:defRPr sz="2025" b="1">
                <a:solidFill>
                  <a:srgbClr val="142C48"/>
                </a:solidFill>
              </a:defRPr>
            </a:lvl5pPr>
            <a:lvl6pPr algn="l">
              <a:defRPr sz="2025" b="1">
                <a:solidFill>
                  <a:srgbClr val="142C48"/>
                </a:solidFill>
              </a:defRPr>
            </a:lvl6pPr>
            <a:lvl7pPr algn="l">
              <a:defRPr sz="2025" b="1">
                <a:solidFill>
                  <a:srgbClr val="142C48"/>
                </a:solidFill>
              </a:defRPr>
            </a:lvl7pPr>
            <a:lvl8pPr algn="l">
              <a:defRPr sz="2025" b="1">
                <a:solidFill>
                  <a:srgbClr val="142C48"/>
                </a:solidFill>
              </a:defRPr>
            </a:lvl8pPr>
            <a:lvl9pPr algn="l">
              <a:defRPr sz="2025" b="1">
                <a:solidFill>
                  <a:srgbClr val="142C48"/>
                </a:solidFill>
              </a:defRPr>
            </a:lvl9pPr>
          </a:lstStyle>
          <a:p xmlns:a="http://schemas.openxmlformats.org/drawingml/2006/main">
            <a:pPr algn="l">
              <a:defRPr sz="2025" b="1">
                <a:solidFill>
                  <a:srgbClr val="142C48"/>
                </a:solidFill>
              </a:defRPr>
            </a:pPr>
            <a:r>
              <a:rPr sz="2025" b="1">
                <a:solidFill>
                  <a:srgbClr val="142C48"/>
                </a:solidFill>
              </a:rPr>
              <a:t>Approve</a:t>
            </a:r>
          </a:p>
        </p:txBody>
      </p:sp>
      <p:sp>
        <p:nvSpPr>
          <p:cNvPr id="18" name="text-17">
            <a:extLst xmlns:a="http://schemas.openxmlformats.org/drawingml/2006/main">
              <a:ext uri="{FF2B5EF4-FFF2-40B4-BE49-F238E27FC236}">
                <a16:creationId xmlns:a16="http://schemas.microsoft.com/office/drawing/2014/main" id="{CAE8BF9F-2608-4328-85BD-51B6BCB73E1B}"/>
              </a:ext>
            </a:extLst>
          </p:cNvPr>
          <p:cNvSpPr>
            <a:spLocks xmlns:a="http://schemas.openxmlformats.org/drawingml/2006/main" noGrp="1"/>
          </p:cNvSpPr>
          <p:nvPr/>
        </p:nvSpPr>
        <p:spPr>
          <a:xfrm xmlns:a="http://schemas.openxmlformats.org/drawingml/2006/main">
            <a:off x="1133475" y="4295775"/>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Staff edits and exact-revision approval</a:t>
            </a:r>
          </a:p>
        </p:txBody>
      </p:sp>
      <p:sp>
        <p:nvSpPr>
          <p:cNvPr id="19" name="text-18">
            <a:extLst xmlns:a="http://schemas.openxmlformats.org/drawingml/2006/main">
              <a:ext uri="{FF2B5EF4-FFF2-40B4-BE49-F238E27FC236}">
                <a16:creationId xmlns:a16="http://schemas.microsoft.com/office/drawing/2014/main" id="{4D17DEF3-1BB8-454D-90DE-4B7BC3336725}"/>
              </a:ext>
            </a:extLst>
          </p:cNvPr>
          <p:cNvSpPr>
            <a:spLocks xmlns:a="http://schemas.openxmlformats.org/drawingml/2006/main" noGrp="1"/>
          </p:cNvSpPr>
          <p:nvPr/>
        </p:nvSpPr>
        <p:spPr>
          <a:xfrm xmlns:a="http://schemas.openxmlformats.org/drawingml/2006/main">
            <a:off x="4362450" y="37719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F27323"/>
                </a:solidFill>
              </a:defRPr>
            </a:defPPr>
            <a:lvl1pPr algn="l">
              <a:defRPr sz="2100" b="1">
                <a:solidFill>
                  <a:srgbClr val="F27323"/>
                </a:solidFill>
              </a:defRPr>
            </a:lvl1pPr>
            <a:lvl2pPr algn="l">
              <a:defRPr sz="2100" b="1">
                <a:solidFill>
                  <a:srgbClr val="F27323"/>
                </a:solidFill>
              </a:defRPr>
            </a:lvl2pPr>
            <a:lvl3pPr algn="l">
              <a:defRPr sz="2100" b="1">
                <a:solidFill>
                  <a:srgbClr val="F27323"/>
                </a:solidFill>
              </a:defRPr>
            </a:lvl3pPr>
            <a:lvl4pPr algn="l">
              <a:defRPr sz="2100" b="1">
                <a:solidFill>
                  <a:srgbClr val="F27323"/>
                </a:solidFill>
              </a:defRPr>
            </a:lvl4pPr>
            <a:lvl5pPr algn="l">
              <a:defRPr sz="2100" b="1">
                <a:solidFill>
                  <a:srgbClr val="F27323"/>
                </a:solidFill>
              </a:defRPr>
            </a:lvl5pPr>
            <a:lvl6pPr algn="l">
              <a:defRPr sz="2100" b="1">
                <a:solidFill>
                  <a:srgbClr val="F27323"/>
                </a:solidFill>
              </a:defRPr>
            </a:lvl6pPr>
            <a:lvl7pPr algn="l">
              <a:defRPr sz="2100" b="1">
                <a:solidFill>
                  <a:srgbClr val="F27323"/>
                </a:solidFill>
              </a:defRPr>
            </a:lvl7pPr>
            <a:lvl8pPr algn="l">
              <a:defRPr sz="2100" b="1">
                <a:solidFill>
                  <a:srgbClr val="F27323"/>
                </a:solidFill>
              </a:defRPr>
            </a:lvl8pPr>
            <a:lvl9pPr algn="l">
              <a:defRPr sz="2100" b="1">
                <a:solidFill>
                  <a:srgbClr val="F27323"/>
                </a:solidFill>
              </a:defRPr>
            </a:lvl9pPr>
          </a:lstStyle>
          <a:p xmlns:a="http://schemas.openxmlformats.org/drawingml/2006/main">
            <a:pPr algn="l">
              <a:defRPr sz="2100" b="1">
                <a:solidFill>
                  <a:srgbClr val="F27323"/>
                </a:solidFill>
              </a:defRPr>
            </a:pPr>
            <a:r>
              <a:rPr sz="2100" b="1">
                <a:solidFill>
                  <a:srgbClr val="F27323"/>
                </a:solidFill>
              </a:rPr>
              <a:t>05</a:t>
            </a:r>
          </a:p>
        </p:txBody>
      </p:sp>
      <p:sp>
        <p:nvSpPr>
          <p:cNvPr id="20" name="text-19">
            <a:extLst xmlns:a="http://schemas.openxmlformats.org/drawingml/2006/main">
              <a:ext uri="{FF2B5EF4-FFF2-40B4-BE49-F238E27FC236}">
                <a16:creationId xmlns:a16="http://schemas.microsoft.com/office/drawing/2014/main" id="{0945522E-590B-46CB-BE72-1977F1A92CDD}"/>
              </a:ext>
            </a:extLst>
          </p:cNvPr>
          <p:cNvSpPr>
            <a:spLocks xmlns:a="http://schemas.openxmlformats.org/drawingml/2006/main" noGrp="1"/>
          </p:cNvSpPr>
          <p:nvPr/>
        </p:nvSpPr>
        <p:spPr>
          <a:xfrm xmlns:a="http://schemas.openxmlformats.org/drawingml/2006/main">
            <a:off x="4886325" y="377190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42C48"/>
                </a:solidFill>
              </a:defRPr>
            </a:defPPr>
            <a:lvl1pPr algn="l">
              <a:defRPr sz="2025" b="1">
                <a:solidFill>
                  <a:srgbClr val="142C48"/>
                </a:solidFill>
              </a:defRPr>
            </a:lvl1pPr>
            <a:lvl2pPr algn="l">
              <a:defRPr sz="2025" b="1">
                <a:solidFill>
                  <a:srgbClr val="142C48"/>
                </a:solidFill>
              </a:defRPr>
            </a:lvl2pPr>
            <a:lvl3pPr algn="l">
              <a:defRPr sz="2025" b="1">
                <a:solidFill>
                  <a:srgbClr val="142C48"/>
                </a:solidFill>
              </a:defRPr>
            </a:lvl3pPr>
            <a:lvl4pPr algn="l">
              <a:defRPr sz="2025" b="1">
                <a:solidFill>
                  <a:srgbClr val="142C48"/>
                </a:solidFill>
              </a:defRPr>
            </a:lvl4pPr>
            <a:lvl5pPr algn="l">
              <a:defRPr sz="2025" b="1">
                <a:solidFill>
                  <a:srgbClr val="142C48"/>
                </a:solidFill>
              </a:defRPr>
            </a:lvl5pPr>
            <a:lvl6pPr algn="l">
              <a:defRPr sz="2025" b="1">
                <a:solidFill>
                  <a:srgbClr val="142C48"/>
                </a:solidFill>
              </a:defRPr>
            </a:lvl6pPr>
            <a:lvl7pPr algn="l">
              <a:defRPr sz="2025" b="1">
                <a:solidFill>
                  <a:srgbClr val="142C48"/>
                </a:solidFill>
              </a:defRPr>
            </a:lvl7pPr>
            <a:lvl8pPr algn="l">
              <a:defRPr sz="2025" b="1">
                <a:solidFill>
                  <a:srgbClr val="142C48"/>
                </a:solidFill>
              </a:defRPr>
            </a:lvl8pPr>
            <a:lvl9pPr algn="l">
              <a:defRPr sz="2025" b="1">
                <a:solidFill>
                  <a:srgbClr val="142C48"/>
                </a:solidFill>
              </a:defRPr>
            </a:lvl9pPr>
          </a:lstStyle>
          <a:p xmlns:a="http://schemas.openxmlformats.org/drawingml/2006/main">
            <a:pPr algn="l">
              <a:defRPr sz="2025" b="1">
                <a:solidFill>
                  <a:srgbClr val="142C48"/>
                </a:solidFill>
              </a:defRPr>
            </a:pPr>
            <a:r>
              <a:rPr sz="2025" b="1">
                <a:solidFill>
                  <a:srgbClr val="142C48"/>
                </a:solidFill>
              </a:rPr>
              <a:t>Coordinate</a:t>
            </a:r>
          </a:p>
        </p:txBody>
      </p:sp>
      <p:sp>
        <p:nvSpPr>
          <p:cNvPr id="21" name="text-20">
            <a:extLst xmlns:a="http://schemas.openxmlformats.org/drawingml/2006/main">
              <a:ext uri="{FF2B5EF4-FFF2-40B4-BE49-F238E27FC236}">
                <a16:creationId xmlns:a16="http://schemas.microsoft.com/office/drawing/2014/main" id="{7ABEC37B-D227-4118-A33A-CFACD97F95FD}"/>
              </a:ext>
            </a:extLst>
          </p:cNvPr>
          <p:cNvSpPr>
            <a:spLocks xmlns:a="http://schemas.openxmlformats.org/drawingml/2006/main" noGrp="1"/>
          </p:cNvSpPr>
          <p:nvPr/>
        </p:nvSpPr>
        <p:spPr>
          <a:xfrm xmlns:a="http://schemas.openxmlformats.org/drawingml/2006/main">
            <a:off x="4886325" y="4295775"/>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Mock exchange, support and follow-up</a:t>
            </a:r>
          </a:p>
        </p:txBody>
      </p:sp>
      <p:sp>
        <p:nvSpPr>
          <p:cNvPr id="22" name="text-21">
            <a:extLst xmlns:a="http://schemas.openxmlformats.org/drawingml/2006/main">
              <a:ext uri="{FF2B5EF4-FFF2-40B4-BE49-F238E27FC236}">
                <a16:creationId xmlns:a16="http://schemas.microsoft.com/office/drawing/2014/main" id="{E6B9A311-BC9B-4F18-9754-094D8622226B}"/>
              </a:ext>
            </a:extLst>
          </p:cNvPr>
          <p:cNvSpPr>
            <a:spLocks xmlns:a="http://schemas.openxmlformats.org/drawingml/2006/main" noGrp="1"/>
          </p:cNvSpPr>
          <p:nvPr/>
        </p:nvSpPr>
        <p:spPr>
          <a:xfrm xmlns:a="http://schemas.openxmlformats.org/drawingml/2006/main">
            <a:off x="8115300" y="37719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F27323"/>
                </a:solidFill>
              </a:defRPr>
            </a:defPPr>
            <a:lvl1pPr algn="l">
              <a:defRPr sz="2100" b="1">
                <a:solidFill>
                  <a:srgbClr val="F27323"/>
                </a:solidFill>
              </a:defRPr>
            </a:lvl1pPr>
            <a:lvl2pPr algn="l">
              <a:defRPr sz="2100" b="1">
                <a:solidFill>
                  <a:srgbClr val="F27323"/>
                </a:solidFill>
              </a:defRPr>
            </a:lvl2pPr>
            <a:lvl3pPr algn="l">
              <a:defRPr sz="2100" b="1">
                <a:solidFill>
                  <a:srgbClr val="F27323"/>
                </a:solidFill>
              </a:defRPr>
            </a:lvl3pPr>
            <a:lvl4pPr algn="l">
              <a:defRPr sz="2100" b="1">
                <a:solidFill>
                  <a:srgbClr val="F27323"/>
                </a:solidFill>
              </a:defRPr>
            </a:lvl4pPr>
            <a:lvl5pPr algn="l">
              <a:defRPr sz="2100" b="1">
                <a:solidFill>
                  <a:srgbClr val="F27323"/>
                </a:solidFill>
              </a:defRPr>
            </a:lvl5pPr>
            <a:lvl6pPr algn="l">
              <a:defRPr sz="2100" b="1">
                <a:solidFill>
                  <a:srgbClr val="F27323"/>
                </a:solidFill>
              </a:defRPr>
            </a:lvl6pPr>
            <a:lvl7pPr algn="l">
              <a:defRPr sz="2100" b="1">
                <a:solidFill>
                  <a:srgbClr val="F27323"/>
                </a:solidFill>
              </a:defRPr>
            </a:lvl7pPr>
            <a:lvl8pPr algn="l">
              <a:defRPr sz="2100" b="1">
                <a:solidFill>
                  <a:srgbClr val="F27323"/>
                </a:solidFill>
              </a:defRPr>
            </a:lvl8pPr>
            <a:lvl9pPr algn="l">
              <a:defRPr sz="2100" b="1">
                <a:solidFill>
                  <a:srgbClr val="F27323"/>
                </a:solidFill>
              </a:defRPr>
            </a:lvl9pPr>
          </a:lstStyle>
          <a:p xmlns:a="http://schemas.openxmlformats.org/drawingml/2006/main">
            <a:pPr algn="l">
              <a:defRPr sz="2100" b="1">
                <a:solidFill>
                  <a:srgbClr val="F27323"/>
                </a:solidFill>
              </a:defRPr>
            </a:pPr>
            <a:r>
              <a:rPr sz="2100" b="1">
                <a:solidFill>
                  <a:srgbClr val="F27323"/>
                </a:solidFill>
              </a:rPr>
              <a:t>06</a:t>
            </a:r>
          </a:p>
        </p:txBody>
      </p:sp>
      <p:sp>
        <p:nvSpPr>
          <p:cNvPr id="23" name="text-22">
            <a:extLst xmlns:a="http://schemas.openxmlformats.org/drawingml/2006/main">
              <a:ext uri="{FF2B5EF4-FFF2-40B4-BE49-F238E27FC236}">
                <a16:creationId xmlns:a16="http://schemas.microsoft.com/office/drawing/2014/main" id="{701540E9-2BF3-4E11-9B9D-136F9F6EF4F1}"/>
              </a:ext>
            </a:extLst>
          </p:cNvPr>
          <p:cNvSpPr>
            <a:spLocks xmlns:a="http://schemas.openxmlformats.org/drawingml/2006/main" noGrp="1"/>
          </p:cNvSpPr>
          <p:nvPr/>
        </p:nvSpPr>
        <p:spPr>
          <a:xfrm xmlns:a="http://schemas.openxmlformats.org/drawingml/2006/main">
            <a:off x="8639175" y="377190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42C48"/>
                </a:solidFill>
              </a:defRPr>
            </a:defPPr>
            <a:lvl1pPr algn="l">
              <a:defRPr sz="2025" b="1">
                <a:solidFill>
                  <a:srgbClr val="142C48"/>
                </a:solidFill>
              </a:defRPr>
            </a:lvl1pPr>
            <a:lvl2pPr algn="l">
              <a:defRPr sz="2025" b="1">
                <a:solidFill>
                  <a:srgbClr val="142C48"/>
                </a:solidFill>
              </a:defRPr>
            </a:lvl2pPr>
            <a:lvl3pPr algn="l">
              <a:defRPr sz="2025" b="1">
                <a:solidFill>
                  <a:srgbClr val="142C48"/>
                </a:solidFill>
              </a:defRPr>
            </a:lvl3pPr>
            <a:lvl4pPr algn="l">
              <a:defRPr sz="2025" b="1">
                <a:solidFill>
                  <a:srgbClr val="142C48"/>
                </a:solidFill>
              </a:defRPr>
            </a:lvl4pPr>
            <a:lvl5pPr algn="l">
              <a:defRPr sz="2025" b="1">
                <a:solidFill>
                  <a:srgbClr val="142C48"/>
                </a:solidFill>
              </a:defRPr>
            </a:lvl5pPr>
            <a:lvl6pPr algn="l">
              <a:defRPr sz="2025" b="1">
                <a:solidFill>
                  <a:srgbClr val="142C48"/>
                </a:solidFill>
              </a:defRPr>
            </a:lvl6pPr>
            <a:lvl7pPr algn="l">
              <a:defRPr sz="2025" b="1">
                <a:solidFill>
                  <a:srgbClr val="142C48"/>
                </a:solidFill>
              </a:defRPr>
            </a:lvl7pPr>
            <a:lvl8pPr algn="l">
              <a:defRPr sz="2025" b="1">
                <a:solidFill>
                  <a:srgbClr val="142C48"/>
                </a:solidFill>
              </a:defRPr>
            </a:lvl8pPr>
            <a:lvl9pPr algn="l">
              <a:defRPr sz="2025" b="1">
                <a:solidFill>
                  <a:srgbClr val="142C48"/>
                </a:solidFill>
              </a:defRPr>
            </a:lvl9pPr>
          </a:lstStyle>
          <a:p xmlns:a="http://schemas.openxmlformats.org/drawingml/2006/main">
            <a:pPr algn="l">
              <a:defRPr sz="2025" b="1">
                <a:solidFill>
                  <a:srgbClr val="142C48"/>
                </a:solidFill>
              </a:defRPr>
            </a:pPr>
            <a:r>
              <a:rPr sz="2025" b="1">
                <a:solidFill>
                  <a:srgbClr val="142C48"/>
                </a:solidFill>
              </a:rPr>
              <a:t>Evaluate</a:t>
            </a:r>
          </a:p>
        </p:txBody>
      </p:sp>
      <p:sp>
        <p:nvSpPr>
          <p:cNvPr id="24" name="text-23">
            <a:extLst xmlns:a="http://schemas.openxmlformats.org/drawingml/2006/main">
              <a:ext uri="{FF2B5EF4-FFF2-40B4-BE49-F238E27FC236}">
                <a16:creationId xmlns:a16="http://schemas.microsoft.com/office/drawing/2014/main" id="{10FE4C73-53C6-48F4-959D-F06699364DD6}"/>
              </a:ext>
            </a:extLst>
          </p:cNvPr>
          <p:cNvSpPr>
            <a:spLocks xmlns:a="http://schemas.openxmlformats.org/drawingml/2006/main" noGrp="1"/>
          </p:cNvSpPr>
          <p:nvPr/>
        </p:nvSpPr>
        <p:spPr>
          <a:xfrm xmlns:a="http://schemas.openxmlformats.org/drawingml/2006/main">
            <a:off x="8639175" y="4295775"/>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Mature outcome and matching costs</a:t>
            </a:r>
          </a:p>
        </p:txBody>
      </p:sp>
      <p:sp>
        <p:nvSpPr>
          <p:cNvPr id="25" name="text-24">
            <a:extLst xmlns:a="http://schemas.openxmlformats.org/drawingml/2006/main">
              <a:ext uri="{FF2B5EF4-FFF2-40B4-BE49-F238E27FC236}">
                <a16:creationId xmlns:a16="http://schemas.microsoft.com/office/drawing/2014/main" id="{0B640490-411B-41A6-9F59-CE0F7D223AA2}"/>
              </a:ext>
            </a:extLst>
          </p:cNvPr>
          <p:cNvSpPr>
            <a:spLocks xmlns:a="http://schemas.openxmlformats.org/drawingml/2006/main" noGrp="1"/>
          </p:cNvSpPr>
          <p:nvPr/>
        </p:nvSpPr>
        <p:spPr>
          <a:xfrm xmlns:a="http://schemas.openxmlformats.org/drawingml/2006/main">
            <a:off x="609600" y="57721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AI drafts. Staff authorise communication. Outcome evidence establishes service status.</a:t>
            </a:r>
          </a:p>
        </p:txBody>
      </p:sp>
    </p:spTree>
    <p:extLst>
      <p:ext uri="{BB962C8B-B14F-4D97-AF65-F5344CB8AC3E}">
        <p14:creationId xmlns:p14="http://schemas.microsoft.com/office/powerpoint/2010/main" val="11556209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37D924B0-E054-4713-BCAA-A0EC667C2525}"/>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METHOD</a:t>
            </a:r>
          </a:p>
        </p:txBody>
      </p:sp>
      <p:sp>
        <p:nvSpPr>
          <p:cNvPr id="2" name="text-1">
            <a:extLst xmlns:a="http://schemas.openxmlformats.org/drawingml/2006/main">
              <a:ext uri="{FF2B5EF4-FFF2-40B4-BE49-F238E27FC236}">
                <a16:creationId xmlns:a16="http://schemas.microsoft.com/office/drawing/2014/main" id="{6B570C6A-122B-453C-AB82-3AE726EC3662}"/>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Prototype Demonstration</a:t>
            </a:r>
          </a:p>
        </p:txBody>
      </p:sp>
      <p:sp>
        <p:nvSpPr>
          <p:cNvPr id="3" name="">
            <a:extLst xmlns:a="http://schemas.openxmlformats.org/drawingml/2006/main">
              <a:ext uri="{FF2B5EF4-FFF2-40B4-BE49-F238E27FC236}">
                <a16:creationId xmlns:a16="http://schemas.microsoft.com/office/drawing/2014/main" id="{3F9380B0-BD6D-4F33-A2D2-B02F13B64744}"/>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B4EDA4-0D59-4860-9FF2-CBF0B12029E5}"/>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BC5E7F8D-4B46-4F08-8D8B-48EF6C608631}"/>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v5 cutover evidence; interface crop is a design reference, not a completed v5 conversation. Simulated external channels.</a:t>
            </a:r>
          </a:p>
        </p:txBody>
      </p:sp>
      <p:sp>
        <p:nvSpPr>
          <p:cNvPr id="6" name="text-5">
            <a:extLst xmlns:a="http://schemas.openxmlformats.org/drawingml/2006/main">
              <a:ext uri="{FF2B5EF4-FFF2-40B4-BE49-F238E27FC236}">
                <a16:creationId xmlns:a16="http://schemas.microsoft.com/office/drawing/2014/main" id="{8F10C59D-4B0E-4F7A-A5CA-D0AF4D11A092}"/>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13 / 24</a:t>
            </a:r>
          </a:p>
        </p:txBody>
      </p:sp>
      <p:pic>
        <p:nvPicPr>
          <p:cNvPr id="7" name="">
            <a:extLst xmlns:a="http://schemas.openxmlformats.org/drawingml/2006/main">
              <a:ext uri="{FF2B5EF4-FFF2-40B4-BE49-F238E27FC236}">
                <a16:creationId xmlns:a16="http://schemas.microsoft.com/office/drawing/2014/main" id="{91DFAB85-2160-4ADA-A1E1-76B80F93AF52}"/>
              </a:ext>
            </a:extLst>
          </p:cNvPr>
          <p:cNvPicPr>
            <a:picLocks xmlns:a="http://schemas.openxmlformats.org/drawingml/2006/main" noChangeAspect="1"/>
          </p:cNvPicPr>
          <p:nvPr/>
        </p:nvPicPr>
        <p:blipFill>
          <a:blip xmlns:r="http://schemas.openxmlformats.org/officeDocument/2006/relationships" xmlns:a="http://schemas.openxmlformats.org/drawingml/2006/main" r:embed="R2edbb1823ca04b18"/>
          <a:stretch xmlns:a="http://schemas.openxmlformats.org/drawingml/2006/main"/>
        </p:blipFill>
        <p:spPr>
          <a:xfrm xmlns:a="http://schemas.openxmlformats.org/drawingml/2006/main">
            <a:off x="2326142" y="1819275"/>
            <a:ext cx="3101065" cy="371475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BB1D0727-12BF-43F4-BA4F-1E5D3AF11E58}"/>
              </a:ext>
            </a:extLst>
          </p:cNvPr>
          <p:cNvSpPr>
            <a:spLocks xmlns:a="http://schemas.openxmlformats.org/drawingml/2006/main" noGrp="1"/>
          </p:cNvSpPr>
          <p:nvPr/>
        </p:nvSpPr>
        <p:spPr>
          <a:xfrm xmlns:a="http://schemas.openxmlformats.org/drawingml/2006/main">
            <a:off x="609600" y="5572125"/>
            <a:ext cx="653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61738A"/>
                </a:solidFill>
              </a:defRPr>
            </a:defPPr>
            <a:lvl1pPr algn="l">
              <a:defRPr sz="1275" b="0">
                <a:solidFill>
                  <a:srgbClr val="61738A"/>
                </a:solidFill>
              </a:defRPr>
            </a:lvl1pPr>
            <a:lvl2pPr algn="l">
              <a:defRPr sz="1275" b="0">
                <a:solidFill>
                  <a:srgbClr val="61738A"/>
                </a:solidFill>
              </a:defRPr>
            </a:lvl2pPr>
            <a:lvl3pPr algn="l">
              <a:defRPr sz="1275" b="0">
                <a:solidFill>
                  <a:srgbClr val="61738A"/>
                </a:solidFill>
              </a:defRPr>
            </a:lvl3pPr>
            <a:lvl4pPr algn="l">
              <a:defRPr sz="1275" b="0">
                <a:solidFill>
                  <a:srgbClr val="61738A"/>
                </a:solidFill>
              </a:defRPr>
            </a:lvl4pPr>
            <a:lvl5pPr algn="l">
              <a:defRPr sz="1275" b="0">
                <a:solidFill>
                  <a:srgbClr val="61738A"/>
                </a:solidFill>
              </a:defRPr>
            </a:lvl5pPr>
            <a:lvl6pPr algn="l">
              <a:defRPr sz="1275" b="0">
                <a:solidFill>
                  <a:srgbClr val="61738A"/>
                </a:solidFill>
              </a:defRPr>
            </a:lvl6pPr>
            <a:lvl7pPr algn="l">
              <a:defRPr sz="1275" b="0">
                <a:solidFill>
                  <a:srgbClr val="61738A"/>
                </a:solidFill>
              </a:defRPr>
            </a:lvl7pPr>
            <a:lvl8pPr algn="l">
              <a:defRPr sz="1275" b="0">
                <a:solidFill>
                  <a:srgbClr val="61738A"/>
                </a:solidFill>
              </a:defRPr>
            </a:lvl8pPr>
            <a:lvl9pPr algn="l">
              <a:defRPr sz="1275" b="0">
                <a:solidFill>
                  <a:srgbClr val="61738A"/>
                </a:solidFill>
              </a:defRPr>
            </a:lvl9pPr>
          </a:lstStyle>
          <a:p xmlns:a="http://schemas.openxmlformats.org/drawingml/2006/main">
            <a:pPr algn="l">
              <a:defRPr sz="1275" b="0">
                <a:solidFill>
                  <a:srgbClr val="61738A"/>
                </a:solidFill>
              </a:defRPr>
            </a:pPr>
            <a:r>
              <a:rPr sz="1275" b="0">
                <a:solidFill>
                  <a:srgbClr val="61738A"/>
                </a:solidFill>
              </a:rPr>
              <a:t>Interface design reference (historical mockup)</a:t>
            </a:r>
          </a:p>
        </p:txBody>
      </p:sp>
      <p:sp>
        <p:nvSpPr>
          <p:cNvPr id="9" name="text-7">
            <a:extLst xmlns:a="http://schemas.openxmlformats.org/drawingml/2006/main">
              <a:ext uri="{FF2B5EF4-FFF2-40B4-BE49-F238E27FC236}">
                <a16:creationId xmlns:a16="http://schemas.microsoft.com/office/drawing/2014/main" id="{441A91E1-4702-477A-8242-25FD79E9DEE5}"/>
              </a:ext>
            </a:extLst>
          </p:cNvPr>
          <p:cNvSpPr>
            <a:spLocks xmlns:a="http://schemas.openxmlformats.org/drawingml/2006/main" noGrp="1"/>
          </p:cNvSpPr>
          <p:nvPr/>
        </p:nvSpPr>
        <p:spPr>
          <a:xfrm xmlns:a="http://schemas.openxmlformats.org/drawingml/2006/main">
            <a:off x="7620000" y="1809750"/>
            <a:ext cx="396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0D69B3"/>
                </a:solidFill>
              </a:defRPr>
            </a:defPPr>
            <a:lvl1pPr algn="l">
              <a:defRPr sz="2175" b="1">
                <a:solidFill>
                  <a:srgbClr val="0D69B3"/>
                </a:solidFill>
              </a:defRPr>
            </a:lvl1pPr>
            <a:lvl2pPr algn="l">
              <a:defRPr sz="2175" b="1">
                <a:solidFill>
                  <a:srgbClr val="0D69B3"/>
                </a:solidFill>
              </a:defRPr>
            </a:lvl2pPr>
            <a:lvl3pPr algn="l">
              <a:defRPr sz="2175" b="1">
                <a:solidFill>
                  <a:srgbClr val="0D69B3"/>
                </a:solidFill>
              </a:defRPr>
            </a:lvl3pPr>
            <a:lvl4pPr algn="l">
              <a:defRPr sz="2175" b="1">
                <a:solidFill>
                  <a:srgbClr val="0D69B3"/>
                </a:solidFill>
              </a:defRPr>
            </a:lvl4pPr>
            <a:lvl5pPr algn="l">
              <a:defRPr sz="2175" b="1">
                <a:solidFill>
                  <a:srgbClr val="0D69B3"/>
                </a:solidFill>
              </a:defRPr>
            </a:lvl5pPr>
            <a:lvl6pPr algn="l">
              <a:defRPr sz="2175" b="1">
                <a:solidFill>
                  <a:srgbClr val="0D69B3"/>
                </a:solidFill>
              </a:defRPr>
            </a:lvl6pPr>
            <a:lvl7pPr algn="l">
              <a:defRPr sz="2175" b="1">
                <a:solidFill>
                  <a:srgbClr val="0D69B3"/>
                </a:solidFill>
              </a:defRPr>
            </a:lvl7pPr>
            <a:lvl8pPr algn="l">
              <a:defRPr sz="2175" b="1">
                <a:solidFill>
                  <a:srgbClr val="0D69B3"/>
                </a:solidFill>
              </a:defRPr>
            </a:lvl8pPr>
            <a:lvl9pPr algn="l">
              <a:defRPr sz="2175" b="1">
                <a:solidFill>
                  <a:srgbClr val="0D69B3"/>
                </a:solidFill>
              </a:defRPr>
            </a:lvl9pPr>
          </a:lstStyle>
          <a:p xmlns:a="http://schemas.openxmlformats.org/drawingml/2006/main">
            <a:pPr algn="l">
              <a:defRPr sz="2175" b="1">
                <a:solidFill>
                  <a:srgbClr val="0D69B3"/>
                </a:solidFill>
              </a:defRPr>
            </a:pPr>
            <a:r>
              <a:rPr sz="2175" b="1">
                <a:solidFill>
                  <a:srgbClr val="0D69B3"/>
                </a:solidFill>
              </a:rPr>
              <a:t>Latest verified batch</a:t>
            </a:r>
          </a:p>
        </p:txBody>
      </p:sp>
      <p:sp>
        <p:nvSpPr>
          <p:cNvPr id="10" name="text-8">
            <a:extLst xmlns:a="http://schemas.openxmlformats.org/drawingml/2006/main">
              <a:ext uri="{FF2B5EF4-FFF2-40B4-BE49-F238E27FC236}">
                <a16:creationId xmlns:a16="http://schemas.microsoft.com/office/drawing/2014/main" id="{9773A37A-40AF-4C10-BBDF-F25F1B1620F4}"/>
              </a:ext>
            </a:extLst>
          </p:cNvPr>
          <p:cNvSpPr>
            <a:spLocks xmlns:a="http://schemas.openxmlformats.org/drawingml/2006/main" noGrp="1"/>
          </p:cNvSpPr>
          <p:nvPr/>
        </p:nvSpPr>
        <p:spPr>
          <a:xfrm xmlns:a="http://schemas.openxmlformats.org/drawingml/2006/main">
            <a:off x="7620000" y="2409825"/>
            <a:ext cx="3962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125" b="1">
                <a:solidFill>
                  <a:srgbClr val="142C48"/>
                </a:solidFill>
              </a:defRPr>
            </a:defPPr>
            <a:lvl1pPr algn="l">
              <a:defRPr sz="4125" b="1">
                <a:solidFill>
                  <a:srgbClr val="142C48"/>
                </a:solidFill>
              </a:defRPr>
            </a:lvl1pPr>
            <a:lvl2pPr algn="l">
              <a:defRPr sz="4125" b="1">
                <a:solidFill>
                  <a:srgbClr val="142C48"/>
                </a:solidFill>
              </a:defRPr>
            </a:lvl2pPr>
            <a:lvl3pPr algn="l">
              <a:defRPr sz="4125" b="1">
                <a:solidFill>
                  <a:srgbClr val="142C48"/>
                </a:solidFill>
              </a:defRPr>
            </a:lvl3pPr>
            <a:lvl4pPr algn="l">
              <a:defRPr sz="4125" b="1">
                <a:solidFill>
                  <a:srgbClr val="142C48"/>
                </a:solidFill>
              </a:defRPr>
            </a:lvl4pPr>
            <a:lvl5pPr algn="l">
              <a:defRPr sz="4125" b="1">
                <a:solidFill>
                  <a:srgbClr val="142C48"/>
                </a:solidFill>
              </a:defRPr>
            </a:lvl5pPr>
            <a:lvl6pPr algn="l">
              <a:defRPr sz="4125" b="1">
                <a:solidFill>
                  <a:srgbClr val="142C48"/>
                </a:solidFill>
              </a:defRPr>
            </a:lvl6pPr>
            <a:lvl7pPr algn="l">
              <a:defRPr sz="4125" b="1">
                <a:solidFill>
                  <a:srgbClr val="142C48"/>
                </a:solidFill>
              </a:defRPr>
            </a:lvl7pPr>
            <a:lvl8pPr algn="l">
              <a:defRPr sz="4125" b="1">
                <a:solidFill>
                  <a:srgbClr val="142C48"/>
                </a:solidFill>
              </a:defRPr>
            </a:lvl8pPr>
            <a:lvl9pPr algn="l">
              <a:defRPr sz="4125" b="1">
                <a:solidFill>
                  <a:srgbClr val="142C48"/>
                </a:solidFill>
              </a:defRPr>
            </a:lvl9pPr>
          </a:lstStyle>
          <a:p xmlns:a="http://schemas.openxmlformats.org/drawingml/2006/main">
            <a:pPr algn="l">
              <a:defRPr sz="4125" b="1">
                <a:solidFill>
                  <a:srgbClr val="142C48"/>
                </a:solidFill>
              </a:defRPr>
            </a:pPr>
            <a:r>
              <a:rPr sz="4125" b="1">
                <a:solidFill>
                  <a:srgbClr val="142C48"/>
                </a:solidFill>
              </a:rPr>
              <a:t>2,705</a:t>
            </a:r>
          </a:p>
        </p:txBody>
      </p:sp>
      <p:sp>
        <p:nvSpPr>
          <p:cNvPr id="11" name="text-9">
            <a:extLst xmlns:a="http://schemas.openxmlformats.org/drawingml/2006/main">
              <a:ext uri="{FF2B5EF4-FFF2-40B4-BE49-F238E27FC236}">
                <a16:creationId xmlns:a16="http://schemas.microsoft.com/office/drawing/2014/main" id="{55580AC2-555E-4067-B981-3B64EA9964B2}"/>
              </a:ext>
            </a:extLst>
          </p:cNvPr>
          <p:cNvSpPr>
            <a:spLocks xmlns:a="http://schemas.openxmlformats.org/drawingml/2006/main" noGrp="1"/>
          </p:cNvSpPr>
          <p:nvPr/>
        </p:nvSpPr>
        <p:spPr>
          <a:xfrm xmlns:a="http://schemas.openxmlformats.org/drawingml/2006/main">
            <a:off x="7620000" y="3019425"/>
            <a:ext cx="3962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customers</a:t>
            </a:r>
          </a:p>
        </p:txBody>
      </p:sp>
      <p:sp>
        <p:nvSpPr>
          <p:cNvPr id="12" name="text-10">
            <a:extLst xmlns:a="http://schemas.openxmlformats.org/drawingml/2006/main">
              <a:ext uri="{FF2B5EF4-FFF2-40B4-BE49-F238E27FC236}">
                <a16:creationId xmlns:a16="http://schemas.microsoft.com/office/drawing/2014/main" id="{515FED2A-DEC8-4140-B4B0-114331E0F5CB}"/>
              </a:ext>
            </a:extLst>
          </p:cNvPr>
          <p:cNvSpPr>
            <a:spLocks xmlns:a="http://schemas.openxmlformats.org/drawingml/2006/main" noGrp="1"/>
          </p:cNvSpPr>
          <p:nvPr/>
        </p:nvSpPr>
        <p:spPr>
          <a:xfrm xmlns:a="http://schemas.openxmlformats.org/drawingml/2006/main">
            <a:off x="7620000" y="3514725"/>
            <a:ext cx="3962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125" b="1">
                <a:solidFill>
                  <a:srgbClr val="F27323"/>
                </a:solidFill>
              </a:defRPr>
            </a:defPPr>
            <a:lvl1pPr algn="l">
              <a:defRPr sz="4125" b="1">
                <a:solidFill>
                  <a:srgbClr val="F27323"/>
                </a:solidFill>
              </a:defRPr>
            </a:lvl1pPr>
            <a:lvl2pPr algn="l">
              <a:defRPr sz="4125" b="1">
                <a:solidFill>
                  <a:srgbClr val="F27323"/>
                </a:solidFill>
              </a:defRPr>
            </a:lvl2pPr>
            <a:lvl3pPr algn="l">
              <a:defRPr sz="4125" b="1">
                <a:solidFill>
                  <a:srgbClr val="F27323"/>
                </a:solidFill>
              </a:defRPr>
            </a:lvl3pPr>
            <a:lvl4pPr algn="l">
              <a:defRPr sz="4125" b="1">
                <a:solidFill>
                  <a:srgbClr val="F27323"/>
                </a:solidFill>
              </a:defRPr>
            </a:lvl4pPr>
            <a:lvl5pPr algn="l">
              <a:defRPr sz="4125" b="1">
                <a:solidFill>
                  <a:srgbClr val="F27323"/>
                </a:solidFill>
              </a:defRPr>
            </a:lvl5pPr>
            <a:lvl6pPr algn="l">
              <a:defRPr sz="4125" b="1">
                <a:solidFill>
                  <a:srgbClr val="F27323"/>
                </a:solidFill>
              </a:defRPr>
            </a:lvl6pPr>
            <a:lvl7pPr algn="l">
              <a:defRPr sz="4125" b="1">
                <a:solidFill>
                  <a:srgbClr val="F27323"/>
                </a:solidFill>
              </a:defRPr>
            </a:lvl7pPr>
            <a:lvl8pPr algn="l">
              <a:defRPr sz="4125" b="1">
                <a:solidFill>
                  <a:srgbClr val="F27323"/>
                </a:solidFill>
              </a:defRPr>
            </a:lvl8pPr>
            <a:lvl9pPr algn="l">
              <a:defRPr sz="4125" b="1">
                <a:solidFill>
                  <a:srgbClr val="F27323"/>
                </a:solidFill>
              </a:defRPr>
            </a:lvl9pPr>
          </a:lstStyle>
          <a:p xmlns:a="http://schemas.openxmlformats.org/drawingml/2006/main">
            <a:pPr algn="l">
              <a:defRPr sz="4125" b="1">
                <a:solidFill>
                  <a:srgbClr val="F27323"/>
                </a:solidFill>
              </a:defRPr>
            </a:pPr>
            <a:r>
              <a:rPr sz="4125" b="1">
                <a:solidFill>
                  <a:srgbClr val="F27323"/>
                </a:solidFill>
              </a:rPr>
              <a:t>207</a:t>
            </a:r>
          </a:p>
        </p:txBody>
      </p:sp>
      <p:sp>
        <p:nvSpPr>
          <p:cNvPr id="13" name="text-11">
            <a:extLst xmlns:a="http://schemas.openxmlformats.org/drawingml/2006/main">
              <a:ext uri="{FF2B5EF4-FFF2-40B4-BE49-F238E27FC236}">
                <a16:creationId xmlns:a16="http://schemas.microsoft.com/office/drawing/2014/main" id="{66BBCD93-1D63-4F2E-B05F-4993DE05BCDB}"/>
              </a:ext>
            </a:extLst>
          </p:cNvPr>
          <p:cNvSpPr>
            <a:spLocks xmlns:a="http://schemas.openxmlformats.org/drawingml/2006/main" noGrp="1"/>
          </p:cNvSpPr>
          <p:nvPr/>
        </p:nvSpPr>
        <p:spPr>
          <a:xfrm xmlns:a="http://schemas.openxmlformats.org/drawingml/2006/main">
            <a:off x="7620000" y="4143375"/>
            <a:ext cx="3962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scores &gt;500 / cases</a:t>
            </a:r>
          </a:p>
        </p:txBody>
      </p:sp>
      <p:sp>
        <p:nvSpPr>
          <p:cNvPr id="14" name="text-12">
            <a:extLst xmlns:a="http://schemas.openxmlformats.org/drawingml/2006/main">
              <a:ext uri="{FF2B5EF4-FFF2-40B4-BE49-F238E27FC236}">
                <a16:creationId xmlns:a16="http://schemas.microsoft.com/office/drawing/2014/main" id="{6E7D7598-5695-4E9E-8C20-05353A2D0C55}"/>
              </a:ext>
            </a:extLst>
          </p:cNvPr>
          <p:cNvSpPr>
            <a:spLocks xmlns:a="http://schemas.openxmlformats.org/drawingml/2006/main" noGrp="1"/>
          </p:cNvSpPr>
          <p:nvPr/>
        </p:nvSpPr>
        <p:spPr>
          <a:xfrm xmlns:a="http://schemas.openxmlformats.org/drawingml/2006/main">
            <a:off x="7620000" y="4714875"/>
            <a:ext cx="3962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142C48"/>
                </a:solidFill>
              </a:defRPr>
            </a:defPPr>
            <a:lvl1pPr algn="l">
              <a:defRPr sz="1725" b="0">
                <a:solidFill>
                  <a:srgbClr val="142C48"/>
                </a:solidFill>
              </a:defRPr>
            </a:lvl1pPr>
            <a:lvl2pPr algn="l">
              <a:defRPr sz="1725" b="0">
                <a:solidFill>
                  <a:srgbClr val="142C48"/>
                </a:solidFill>
              </a:defRPr>
            </a:lvl2pPr>
            <a:lvl3pPr algn="l">
              <a:defRPr sz="1725" b="0">
                <a:solidFill>
                  <a:srgbClr val="142C48"/>
                </a:solidFill>
              </a:defRPr>
            </a:lvl3pPr>
            <a:lvl4pPr algn="l">
              <a:defRPr sz="1725" b="0">
                <a:solidFill>
                  <a:srgbClr val="142C48"/>
                </a:solidFill>
              </a:defRPr>
            </a:lvl4pPr>
            <a:lvl5pPr algn="l">
              <a:defRPr sz="1725" b="0">
                <a:solidFill>
                  <a:srgbClr val="142C48"/>
                </a:solidFill>
              </a:defRPr>
            </a:lvl5pPr>
            <a:lvl6pPr algn="l">
              <a:defRPr sz="1725" b="0">
                <a:solidFill>
                  <a:srgbClr val="142C48"/>
                </a:solidFill>
              </a:defRPr>
            </a:lvl6pPr>
            <a:lvl7pPr algn="l">
              <a:defRPr sz="1725" b="0">
                <a:solidFill>
                  <a:srgbClr val="142C48"/>
                </a:solidFill>
              </a:defRPr>
            </a:lvl7pPr>
            <a:lvl8pPr algn="l">
              <a:defRPr sz="1725" b="0">
                <a:solidFill>
                  <a:srgbClr val="142C48"/>
                </a:solidFill>
              </a:defRPr>
            </a:lvl8pPr>
            <a:lvl9pPr algn="l">
              <a:defRPr sz="1725" b="0">
                <a:solidFill>
                  <a:srgbClr val="142C48"/>
                </a:solidFill>
              </a:defRPr>
            </a:lvl9pPr>
          </a:lstStyle>
          <a:p xmlns:a="http://schemas.openxmlformats.org/drawingml/2006/main">
            <a:pPr algn="l">
              <a:defRPr sz="1725" b="0">
                <a:solidFill>
                  <a:srgbClr val="142C48"/>
                </a:solidFill>
              </a:defRPr>
            </a:pPr>
            <a:r>
              <a:rPr sz="1725" b="0">
                <a:solidFill>
                  <a:srgbClr val="142C48"/>
                </a:solidFill>
              </a:rPr>
              <a:t>Snapshot: 10 October 2026</a:t>
            </a:r>
          </a:p>
          <a:p xmlns:a="http://schemas.openxmlformats.org/drawingml/2006/main">
            <a:pPr algn="l">
              <a:defRPr sz="1725" b="0">
                <a:solidFill>
                  <a:srgbClr val="142C48"/>
                </a:solidFill>
              </a:defRPr>
            </a:pPr>
            <a:r>
              <a:rPr sz="1725" b="0">
                <a:solidFill>
                  <a:srgbClr val="142C48"/>
                </a:solidFill>
              </a:rPr>
              <a:t>Window: [11 Oct, 11 Nov)</a:t>
            </a:r>
          </a:p>
          <a:p xmlns:a="http://schemas.openxmlformats.org/drawingml/2006/main">
            <a:pPr algn="l">
              <a:defRPr sz="1725" b="0">
                <a:solidFill>
                  <a:srgbClr val="142C48"/>
                </a:solidFill>
              </a:defRPr>
            </a:pPr>
            <a:r>
              <a:rPr sz="1725" b="0">
                <a:solidFill>
                  <a:srgbClr val="142C48"/>
                </a:solidFill>
              </a:rPr>
              <a:t>Outcome: Unknown</a:t>
            </a:r>
          </a:p>
        </p:txBody>
      </p:sp>
      <p:sp>
        <p:nvSpPr>
          <p:cNvPr id="15" name="text-13">
            <a:extLst xmlns:a="http://schemas.openxmlformats.org/drawingml/2006/main">
              <a:ext uri="{FF2B5EF4-FFF2-40B4-BE49-F238E27FC236}">
                <a16:creationId xmlns:a16="http://schemas.microsoft.com/office/drawing/2014/main" id="{CE0C3525-B99F-41AD-82D6-9568938D06C7}"/>
              </a:ext>
            </a:extLst>
          </p:cNvPr>
          <p:cNvSpPr>
            <a:spLocks xmlns:a="http://schemas.openxmlformats.org/drawingml/2006/main" noGrp="1"/>
          </p:cNvSpPr>
          <p:nvPr/>
        </p:nvSpPr>
        <p:spPr>
          <a:xfrm xmlns:a="http://schemas.openxmlformats.org/drawingml/2006/main">
            <a:off x="609600" y="58102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1">
                <a:solidFill>
                  <a:srgbClr val="0D69B3"/>
                </a:solidFill>
              </a:defRPr>
            </a:defPPr>
            <a:lvl1pPr algn="l">
              <a:defRPr sz="1725" b="1">
                <a:solidFill>
                  <a:srgbClr val="0D69B3"/>
                </a:solidFill>
              </a:defRPr>
            </a:lvl1pPr>
            <a:lvl2pPr algn="l">
              <a:defRPr sz="1725" b="1">
                <a:solidFill>
                  <a:srgbClr val="0D69B3"/>
                </a:solidFill>
              </a:defRPr>
            </a:lvl2pPr>
            <a:lvl3pPr algn="l">
              <a:defRPr sz="1725" b="1">
                <a:solidFill>
                  <a:srgbClr val="0D69B3"/>
                </a:solidFill>
              </a:defRPr>
            </a:lvl3pPr>
            <a:lvl4pPr algn="l">
              <a:defRPr sz="1725" b="1">
                <a:solidFill>
                  <a:srgbClr val="0D69B3"/>
                </a:solidFill>
              </a:defRPr>
            </a:lvl4pPr>
            <a:lvl5pPr algn="l">
              <a:defRPr sz="1725" b="1">
                <a:solidFill>
                  <a:srgbClr val="0D69B3"/>
                </a:solidFill>
              </a:defRPr>
            </a:lvl5pPr>
            <a:lvl6pPr algn="l">
              <a:defRPr sz="1725" b="1">
                <a:solidFill>
                  <a:srgbClr val="0D69B3"/>
                </a:solidFill>
              </a:defRPr>
            </a:lvl6pPr>
            <a:lvl7pPr algn="l">
              <a:defRPr sz="1725" b="1">
                <a:solidFill>
                  <a:srgbClr val="0D69B3"/>
                </a:solidFill>
              </a:defRPr>
            </a:lvl7pPr>
            <a:lvl8pPr algn="l">
              <a:defRPr sz="1725" b="1">
                <a:solidFill>
                  <a:srgbClr val="0D69B3"/>
                </a:solidFill>
              </a:defRPr>
            </a:lvl8pPr>
            <a:lvl9pPr algn="l">
              <a:defRPr sz="1725" b="1">
                <a:solidFill>
                  <a:srgbClr val="0D69B3"/>
                </a:solidFill>
              </a:defRPr>
            </a:lvl9pPr>
          </a:lstStyle>
          <a:p xmlns:a="http://schemas.openxmlformats.org/drawingml/2006/main">
            <a:pPr algn="l">
              <a:defRPr sz="1725" b="1">
                <a:solidFill>
                  <a:srgbClr val="0D69B3"/>
                </a:solidFill>
              </a:defRPr>
            </a:pPr>
            <a:r>
              <a:rPr sz="1725" b="1">
                <a:solidFill>
                  <a:srgbClr val="0D69B3"/>
                </a:solidFill>
              </a:rPr>
              <a:t>Narrated walkthrough: review context, prepare, approve, exchange, follow up.</a:t>
            </a:r>
          </a:p>
        </p:txBody>
      </p:sp>
    </p:spTree>
    <p:extLst>
      <p:ext uri="{BB962C8B-B14F-4D97-AF65-F5344CB8AC3E}">
        <p14:creationId xmlns:p14="http://schemas.microsoft.com/office/powerpoint/2010/main" val="18003261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0B7AE29-657E-4A5B-8CF6-769F1D230A47}"/>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METHOD</a:t>
            </a:r>
          </a:p>
        </p:txBody>
      </p:sp>
      <p:sp>
        <p:nvSpPr>
          <p:cNvPr id="2" name="text-1">
            <a:extLst xmlns:a="http://schemas.openxmlformats.org/drawingml/2006/main">
              <a:ext uri="{FF2B5EF4-FFF2-40B4-BE49-F238E27FC236}">
                <a16:creationId xmlns:a16="http://schemas.microsoft.com/office/drawing/2014/main" id="{4F77854B-F2BA-4BAB-8F4A-2102F59A60C1}"/>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Model Development and Evaluation Design</a:t>
            </a:r>
          </a:p>
        </p:txBody>
      </p:sp>
      <p:sp>
        <p:nvSpPr>
          <p:cNvPr id="3" name="">
            <a:extLst xmlns:a="http://schemas.openxmlformats.org/drawingml/2006/main">
              <a:ext uri="{FF2B5EF4-FFF2-40B4-BE49-F238E27FC236}">
                <a16:creationId xmlns:a16="http://schemas.microsoft.com/office/drawing/2014/main" id="{2D0E14FC-BC41-41E5-B904-955329B7242B}"/>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0E4781C-6D4B-42BB-889A-EB8F14C4A946}"/>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61335F6F-5ABD-45F1-939A-6D8EB6F9670A}"/>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ml/README.md, DATA_ML.md and v5 split_summary.csv. Repeated windows are not independent customer experiments.</a:t>
            </a:r>
          </a:p>
        </p:txBody>
      </p:sp>
      <p:sp>
        <p:nvSpPr>
          <p:cNvPr id="6" name="text-5">
            <a:extLst xmlns:a="http://schemas.openxmlformats.org/drawingml/2006/main">
              <a:ext uri="{FF2B5EF4-FFF2-40B4-BE49-F238E27FC236}">
                <a16:creationId xmlns:a16="http://schemas.microsoft.com/office/drawing/2014/main" id="{7377BC97-FFD0-4F8F-95EB-CA9B9BE46AB3}"/>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14 / 24</a:t>
            </a:r>
          </a:p>
        </p:txBody>
      </p:sp>
      <p:graphicFrame>
        <p:nvGraphicFramePr>
          <p:cNvPr id="7" name="">
            <a:extLst xmlns:a="http://schemas.openxmlformats.org/drawingml/2006/main">
              <a:ext uri="{FF2B5EF4-FFF2-40B4-BE49-F238E27FC236}">
                <a16:creationId xmlns:a16="http://schemas.microsoft.com/office/drawing/2014/main" id="{F534C7AA-7809-4545-86C4-AC06627F672F}"/>
              </a:ext>
            </a:extLst>
          </p:cNvPr>
          <p:cNvGraphicFramePr/>
          <p:nvPr/>
        </p:nvGraphicFramePr>
        <p:xfrm>
          <a:off xmlns:a="http://schemas.openxmlformats.org/drawingml/2006/main" x="609600" y="1752600"/>
          <a:ext xmlns:a="http://schemas.openxmlformats.org/drawingml/2006/main" cx="10972800" cy="3819525"/>
        </p:xfrm>
        <a:graphic xmlns:a="http://schemas.openxmlformats.org/drawingml/2006/main">
          <a:graphicData uri="http://schemas.openxmlformats.org/drawingml/2006/table">
            <a:tbl>
              <a:tblPr/>
              <a:tblGrid>
                <a:gridCol w="2476500"/>
                <a:gridCol w="8496300"/>
              </a:tblGrid>
              <a:tr h="495300">
                <a:tc>
                  <a:txBody>
                    <a:bodyPr/>
                    <a:lstStyle/>
                    <a:p>
                      <a:r>
                        <a:rPr sz="1725" b="1">
                          <a:solidFill>
                            <a:srgbClr val="0D69B3"/>
                          </a:solidFill>
                        </a:rPr>
                        <a:t>Stage</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725" b="1">
                          <a:solidFill>
                            <a:srgbClr val="0D69B3"/>
                          </a:solidFill>
                        </a:rPr>
                        <a:t>V5 protocol</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554038">
                <a:tc>
                  <a:txBody>
                    <a:bodyPr/>
                    <a:lstStyle/>
                    <a:p>
                      <a:r>
                        <a:rPr sz="1725" b="1">
                          <a:solidFill>
                            <a:srgbClr val="142C48"/>
                          </a:solidFill>
                        </a:rPr>
                        <a:t>Training</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Development customers; target windows ending by 1 July</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54038">
                <a:tc>
                  <a:txBody>
                    <a:bodyPr/>
                    <a:lstStyle/>
                    <a:p>
                      <a:r>
                        <a:rPr sz="1725" b="1">
                          <a:solidFill>
                            <a:srgbClr val="142C48"/>
                          </a:solidFill>
                        </a:rPr>
                        <a:t>Tuning</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30 trials per family; 3 purged chronological folds; mean ROC AUC</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54038">
                <a:tc>
                  <a:txBody>
                    <a:bodyPr/>
                    <a:lstStyle/>
                    <a:p>
                      <a:r>
                        <a:rPr sz="1725" b="1">
                          <a:solidFill>
                            <a:srgbClr val="142C48"/>
                          </a:solidFill>
                        </a:rPr>
                        <a:t>Validation</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July-start windows; select between the 2 tuned candidates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54038">
                <a:tc>
                  <a:txBody>
                    <a:bodyPr/>
                    <a:lstStyle/>
                    <a:p>
                      <a:r>
                        <a:rPr sz="1725" b="1">
                          <a:solidFill>
                            <a:srgbClr val="142C48"/>
                          </a:solidFill>
                        </a:rPr>
                        <a:t>Calibration</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Separate customers; 5-fold customer-grouped OOF</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54038">
                <a:tc>
                  <a:txBody>
                    <a:bodyPr/>
                    <a:lstStyle/>
                    <a:p>
                      <a:r>
                        <a:rPr sz="1725" b="1">
                          <a:solidFill>
                            <a:srgbClr val="142C48"/>
                          </a:solidFill>
                        </a:rPr>
                        <a:t>Exploratory test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Audit customers; windows starting 1 and 11 September</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554038">
                <a:tc>
                  <a:txBody>
                    <a:bodyPr/>
                    <a:lstStyle/>
                    <a:p>
                      <a:r>
                        <a:rPr sz="1725" b="1">
                          <a:solidFill>
                            <a:srgbClr val="142C48"/>
                          </a:solidFill>
                        </a:rPr>
                        <a:t>Current inference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October-start windows; incomplete outcomes stay Unknown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42729A10-883C-4FC8-B581-65AC79B74621}"/>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Purge by target-window end. Lock selection before test scoring.</a:t>
            </a:r>
          </a:p>
        </p:txBody>
      </p:sp>
    </p:spTree>
    <p:extLst>
      <p:ext uri="{BB962C8B-B14F-4D97-AF65-F5344CB8AC3E}">
        <p14:creationId xmlns:p14="http://schemas.microsoft.com/office/powerpoint/2010/main" val="54478851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BEF4596-9D6C-4413-B275-14C5933AB1EF}"/>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METHOD</a:t>
            </a:r>
          </a:p>
        </p:txBody>
      </p:sp>
      <p:sp>
        <p:nvSpPr>
          <p:cNvPr id="2" name="text-1">
            <a:extLst xmlns:a="http://schemas.openxmlformats.org/drawingml/2006/main">
              <a:ext uri="{FF2B5EF4-FFF2-40B4-BE49-F238E27FC236}">
                <a16:creationId xmlns:a16="http://schemas.microsoft.com/office/drawing/2014/main" id="{A60E1687-AAAA-4A1D-A94B-7206D3EBCF16}"/>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Model Results and Selection</a:t>
            </a:r>
          </a:p>
        </p:txBody>
      </p:sp>
      <p:sp>
        <p:nvSpPr>
          <p:cNvPr id="3" name="">
            <a:extLst xmlns:a="http://schemas.openxmlformats.org/drawingml/2006/main">
              <a:ext uri="{FF2B5EF4-FFF2-40B4-BE49-F238E27FC236}">
                <a16:creationId xmlns:a16="http://schemas.microsoft.com/office/drawing/2014/main" id="{C0FD3514-9AF9-42E2-AE92-65D56CF4632B}"/>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1C6E516-03DA-40F5-8F91-AD2B3B65CE03}"/>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442B31C7-59EA-4DE6-9B38-AB7C64D9C4F3}"/>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docs/evidence/ml/rolling_month_v5/comparison.csv. Synthetic results; ROC AUC measures ranking, not accuracy or impact.</a:t>
            </a:r>
          </a:p>
        </p:txBody>
      </p:sp>
      <p:sp>
        <p:nvSpPr>
          <p:cNvPr id="6" name="text-5">
            <a:extLst xmlns:a="http://schemas.openxmlformats.org/drawingml/2006/main">
              <a:ext uri="{FF2B5EF4-FFF2-40B4-BE49-F238E27FC236}">
                <a16:creationId xmlns:a16="http://schemas.microsoft.com/office/drawing/2014/main" id="{31F6E47E-6754-4C96-93F3-135A6F6DF8FB}"/>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15 / 24</a:t>
            </a:r>
          </a:p>
        </p:txBody>
      </p:sp>
      <p:graphicFrame>
        <p:nvGraphicFramePr>
          <p:cNvPr id="7" name="">
            <a:extLst xmlns:a="http://schemas.openxmlformats.org/drawingml/2006/main">
              <a:ext uri="{FF2B5EF4-FFF2-40B4-BE49-F238E27FC236}">
                <a16:creationId xmlns:a16="http://schemas.microsoft.com/office/drawing/2014/main" id="{701A0A7C-2F47-4537-8C3A-EBBC38EBF79C}"/>
              </a:ext>
            </a:extLst>
          </p:cNvPr>
          <p:cNvGraphicFramePr/>
          <p:nvPr/>
        </p:nvGraphicFramePr>
        <p:xfrm>
          <a:off xmlns:a="http://schemas.openxmlformats.org/drawingml/2006/main" x="609600" y="1943100"/>
          <a:ext xmlns:a="http://schemas.openxmlformats.org/drawingml/2006/main" cx="10972800" cy="3105150"/>
        </p:xfrm>
        <a:graphic xmlns:a="http://schemas.openxmlformats.org/drawingml/2006/main">
          <a:graphicData uri="http://schemas.openxmlformats.org/drawingml/2006/table">
            <a:tbl>
              <a:tblPr/>
              <a:tblGrid>
                <a:gridCol w="4857750"/>
                <a:gridCol w="2038350"/>
                <a:gridCol w="2038350"/>
                <a:gridCol w="2038350"/>
              </a:tblGrid>
              <a:tr h="495300">
                <a:tc>
                  <a:txBody>
                    <a:bodyPr/>
                    <a:lstStyle/>
                    <a:p>
                      <a:r>
                        <a:rPr sz="2025" b="1">
                          <a:solidFill>
                            <a:srgbClr val="0D69B3"/>
                          </a:solidFill>
                        </a:rPr>
                        <a:t>Candidate</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2025" b="1">
                          <a:solidFill>
                            <a:srgbClr val="0D69B3"/>
                          </a:solidFill>
                        </a:rPr>
                        <a:t>Validation AUC</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2025" b="1">
                          <a:solidFill>
                            <a:srgbClr val="0D69B3"/>
                          </a:solidFill>
                        </a:rPr>
                        <a:t>Test AUC*</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2025" b="1">
                          <a:solidFill>
                            <a:srgbClr val="0D69B3"/>
                          </a:solidFill>
                        </a:rPr>
                        <a:t>Test AP*</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652463">
                <a:tc>
                  <a:txBody>
                    <a:bodyPr/>
                    <a:lstStyle/>
                    <a:p>
                      <a:r>
                        <a:rPr sz="2025" b="1">
                          <a:solidFill>
                            <a:srgbClr val="142C48"/>
                          </a:solidFill>
                        </a:rPr>
                        <a:t>LightGBM baseline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2025" b="0">
                          <a:solidFill>
                            <a:srgbClr val="142C48"/>
                          </a:solidFill>
                        </a:rPr>
                        <a:t>0.9469</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2025" b="0">
                          <a:solidFill>
                            <a:srgbClr val="142C48"/>
                          </a:solidFill>
                        </a:rPr>
                        <a:t>0.9473</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2025" b="0">
                          <a:solidFill>
                            <a:srgbClr val="142C48"/>
                          </a:solidFill>
                        </a:rPr>
                        <a:t>0.7166</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52463">
                <a:tc>
                  <a:txBody>
                    <a:bodyPr/>
                    <a:lstStyle/>
                    <a:p>
                      <a:r>
                        <a:rPr sz="2025" b="1">
                          <a:solidFill>
                            <a:srgbClr val="142C48"/>
                          </a:solidFill>
                        </a:rPr>
                        <a:t>LightGBM tuned — selected</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3E9"/>
                    </a:solidFill>
                  </a:tcPr>
                </a:tc>
                <a:tc>
                  <a:txBody>
                    <a:bodyPr/>
                    <a:lstStyle/>
                    <a:p>
                      <a:r>
                        <a:rPr sz="2025" b="0">
                          <a:solidFill>
                            <a:srgbClr val="142C48"/>
                          </a:solidFill>
                        </a:rPr>
                        <a:t>0.9483</a:t>
                      </a:r>
                    </a:p>
                  </a:txBody>
                  <a:tcPr marL="114300" marR="114300" marT="76200" marB="66675" anchor="ctr">
                    <a:lnR w="4763">
                      <a:solidFill>
                        <a:srgbClr val="DAE3EB"/>
                      </a:solidFill>
                      <a:prstDash val="solid"/>
                    </a:lnR>
                    <a:lnB w="4763">
                      <a:solidFill>
                        <a:srgbClr val="DAE3EB"/>
                      </a:solidFill>
                      <a:prstDash val="solid"/>
                    </a:lnB>
                    <a:solidFill>
                      <a:srgbClr val="FFF3E9"/>
                    </a:solidFill>
                  </a:tcPr>
                </a:tc>
                <a:tc>
                  <a:txBody>
                    <a:bodyPr/>
                    <a:lstStyle/>
                    <a:p>
                      <a:r>
                        <a:rPr sz="2025" b="0">
                          <a:solidFill>
                            <a:srgbClr val="142C48"/>
                          </a:solidFill>
                        </a:rPr>
                        <a:t>0.9467</a:t>
                      </a:r>
                    </a:p>
                  </a:txBody>
                  <a:tcPr marL="114300" marR="114300" marT="76200" marB="66675" anchor="ctr">
                    <a:lnR w="4763">
                      <a:solidFill>
                        <a:srgbClr val="DAE3EB"/>
                      </a:solidFill>
                      <a:prstDash val="solid"/>
                    </a:lnR>
                    <a:lnB w="4763">
                      <a:solidFill>
                        <a:srgbClr val="DAE3EB"/>
                      </a:solidFill>
                      <a:prstDash val="solid"/>
                    </a:lnB>
                    <a:solidFill>
                      <a:srgbClr val="FFF3E9"/>
                    </a:solidFill>
                  </a:tcPr>
                </a:tc>
                <a:tc>
                  <a:txBody>
                    <a:bodyPr/>
                    <a:lstStyle/>
                    <a:p>
                      <a:r>
                        <a:rPr sz="2025" b="0">
                          <a:solidFill>
                            <a:srgbClr val="142C48"/>
                          </a:solidFill>
                        </a:rPr>
                        <a:t>0.7138</a:t>
                      </a:r>
                    </a:p>
                  </a:txBody>
                  <a:tcPr marL="114300" marR="114300" marT="76200" marB="66675" anchor="ctr">
                    <a:lnR w="4763">
                      <a:solidFill>
                        <a:srgbClr val="DAE3EB"/>
                      </a:solidFill>
                      <a:prstDash val="solid"/>
                    </a:lnR>
                    <a:lnB w="4763">
                      <a:solidFill>
                        <a:srgbClr val="DAE3EB"/>
                      </a:solidFill>
                      <a:prstDash val="solid"/>
                    </a:lnB>
                    <a:solidFill>
                      <a:srgbClr val="FFF3E9"/>
                    </a:solidFill>
                  </a:tcPr>
                </a:tc>
              </a:tr>
              <a:tr h="652463">
                <a:tc>
                  <a:txBody>
                    <a:bodyPr/>
                    <a:lstStyle/>
                    <a:p>
                      <a:r>
                        <a:rPr sz="2025" b="1">
                          <a:solidFill>
                            <a:srgbClr val="142C48"/>
                          </a:solidFill>
                        </a:rPr>
                        <a:t>CatBoost baseline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2025" b="0">
                          <a:solidFill>
                            <a:srgbClr val="142C48"/>
                          </a:solidFill>
                        </a:rPr>
                        <a:t>0.9365</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2025" b="0">
                          <a:solidFill>
                            <a:srgbClr val="142C48"/>
                          </a:solidFill>
                        </a:rPr>
                        <a:t>0.9374</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2025" b="0">
                          <a:solidFill>
                            <a:srgbClr val="142C48"/>
                          </a:solidFill>
                        </a:rPr>
                        <a:t>0.7183</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52463">
                <a:tc>
                  <a:txBody>
                    <a:bodyPr/>
                    <a:lstStyle/>
                    <a:p>
                      <a:r>
                        <a:rPr sz="2025" b="1">
                          <a:solidFill>
                            <a:srgbClr val="142C48"/>
                          </a:solidFill>
                        </a:rPr>
                        <a:t>CatBoost tuned</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2025" b="0">
                          <a:solidFill>
                            <a:srgbClr val="142C48"/>
                          </a:solidFill>
                        </a:rPr>
                        <a:t>0.9356</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2025" b="0">
                          <a:solidFill>
                            <a:srgbClr val="142C48"/>
                          </a:solidFill>
                        </a:rPr>
                        <a:t>0.9348</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2025" b="0">
                          <a:solidFill>
                            <a:srgbClr val="142C48"/>
                          </a:solidFill>
                        </a:rPr>
                        <a:t>0.7253</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FC0BE4D1-7D88-4847-A096-7530EE6EFDE1}"/>
              </a:ext>
            </a:extLst>
          </p:cNvPr>
          <p:cNvSpPr>
            <a:spLocks xmlns:a="http://schemas.openxmlformats.org/drawingml/2006/main" noGrp="1"/>
          </p:cNvSpPr>
          <p:nvPr/>
        </p:nvSpPr>
        <p:spPr>
          <a:xfrm xmlns:a="http://schemas.openxmlformats.org/drawingml/2006/main">
            <a:off x="609600" y="531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0D69B3"/>
                </a:solidFill>
              </a:defRPr>
            </a:defPPr>
            <a:lvl1pPr algn="l">
              <a:defRPr sz="1950" b="1">
                <a:solidFill>
                  <a:srgbClr val="0D69B3"/>
                </a:solidFill>
              </a:defRPr>
            </a:lvl1pPr>
            <a:lvl2pPr algn="l">
              <a:defRPr sz="1950" b="1">
                <a:solidFill>
                  <a:srgbClr val="0D69B3"/>
                </a:solidFill>
              </a:defRPr>
            </a:lvl2pPr>
            <a:lvl3pPr algn="l">
              <a:defRPr sz="1950" b="1">
                <a:solidFill>
                  <a:srgbClr val="0D69B3"/>
                </a:solidFill>
              </a:defRPr>
            </a:lvl3pPr>
            <a:lvl4pPr algn="l">
              <a:defRPr sz="1950" b="1">
                <a:solidFill>
                  <a:srgbClr val="0D69B3"/>
                </a:solidFill>
              </a:defRPr>
            </a:lvl4pPr>
            <a:lvl5pPr algn="l">
              <a:defRPr sz="1950" b="1">
                <a:solidFill>
                  <a:srgbClr val="0D69B3"/>
                </a:solidFill>
              </a:defRPr>
            </a:lvl5pPr>
            <a:lvl6pPr algn="l">
              <a:defRPr sz="1950" b="1">
                <a:solidFill>
                  <a:srgbClr val="0D69B3"/>
                </a:solidFill>
              </a:defRPr>
            </a:lvl6pPr>
            <a:lvl7pPr algn="l">
              <a:defRPr sz="1950" b="1">
                <a:solidFill>
                  <a:srgbClr val="0D69B3"/>
                </a:solidFill>
              </a:defRPr>
            </a:lvl7pPr>
            <a:lvl8pPr algn="l">
              <a:defRPr sz="1950" b="1">
                <a:solidFill>
                  <a:srgbClr val="0D69B3"/>
                </a:solidFill>
              </a:defRPr>
            </a:lvl8pPr>
            <a:lvl9pPr algn="l">
              <a:defRPr sz="1950" b="1">
                <a:solidFill>
                  <a:srgbClr val="0D69B3"/>
                </a:solidFill>
              </a:defRPr>
            </a:lvl9pPr>
          </a:lstStyle>
          <a:p xmlns:a="http://schemas.openxmlformats.org/drawingml/2006/main">
            <a:pPr algn="l">
              <a:defRPr sz="1950" b="1">
                <a:solidFill>
                  <a:srgbClr val="0D69B3"/>
                </a:solidFill>
              </a:defRPr>
            </a:pPr>
            <a:r>
              <a:rPr sz="1950" b="1">
                <a:solidFill>
                  <a:srgbClr val="0D69B3"/>
                </a:solidFill>
              </a:rPr>
              <a:t>Selected by validation ROC AUC among the two tuned candidates.</a:t>
            </a:r>
          </a:p>
        </p:txBody>
      </p:sp>
      <p:sp>
        <p:nvSpPr>
          <p:cNvPr id="9" name="text-7">
            <a:extLst xmlns:a="http://schemas.openxmlformats.org/drawingml/2006/main">
              <a:ext uri="{FF2B5EF4-FFF2-40B4-BE49-F238E27FC236}">
                <a16:creationId xmlns:a16="http://schemas.microsoft.com/office/drawing/2014/main" id="{06DD2671-19D8-4D65-9F0F-49289475B66E}"/>
              </a:ext>
            </a:extLst>
          </p:cNvPr>
          <p:cNvSpPr>
            <a:spLocks xmlns:a="http://schemas.openxmlformats.org/drawingml/2006/main" noGrp="1"/>
          </p:cNvSpPr>
          <p:nvPr/>
        </p:nvSpPr>
        <p:spPr>
          <a:xfrm xmlns:a="http://schemas.openxmlformats.org/drawingml/2006/main">
            <a:off x="609600" y="58293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1738A"/>
                </a:solidFill>
              </a:defRPr>
            </a:defPPr>
            <a:lvl1pPr algn="l">
              <a:defRPr sz="1650" b="0">
                <a:solidFill>
                  <a:srgbClr val="61738A"/>
                </a:solidFill>
              </a:defRPr>
            </a:lvl1pPr>
            <a:lvl2pPr algn="l">
              <a:defRPr sz="1650" b="0">
                <a:solidFill>
                  <a:srgbClr val="61738A"/>
                </a:solidFill>
              </a:defRPr>
            </a:lvl2pPr>
            <a:lvl3pPr algn="l">
              <a:defRPr sz="1650" b="0">
                <a:solidFill>
                  <a:srgbClr val="61738A"/>
                </a:solidFill>
              </a:defRPr>
            </a:lvl3pPr>
            <a:lvl4pPr algn="l">
              <a:defRPr sz="1650" b="0">
                <a:solidFill>
                  <a:srgbClr val="61738A"/>
                </a:solidFill>
              </a:defRPr>
            </a:lvl4pPr>
            <a:lvl5pPr algn="l">
              <a:defRPr sz="1650" b="0">
                <a:solidFill>
                  <a:srgbClr val="61738A"/>
                </a:solidFill>
              </a:defRPr>
            </a:lvl5pPr>
            <a:lvl6pPr algn="l">
              <a:defRPr sz="1650" b="0">
                <a:solidFill>
                  <a:srgbClr val="61738A"/>
                </a:solidFill>
              </a:defRPr>
            </a:lvl6pPr>
            <a:lvl7pPr algn="l">
              <a:defRPr sz="1650" b="0">
                <a:solidFill>
                  <a:srgbClr val="61738A"/>
                </a:solidFill>
              </a:defRPr>
            </a:lvl7pPr>
            <a:lvl8pPr algn="l">
              <a:defRPr sz="1650" b="0">
                <a:solidFill>
                  <a:srgbClr val="61738A"/>
                </a:solidFill>
              </a:defRPr>
            </a:lvl8pPr>
            <a:lvl9pPr algn="l">
              <a:defRPr sz="1650" b="0">
                <a:solidFill>
                  <a:srgbClr val="61738A"/>
                </a:solidFill>
              </a:defRPr>
            </a:lvl9pPr>
          </a:lstStyle>
          <a:p xmlns:a="http://schemas.openxmlformats.org/drawingml/2006/main">
            <a:pPr algn="l">
              <a:defRPr sz="1650" b="0">
                <a:solidFill>
                  <a:srgbClr val="61738A"/>
                </a:solidFill>
              </a:defRPr>
            </a:pPr>
            <a:r>
              <a:rPr sz="1650" b="0">
                <a:solidFill>
                  <a:srgbClr val="61738A"/>
                </a:solidFill>
              </a:rPr>
              <a:t>*Exploratory test. Latest inference: 207 alerts / 2,705 customers; outcome Unknown.</a:t>
            </a:r>
          </a:p>
        </p:txBody>
      </p:sp>
    </p:spTree>
    <p:extLst>
      <p:ext uri="{BB962C8B-B14F-4D97-AF65-F5344CB8AC3E}">
        <p14:creationId xmlns:p14="http://schemas.microsoft.com/office/powerpoint/2010/main" val="19902762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9D3C098C-0333-4E83-9F50-14D53843E3B3}"/>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METHOD</a:t>
            </a:r>
          </a:p>
        </p:txBody>
      </p:sp>
      <p:sp>
        <p:nvSpPr>
          <p:cNvPr id="2" name="text-1">
            <a:extLst xmlns:a="http://schemas.openxmlformats.org/drawingml/2006/main">
              <a:ext uri="{FF2B5EF4-FFF2-40B4-BE49-F238E27FC236}">
                <a16:creationId xmlns:a16="http://schemas.microsoft.com/office/drawing/2014/main" id="{9DC8C17C-FBB3-4E8B-8E21-ED9C7019EADF}"/>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Risk Explanations</a:t>
            </a:r>
          </a:p>
        </p:txBody>
      </p:sp>
      <p:sp>
        <p:nvSpPr>
          <p:cNvPr id="3" name="">
            <a:extLst xmlns:a="http://schemas.openxmlformats.org/drawingml/2006/main">
              <a:ext uri="{FF2B5EF4-FFF2-40B4-BE49-F238E27FC236}">
                <a16:creationId xmlns:a16="http://schemas.microsoft.com/office/drawing/2014/main" id="{22E5DB91-9C31-42A8-BD9B-5D5C13070A06}"/>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874DB58-712B-417A-8BA6-D39CC1E23AA9}"/>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BFD313DD-5511-4C1A-BD6B-D929115F0721}"/>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v5 SHAP chart_data.json. Highest-scoring synthetic profile, purposefully selected; calibrated log-odds, not probability shares.</a:t>
            </a:r>
          </a:p>
        </p:txBody>
      </p:sp>
      <p:sp>
        <p:nvSpPr>
          <p:cNvPr id="6" name="text-5">
            <a:extLst xmlns:a="http://schemas.openxmlformats.org/drawingml/2006/main">
              <a:ext uri="{FF2B5EF4-FFF2-40B4-BE49-F238E27FC236}">
                <a16:creationId xmlns:a16="http://schemas.microsoft.com/office/drawing/2014/main" id="{ACBC66D4-34FC-4729-A156-9A051EBEF7F6}"/>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16 / 24</a:t>
            </a:r>
          </a:p>
        </p:txBody>
      </p:sp>
      <p:graphicFrame>
        <p:nvGraphicFramePr>
          <p:cNvPr id="7" name="Chart">
            <a:extLst xmlns:a="http://schemas.openxmlformats.org/drawingml/2006/main">
              <a:ext uri="{FF2B5EF4-FFF2-40B4-BE49-F238E27FC236}">
                <a16:creationId xmlns:a16="http://schemas.microsoft.com/office/drawing/2014/main" id="{4A415CC2-E9D5-4E3C-9060-44794E1F703A}"/>
              </a:ext>
            </a:extLst>
          </p:cNvPr>
          <p:cNvGraphicFramePr/>
          <p:nvPr/>
        </p:nvGraphicFramePr>
        <p:xfrm>
          <a:off xmlns:a="http://schemas.openxmlformats.org/drawingml/2006/main" x="609600" y="1914525"/>
          <a:ext xmlns:a="http://schemas.openxmlformats.org/drawingml/2006/main" cx="6477000" cy="3457575"/>
        </p:xfrm>
        <a:graphic xmlns:a="http://schemas.openxmlformats.org/drawingml/2006/main">
          <a:graphicData uri="http://schemas.openxmlformats.org/drawingml/2006/chart">
            <c:chart xmlns:r="http://schemas.openxmlformats.org/officeDocument/2006/relationships" xmlns:c="http://schemas.openxmlformats.org/drawingml/2006/chart" r:id="R3ae0dfcfa6f34dc1"/>
          </a:graphicData>
        </a:graphic>
      </p:graphicFrame>
      <p:sp>
        <p:nvSpPr>
          <p:cNvPr id="8" name="text-6">
            <a:extLst xmlns:a="http://schemas.openxmlformats.org/drawingml/2006/main">
              <a:ext uri="{FF2B5EF4-FFF2-40B4-BE49-F238E27FC236}">
                <a16:creationId xmlns:a16="http://schemas.microsoft.com/office/drawing/2014/main" id="{A5AEF726-1394-41B8-891E-A189BA6993FA}"/>
              </a:ext>
            </a:extLst>
          </p:cNvPr>
          <p:cNvSpPr>
            <a:spLocks xmlns:a="http://schemas.openxmlformats.org/drawingml/2006/main" noGrp="1"/>
          </p:cNvSpPr>
          <p:nvPr/>
        </p:nvSpPr>
        <p:spPr>
          <a:xfrm xmlns:a="http://schemas.openxmlformats.org/drawingml/2006/main">
            <a:off x="609600" y="545782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61738A"/>
                </a:solidFill>
              </a:defRPr>
            </a:defPPr>
            <a:lvl1pPr algn="l">
              <a:defRPr sz="1350" b="0">
                <a:solidFill>
                  <a:srgbClr val="61738A"/>
                </a:solidFill>
              </a:defRPr>
            </a:lvl1pPr>
            <a:lvl2pPr algn="l">
              <a:defRPr sz="1350" b="0">
                <a:solidFill>
                  <a:srgbClr val="61738A"/>
                </a:solidFill>
              </a:defRPr>
            </a:lvl2pPr>
            <a:lvl3pPr algn="l">
              <a:defRPr sz="1350" b="0">
                <a:solidFill>
                  <a:srgbClr val="61738A"/>
                </a:solidFill>
              </a:defRPr>
            </a:lvl3pPr>
            <a:lvl4pPr algn="l">
              <a:defRPr sz="1350" b="0">
                <a:solidFill>
                  <a:srgbClr val="61738A"/>
                </a:solidFill>
              </a:defRPr>
            </a:lvl4pPr>
            <a:lvl5pPr algn="l">
              <a:defRPr sz="1350" b="0">
                <a:solidFill>
                  <a:srgbClr val="61738A"/>
                </a:solidFill>
              </a:defRPr>
            </a:lvl5pPr>
            <a:lvl6pPr algn="l">
              <a:defRPr sz="1350" b="0">
                <a:solidFill>
                  <a:srgbClr val="61738A"/>
                </a:solidFill>
              </a:defRPr>
            </a:lvl6pPr>
            <a:lvl7pPr algn="l">
              <a:defRPr sz="1350" b="0">
                <a:solidFill>
                  <a:srgbClr val="61738A"/>
                </a:solidFill>
              </a:defRPr>
            </a:lvl7pPr>
            <a:lvl8pPr algn="l">
              <a:defRPr sz="1350" b="0">
                <a:solidFill>
                  <a:srgbClr val="61738A"/>
                </a:solidFill>
              </a:defRPr>
            </a:lvl8pPr>
            <a:lvl9pPr algn="l">
              <a:defRPr sz="1350" b="0">
                <a:solidFill>
                  <a:srgbClr val="61738A"/>
                </a:solidFill>
              </a:defRPr>
            </a:lvl9pPr>
          </a:lstStyle>
          <a:p xmlns:a="http://schemas.openxmlformats.org/drawingml/2006/main">
            <a:pPr algn="l">
              <a:defRPr sz="1350" b="0">
                <a:solidFill>
                  <a:srgbClr val="61738A"/>
                </a:solidFill>
              </a:defRPr>
            </a:pPr>
            <a:r>
              <a:rPr sz="1350" b="0">
                <a:solidFill>
                  <a:srgbClr val="61738A"/>
                </a:solidFill>
              </a:rPr>
              <a:t>Six signed group contributions · calibrated log-odds</a:t>
            </a:r>
          </a:p>
        </p:txBody>
      </p:sp>
      <p:sp>
        <p:nvSpPr>
          <p:cNvPr id="9" name="text-7">
            <a:extLst xmlns:a="http://schemas.openxmlformats.org/drawingml/2006/main">
              <a:ext uri="{FF2B5EF4-FFF2-40B4-BE49-F238E27FC236}">
                <a16:creationId xmlns:a16="http://schemas.microsoft.com/office/drawing/2014/main" id="{928E4134-32CE-4E7F-BC3D-FA3AA3DF8897}"/>
              </a:ext>
            </a:extLst>
          </p:cNvPr>
          <p:cNvSpPr>
            <a:spLocks xmlns:a="http://schemas.openxmlformats.org/drawingml/2006/main" noGrp="1"/>
          </p:cNvSpPr>
          <p:nvPr/>
        </p:nvSpPr>
        <p:spPr>
          <a:xfrm xmlns:a="http://schemas.openxmlformats.org/drawingml/2006/main">
            <a:off x="7772400" y="2085975"/>
            <a:ext cx="3810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275" b="1">
                <a:solidFill>
                  <a:srgbClr val="142C48"/>
                </a:solidFill>
              </a:defRPr>
            </a:defPPr>
            <a:lvl1pPr algn="l">
              <a:defRPr sz="4275" b="1">
                <a:solidFill>
                  <a:srgbClr val="142C48"/>
                </a:solidFill>
              </a:defRPr>
            </a:lvl1pPr>
            <a:lvl2pPr algn="l">
              <a:defRPr sz="4275" b="1">
                <a:solidFill>
                  <a:srgbClr val="142C48"/>
                </a:solidFill>
              </a:defRPr>
            </a:lvl2pPr>
            <a:lvl3pPr algn="l">
              <a:defRPr sz="4275" b="1">
                <a:solidFill>
                  <a:srgbClr val="142C48"/>
                </a:solidFill>
              </a:defRPr>
            </a:lvl3pPr>
            <a:lvl4pPr algn="l">
              <a:defRPr sz="4275" b="1">
                <a:solidFill>
                  <a:srgbClr val="142C48"/>
                </a:solidFill>
              </a:defRPr>
            </a:lvl4pPr>
            <a:lvl5pPr algn="l">
              <a:defRPr sz="4275" b="1">
                <a:solidFill>
                  <a:srgbClr val="142C48"/>
                </a:solidFill>
              </a:defRPr>
            </a:lvl5pPr>
            <a:lvl6pPr algn="l">
              <a:defRPr sz="4275" b="1">
                <a:solidFill>
                  <a:srgbClr val="142C48"/>
                </a:solidFill>
              </a:defRPr>
            </a:lvl6pPr>
            <a:lvl7pPr algn="l">
              <a:defRPr sz="4275" b="1">
                <a:solidFill>
                  <a:srgbClr val="142C48"/>
                </a:solidFill>
              </a:defRPr>
            </a:lvl7pPr>
            <a:lvl8pPr algn="l">
              <a:defRPr sz="4275" b="1">
                <a:solidFill>
                  <a:srgbClr val="142C48"/>
                </a:solidFill>
              </a:defRPr>
            </a:lvl8pPr>
            <a:lvl9pPr algn="l">
              <a:defRPr sz="4275" b="1">
                <a:solidFill>
                  <a:srgbClr val="142C48"/>
                </a:solidFill>
              </a:defRPr>
            </a:lvl9pPr>
          </a:lstStyle>
          <a:p xmlns:a="http://schemas.openxmlformats.org/drawingml/2006/main">
            <a:pPr algn="l">
              <a:defRPr sz="4275" b="1">
                <a:solidFill>
                  <a:srgbClr val="142C48"/>
                </a:solidFill>
              </a:defRPr>
            </a:pPr>
            <a:r>
              <a:rPr sz="4275" b="1">
                <a:solidFill>
                  <a:srgbClr val="142C48"/>
                </a:solidFill>
              </a:rPr>
              <a:t>96.96%</a:t>
            </a:r>
          </a:p>
        </p:txBody>
      </p:sp>
      <p:sp>
        <p:nvSpPr>
          <p:cNvPr id="10" name="text-8">
            <a:extLst xmlns:a="http://schemas.openxmlformats.org/drawingml/2006/main">
              <a:ext uri="{FF2B5EF4-FFF2-40B4-BE49-F238E27FC236}">
                <a16:creationId xmlns:a16="http://schemas.microsoft.com/office/drawing/2014/main" id="{9A8576BE-A6BB-43F3-8835-06C4796E925B}"/>
              </a:ext>
            </a:extLst>
          </p:cNvPr>
          <p:cNvSpPr>
            <a:spLocks xmlns:a="http://schemas.openxmlformats.org/drawingml/2006/main" noGrp="1"/>
          </p:cNvSpPr>
          <p:nvPr/>
        </p:nvSpPr>
        <p:spPr>
          <a:xfrm xmlns:a="http://schemas.openxmlformats.org/drawingml/2006/main">
            <a:off x="7772400" y="2886075"/>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61738A"/>
                </a:solidFill>
              </a:defRPr>
            </a:defPPr>
            <a:lvl1pPr algn="l">
              <a:defRPr sz="1875" b="0">
                <a:solidFill>
                  <a:srgbClr val="61738A"/>
                </a:solidFill>
              </a:defRPr>
            </a:lvl1pPr>
            <a:lvl2pPr algn="l">
              <a:defRPr sz="1875" b="0">
                <a:solidFill>
                  <a:srgbClr val="61738A"/>
                </a:solidFill>
              </a:defRPr>
            </a:lvl2pPr>
            <a:lvl3pPr algn="l">
              <a:defRPr sz="1875" b="0">
                <a:solidFill>
                  <a:srgbClr val="61738A"/>
                </a:solidFill>
              </a:defRPr>
            </a:lvl3pPr>
            <a:lvl4pPr algn="l">
              <a:defRPr sz="1875" b="0">
                <a:solidFill>
                  <a:srgbClr val="61738A"/>
                </a:solidFill>
              </a:defRPr>
            </a:lvl4pPr>
            <a:lvl5pPr algn="l">
              <a:defRPr sz="1875" b="0">
                <a:solidFill>
                  <a:srgbClr val="61738A"/>
                </a:solidFill>
              </a:defRPr>
            </a:lvl5pPr>
            <a:lvl6pPr algn="l">
              <a:defRPr sz="1875" b="0">
                <a:solidFill>
                  <a:srgbClr val="61738A"/>
                </a:solidFill>
              </a:defRPr>
            </a:lvl6pPr>
            <a:lvl7pPr algn="l">
              <a:defRPr sz="1875" b="0">
                <a:solidFill>
                  <a:srgbClr val="61738A"/>
                </a:solidFill>
              </a:defRPr>
            </a:lvl7pPr>
            <a:lvl8pPr algn="l">
              <a:defRPr sz="1875" b="0">
                <a:solidFill>
                  <a:srgbClr val="61738A"/>
                </a:solidFill>
              </a:defRPr>
            </a:lvl8pPr>
            <a:lvl9pPr algn="l">
              <a:defRPr sz="1875" b="0">
                <a:solidFill>
                  <a:srgbClr val="61738A"/>
                </a:solidFill>
              </a:defRPr>
            </a:lvl9pPr>
          </a:lstStyle>
          <a:p xmlns:a="http://schemas.openxmlformats.org/drawingml/2006/main">
            <a:pPr algn="l">
              <a:defRPr sz="1875" b="0">
                <a:solidFill>
                  <a:srgbClr val="61738A"/>
                </a:solidFill>
              </a:defRPr>
            </a:pPr>
            <a:r>
              <a:rPr sz="1875" b="0">
                <a:solidFill>
                  <a:srgbClr val="61738A"/>
                </a:solidFill>
              </a:rPr>
              <a:t>Predicted probability</a:t>
            </a:r>
          </a:p>
          <a:p xmlns:a="http://schemas.openxmlformats.org/drawingml/2006/main">
            <a:pPr algn="l">
              <a:defRPr sz="1875" b="0">
                <a:solidFill>
                  <a:srgbClr val="61738A"/>
                </a:solidFill>
              </a:defRPr>
            </a:pPr>
            <a:r>
              <a:rPr sz="1875" b="0">
                <a:solidFill>
                  <a:srgbClr val="61738A"/>
                </a:solidFill>
              </a:rPr>
              <a:t>for this selected example</a:t>
            </a:r>
          </a:p>
        </p:txBody>
      </p:sp>
      <p:sp>
        <p:nvSpPr>
          <p:cNvPr id="11" name="text-9">
            <a:extLst xmlns:a="http://schemas.openxmlformats.org/drawingml/2006/main">
              <a:ext uri="{FF2B5EF4-FFF2-40B4-BE49-F238E27FC236}">
                <a16:creationId xmlns:a16="http://schemas.microsoft.com/office/drawing/2014/main" id="{E52D647F-F6D9-4F83-8385-4DBAC875D993}"/>
              </a:ext>
            </a:extLst>
          </p:cNvPr>
          <p:cNvSpPr>
            <a:spLocks xmlns:a="http://schemas.openxmlformats.org/drawingml/2006/main" noGrp="1"/>
          </p:cNvSpPr>
          <p:nvPr/>
        </p:nvSpPr>
        <p:spPr>
          <a:xfrm xmlns:a="http://schemas.openxmlformats.org/drawingml/2006/main">
            <a:off x="7772400" y="3990975"/>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0D69B3"/>
                </a:solidFill>
              </a:defRPr>
            </a:defPPr>
            <a:lvl1pPr algn="l">
              <a:defRPr sz="2100" b="1">
                <a:solidFill>
                  <a:srgbClr val="0D69B3"/>
                </a:solidFill>
              </a:defRPr>
            </a:lvl1pPr>
            <a:lvl2pPr algn="l">
              <a:defRPr sz="2100" b="1">
                <a:solidFill>
                  <a:srgbClr val="0D69B3"/>
                </a:solidFill>
              </a:defRPr>
            </a:lvl2pPr>
            <a:lvl3pPr algn="l">
              <a:defRPr sz="2100" b="1">
                <a:solidFill>
                  <a:srgbClr val="0D69B3"/>
                </a:solidFill>
              </a:defRPr>
            </a:lvl3pPr>
            <a:lvl4pPr algn="l">
              <a:defRPr sz="2100" b="1">
                <a:solidFill>
                  <a:srgbClr val="0D69B3"/>
                </a:solidFill>
              </a:defRPr>
            </a:lvl4pPr>
            <a:lvl5pPr algn="l">
              <a:defRPr sz="2100" b="1">
                <a:solidFill>
                  <a:srgbClr val="0D69B3"/>
                </a:solidFill>
              </a:defRPr>
            </a:lvl5pPr>
            <a:lvl6pPr algn="l">
              <a:defRPr sz="2100" b="1">
                <a:solidFill>
                  <a:srgbClr val="0D69B3"/>
                </a:solidFill>
              </a:defRPr>
            </a:lvl6pPr>
            <a:lvl7pPr algn="l">
              <a:defRPr sz="2100" b="1">
                <a:solidFill>
                  <a:srgbClr val="0D69B3"/>
                </a:solidFill>
              </a:defRPr>
            </a:lvl7pPr>
            <a:lvl8pPr algn="l">
              <a:defRPr sz="2100" b="1">
                <a:solidFill>
                  <a:srgbClr val="0D69B3"/>
                </a:solidFill>
              </a:defRPr>
            </a:lvl8pPr>
            <a:lvl9pPr algn="l">
              <a:defRPr sz="2100" b="1">
                <a:solidFill>
                  <a:srgbClr val="0D69B3"/>
                </a:solidFill>
              </a:defRPr>
            </a:lvl9pPr>
          </a:lstStyle>
          <a:p xmlns:a="http://schemas.openxmlformats.org/drawingml/2006/main">
            <a:pPr algn="l">
              <a:defRPr sz="2100" b="1">
                <a:solidFill>
                  <a:srgbClr val="0D69B3"/>
                </a:solidFill>
              </a:defRPr>
            </a:pPr>
            <a:r>
              <a:rPr sz="2100" b="1">
                <a:solidFill>
                  <a:srgbClr val="0D69B3"/>
                </a:solidFill>
              </a:rPr>
              <a:t>Baseline log-odds</a:t>
            </a:r>
          </a:p>
          <a:p xmlns:a="http://schemas.openxmlformats.org/drawingml/2006/main">
            <a:pPr algn="l">
              <a:defRPr sz="2100" b="1">
                <a:solidFill>
                  <a:srgbClr val="0D69B3"/>
                </a:solidFill>
              </a:defRPr>
            </a:pPr>
            <a:r>
              <a:rPr sz="2100" b="1">
                <a:solidFill>
                  <a:srgbClr val="0D69B3"/>
                </a:solidFill>
              </a:rPr>
              <a:t>−4.237</a:t>
            </a:r>
          </a:p>
        </p:txBody>
      </p:sp>
      <p:sp>
        <p:nvSpPr>
          <p:cNvPr id="12" name="text-10">
            <a:extLst xmlns:a="http://schemas.openxmlformats.org/drawingml/2006/main">
              <a:ext uri="{FF2B5EF4-FFF2-40B4-BE49-F238E27FC236}">
                <a16:creationId xmlns:a16="http://schemas.microsoft.com/office/drawing/2014/main" id="{AB4B6B93-C709-416C-B1B3-3C55900E0225}"/>
              </a:ext>
            </a:extLst>
          </p:cNvPr>
          <p:cNvSpPr>
            <a:spLocks xmlns:a="http://schemas.openxmlformats.org/drawingml/2006/main" noGrp="1"/>
          </p:cNvSpPr>
          <p:nvPr/>
        </p:nvSpPr>
        <p:spPr>
          <a:xfrm xmlns:a="http://schemas.openxmlformats.org/drawingml/2006/main">
            <a:off x="7772400" y="4972050"/>
            <a:ext cx="381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61738A"/>
                </a:solidFill>
              </a:defRPr>
            </a:defPPr>
            <a:lvl1pPr algn="l">
              <a:defRPr sz="1725" b="0">
                <a:solidFill>
                  <a:srgbClr val="61738A"/>
                </a:solidFill>
              </a:defRPr>
            </a:lvl1pPr>
            <a:lvl2pPr algn="l">
              <a:defRPr sz="1725" b="0">
                <a:solidFill>
                  <a:srgbClr val="61738A"/>
                </a:solidFill>
              </a:defRPr>
            </a:lvl2pPr>
            <a:lvl3pPr algn="l">
              <a:defRPr sz="1725" b="0">
                <a:solidFill>
                  <a:srgbClr val="61738A"/>
                </a:solidFill>
              </a:defRPr>
            </a:lvl3pPr>
            <a:lvl4pPr algn="l">
              <a:defRPr sz="1725" b="0">
                <a:solidFill>
                  <a:srgbClr val="61738A"/>
                </a:solidFill>
              </a:defRPr>
            </a:lvl4pPr>
            <a:lvl5pPr algn="l">
              <a:defRPr sz="1725" b="0">
                <a:solidFill>
                  <a:srgbClr val="61738A"/>
                </a:solidFill>
              </a:defRPr>
            </a:lvl5pPr>
            <a:lvl6pPr algn="l">
              <a:defRPr sz="1725" b="0">
                <a:solidFill>
                  <a:srgbClr val="61738A"/>
                </a:solidFill>
              </a:defRPr>
            </a:lvl6pPr>
            <a:lvl7pPr algn="l">
              <a:defRPr sz="1725" b="0">
                <a:solidFill>
                  <a:srgbClr val="61738A"/>
                </a:solidFill>
              </a:defRPr>
            </a:lvl7pPr>
            <a:lvl8pPr algn="l">
              <a:defRPr sz="1725" b="0">
                <a:solidFill>
                  <a:srgbClr val="61738A"/>
                </a:solidFill>
              </a:defRPr>
            </a:lvl8pPr>
            <a:lvl9pPr algn="l">
              <a:defRPr sz="1725" b="0">
                <a:solidFill>
                  <a:srgbClr val="61738A"/>
                </a:solidFill>
              </a:defRPr>
            </a:lvl9pPr>
          </a:lstStyle>
          <a:p xmlns:a="http://schemas.openxmlformats.org/drawingml/2006/main">
            <a:pPr algn="l">
              <a:defRPr sz="1725" b="0">
                <a:solidFill>
                  <a:srgbClr val="61738A"/>
                </a:solidFill>
              </a:defRPr>
            </a:pPr>
            <a:r>
              <a:rPr sz="1725" b="0">
                <a:solidFill>
                  <a:srgbClr val="61738A"/>
                </a:solidFill>
              </a:rPr>
              <a:t>Full-precision groups reconstruct</a:t>
            </a:r>
          </a:p>
          <a:p xmlns:a="http://schemas.openxmlformats.org/drawingml/2006/main">
            <a:pPr algn="l">
              <a:defRPr sz="1725" b="0">
                <a:solidFill>
                  <a:srgbClr val="61738A"/>
                </a:solidFill>
              </a:defRPr>
            </a:pPr>
            <a:r>
              <a:rPr sz="1725" b="0">
                <a:solidFill>
                  <a:srgbClr val="61738A"/>
                </a:solidFill>
              </a:rPr>
              <a:t>the saved probability.</a:t>
            </a:r>
          </a:p>
        </p:txBody>
      </p:sp>
      <p:sp>
        <p:nvSpPr>
          <p:cNvPr id="13" name="text-11">
            <a:extLst xmlns:a="http://schemas.openxmlformats.org/drawingml/2006/main">
              <a:ext uri="{FF2B5EF4-FFF2-40B4-BE49-F238E27FC236}">
                <a16:creationId xmlns:a16="http://schemas.microsoft.com/office/drawing/2014/main" id="{AF0B594A-B02B-4EA3-A354-DFE8402D7C52}"/>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Attribution guides verification. It does not confirm why a customer will leave.</a:t>
            </a:r>
          </a:p>
        </p:txBody>
      </p:sp>
    </p:spTree>
    <p:extLst>
      <p:ext uri="{BB962C8B-B14F-4D97-AF65-F5344CB8AC3E}">
        <p14:creationId xmlns:p14="http://schemas.microsoft.com/office/powerpoint/2010/main" val="73655894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0">
            <a:extLst xmlns:a="http://schemas.openxmlformats.org/drawingml/2006/main">
              <a:ext uri="{FF2B5EF4-FFF2-40B4-BE49-F238E27FC236}">
                <a16:creationId xmlns:a16="http://schemas.microsoft.com/office/drawing/2014/main" id="{1D4D3807-F170-429F-9136-C658155D8BC9}"/>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METHOD</a:t>
            </a:r>
          </a:p>
        </p:txBody>
      </p:sp>
      <p:sp>
        <p:nvSpPr>
          <p:cNvPr id="2" name="text-1">
            <a:extLst xmlns:a="http://schemas.openxmlformats.org/drawingml/2006/main">
              <a:ext uri="{FF2B5EF4-FFF2-40B4-BE49-F238E27FC236}">
                <a16:creationId xmlns:a16="http://schemas.microsoft.com/office/drawing/2014/main" id="{6215618D-22C8-4745-9F76-0B72D50259B8}"/>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Action Support Chat &amp; Call</a:t>
            </a:r>
          </a:p>
        </p:txBody>
      </p:sp>
      <p:sp>
        <p:nvSpPr>
          <p:cNvPr id="3" name="">
            <a:extLst xmlns:a="http://schemas.openxmlformats.org/drawingml/2006/main">
              <a:ext uri="{FF2B5EF4-FFF2-40B4-BE49-F238E27FC236}">
                <a16:creationId xmlns:a16="http://schemas.microsoft.com/office/drawing/2014/main" id="{ED923AC1-101D-4DD6-81DA-A280F70C9AB1}"/>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C26B30E-49E8-4C97-818B-BBB68317C0B3}"/>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3DEB308D-4E06-4509-BCA7-C5B7E4A83A95}"/>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SYSTEM.md. Authored presentation illustration, not a fresh LLM output, executed conversation or autonomous call.</a:t>
            </a:r>
          </a:p>
        </p:txBody>
      </p:sp>
      <p:sp>
        <p:nvSpPr>
          <p:cNvPr id="6" name="text-5">
            <a:extLst xmlns:a="http://schemas.openxmlformats.org/drawingml/2006/main">
              <a:ext uri="{FF2B5EF4-FFF2-40B4-BE49-F238E27FC236}">
                <a16:creationId xmlns:a16="http://schemas.microsoft.com/office/drawing/2014/main" id="{A8A538EC-8BA3-4377-BCEB-039430ABBC69}"/>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17 / 24</a:t>
            </a:r>
          </a:p>
        </p:txBody>
      </p:sp>
      <p:sp>
        <p:nvSpPr>
          <p:cNvPr id="7" name="text-6">
            <a:extLst xmlns:a="http://schemas.openxmlformats.org/drawingml/2006/main">
              <a:ext uri="{FF2B5EF4-FFF2-40B4-BE49-F238E27FC236}">
                <a16:creationId xmlns:a16="http://schemas.microsoft.com/office/drawing/2014/main" id="{8F034264-3174-4595-A8C8-4581C5E6D911}"/>
              </a:ext>
            </a:extLst>
          </p:cNvPr>
          <p:cNvSpPr>
            <a:spLocks xmlns:a="http://schemas.openxmlformats.org/drawingml/2006/main" noGrp="1"/>
          </p:cNvSpPr>
          <p:nvPr/>
        </p:nvSpPr>
        <p:spPr>
          <a:xfrm xmlns:a="http://schemas.openxmlformats.org/drawingml/2006/main">
            <a:off x="609600" y="19145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0D69B3"/>
                </a:solidFill>
              </a:defRPr>
            </a:defPPr>
            <a:lvl1pPr algn="l">
              <a:defRPr sz="2250" b="1">
                <a:solidFill>
                  <a:srgbClr val="0D69B3"/>
                </a:solidFill>
              </a:defRPr>
            </a:lvl1pPr>
            <a:lvl2pPr algn="l">
              <a:defRPr sz="2250" b="1">
                <a:solidFill>
                  <a:srgbClr val="0D69B3"/>
                </a:solidFill>
              </a:defRPr>
            </a:lvl2pPr>
            <a:lvl3pPr algn="l">
              <a:defRPr sz="2250" b="1">
                <a:solidFill>
                  <a:srgbClr val="0D69B3"/>
                </a:solidFill>
              </a:defRPr>
            </a:lvl3pPr>
            <a:lvl4pPr algn="l">
              <a:defRPr sz="2250" b="1">
                <a:solidFill>
                  <a:srgbClr val="0D69B3"/>
                </a:solidFill>
              </a:defRPr>
            </a:lvl4pPr>
            <a:lvl5pPr algn="l">
              <a:defRPr sz="2250" b="1">
                <a:solidFill>
                  <a:srgbClr val="0D69B3"/>
                </a:solidFill>
              </a:defRPr>
            </a:lvl5pPr>
            <a:lvl6pPr algn="l">
              <a:defRPr sz="2250" b="1">
                <a:solidFill>
                  <a:srgbClr val="0D69B3"/>
                </a:solidFill>
              </a:defRPr>
            </a:lvl6pPr>
            <a:lvl7pPr algn="l">
              <a:defRPr sz="2250" b="1">
                <a:solidFill>
                  <a:srgbClr val="0D69B3"/>
                </a:solidFill>
              </a:defRPr>
            </a:lvl7pPr>
            <a:lvl8pPr algn="l">
              <a:defRPr sz="2250" b="1">
                <a:solidFill>
                  <a:srgbClr val="0D69B3"/>
                </a:solidFill>
              </a:defRPr>
            </a:lvl8pPr>
            <a:lvl9pPr algn="l">
              <a:defRPr sz="2250" b="1">
                <a:solidFill>
                  <a:srgbClr val="0D69B3"/>
                </a:solidFill>
              </a:defRPr>
            </a:lvl9pPr>
          </a:lstStyle>
          <a:p xmlns:a="http://schemas.openxmlformats.org/drawingml/2006/main">
            <a:pPr algn="l">
              <a:defRPr sz="2250" b="1">
                <a:solidFill>
                  <a:srgbClr val="0D69B3"/>
                </a:solidFill>
              </a:defRPr>
            </a:pPr>
            <a:r>
              <a:rPr sz="2250" b="1">
                <a:solidFill>
                  <a:srgbClr val="0D69B3"/>
                </a:solidFill>
              </a:rPr>
              <a:t>Chat draft</a:t>
            </a:r>
          </a:p>
        </p:txBody>
      </p:sp>
      <p:sp>
        <p:nvSpPr>
          <p:cNvPr id="8" name="">
            <a:extLst xmlns:a="http://schemas.openxmlformats.org/drawingml/2006/main">
              <a:ext uri="{FF2B5EF4-FFF2-40B4-BE49-F238E27FC236}">
                <a16:creationId xmlns:a16="http://schemas.microsoft.com/office/drawing/2014/main" id="{A20CA8EC-575C-4292-A91F-65738966C708}"/>
              </a:ext>
            </a:extLst>
          </p:cNvPr>
          <p:cNvSpPr>
            <a:spLocks xmlns:a="http://schemas.openxmlformats.org/drawingml/2006/main" noGrp="1"/>
          </p:cNvSpPr>
          <p:nvPr/>
        </p:nvSpPr>
        <p:spPr>
          <a:xfrm xmlns:a="http://schemas.openxmlformats.org/drawingml/2006/main">
            <a:off x="609600" y="2428875"/>
            <a:ext cx="5095875" cy="9525"/>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CAEE344F-26A9-4511-B7A8-B8D2D282504F}"/>
              </a:ext>
            </a:extLst>
          </p:cNvPr>
          <p:cNvSpPr>
            <a:spLocks xmlns:a="http://schemas.openxmlformats.org/drawingml/2006/main" noGrp="1"/>
          </p:cNvSpPr>
          <p:nvPr/>
        </p:nvSpPr>
        <p:spPr>
          <a:xfrm xmlns:a="http://schemas.openxmlformats.org/drawingml/2006/main">
            <a:off x="609600" y="2705100"/>
            <a:ext cx="50958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42C48"/>
                </a:solidFill>
              </a:defRPr>
            </a:defPPr>
            <a:lvl1pPr algn="l">
              <a:defRPr sz="2100" b="0">
                <a:solidFill>
                  <a:srgbClr val="142C48"/>
                </a:solidFill>
              </a:defRPr>
            </a:lvl1pPr>
            <a:lvl2pPr algn="l">
              <a:defRPr sz="2100" b="0">
                <a:solidFill>
                  <a:srgbClr val="142C48"/>
                </a:solidFill>
              </a:defRPr>
            </a:lvl2pPr>
            <a:lvl3pPr algn="l">
              <a:defRPr sz="2100" b="0">
                <a:solidFill>
                  <a:srgbClr val="142C48"/>
                </a:solidFill>
              </a:defRPr>
            </a:lvl3pPr>
            <a:lvl4pPr algn="l">
              <a:defRPr sz="2100" b="0">
                <a:solidFill>
                  <a:srgbClr val="142C48"/>
                </a:solidFill>
              </a:defRPr>
            </a:lvl4pPr>
            <a:lvl5pPr algn="l">
              <a:defRPr sz="2100" b="0">
                <a:solidFill>
                  <a:srgbClr val="142C48"/>
                </a:solidFill>
              </a:defRPr>
            </a:lvl5pPr>
            <a:lvl6pPr algn="l">
              <a:defRPr sz="2100" b="0">
                <a:solidFill>
                  <a:srgbClr val="142C48"/>
                </a:solidFill>
              </a:defRPr>
            </a:lvl6pPr>
            <a:lvl7pPr algn="l">
              <a:defRPr sz="2100" b="0">
                <a:solidFill>
                  <a:srgbClr val="142C48"/>
                </a:solidFill>
              </a:defRPr>
            </a:lvl7pPr>
            <a:lvl8pPr algn="l">
              <a:defRPr sz="2100" b="0">
                <a:solidFill>
                  <a:srgbClr val="142C48"/>
                </a:solidFill>
              </a:defRPr>
            </a:lvl8pPr>
            <a:lvl9pPr algn="l">
              <a:defRPr sz="2100" b="0">
                <a:solidFill>
                  <a:srgbClr val="142C48"/>
                </a:solidFill>
              </a:defRPr>
            </a:lvl9pPr>
          </a:lstStyle>
          <a:p xmlns:a="http://schemas.openxmlformats.org/drawingml/2006/main">
            <a:pPr algn="l">
              <a:defRPr sz="2100" b="0">
                <a:solidFill>
                  <a:srgbClr val="142C48"/>
                </a:solidFill>
              </a:defRPr>
            </a:pPr>
            <a:r>
              <a:rPr sz="2100" b="0">
                <a:solidFill>
                  <a:srgbClr val="142C48"/>
                </a:solidFill>
              </a:rPr>
              <a:t>“Hello, I’m contacting you from customer care to check whether your current Internet plan still meets your needs. Have you experienced any recent service or billing concerns? I can review the relevant details with you and arrange the appropriate follow-up.”</a:t>
            </a:r>
          </a:p>
        </p:txBody>
      </p:sp>
      <p:sp>
        <p:nvSpPr>
          <p:cNvPr id="10" name="text-9">
            <a:extLst xmlns:a="http://schemas.openxmlformats.org/drawingml/2006/main">
              <a:ext uri="{FF2B5EF4-FFF2-40B4-BE49-F238E27FC236}">
                <a16:creationId xmlns:a16="http://schemas.microsoft.com/office/drawing/2014/main" id="{80701798-6C92-4CA5-9FE0-530AC125DF2D}"/>
              </a:ext>
            </a:extLst>
          </p:cNvPr>
          <p:cNvSpPr>
            <a:spLocks xmlns:a="http://schemas.openxmlformats.org/drawingml/2006/main" noGrp="1"/>
          </p:cNvSpPr>
          <p:nvPr/>
        </p:nvSpPr>
        <p:spPr>
          <a:xfrm xmlns:a="http://schemas.openxmlformats.org/drawingml/2006/main">
            <a:off x="6677025" y="1914525"/>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0D69B3"/>
                </a:solidFill>
              </a:defRPr>
            </a:defPPr>
            <a:lvl1pPr algn="l">
              <a:defRPr sz="2250" b="1">
                <a:solidFill>
                  <a:srgbClr val="0D69B3"/>
                </a:solidFill>
              </a:defRPr>
            </a:lvl1pPr>
            <a:lvl2pPr algn="l">
              <a:defRPr sz="2250" b="1">
                <a:solidFill>
                  <a:srgbClr val="0D69B3"/>
                </a:solidFill>
              </a:defRPr>
            </a:lvl2pPr>
            <a:lvl3pPr algn="l">
              <a:defRPr sz="2250" b="1">
                <a:solidFill>
                  <a:srgbClr val="0D69B3"/>
                </a:solidFill>
              </a:defRPr>
            </a:lvl3pPr>
            <a:lvl4pPr algn="l">
              <a:defRPr sz="2250" b="1">
                <a:solidFill>
                  <a:srgbClr val="0D69B3"/>
                </a:solidFill>
              </a:defRPr>
            </a:lvl4pPr>
            <a:lvl5pPr algn="l">
              <a:defRPr sz="2250" b="1">
                <a:solidFill>
                  <a:srgbClr val="0D69B3"/>
                </a:solidFill>
              </a:defRPr>
            </a:lvl5pPr>
            <a:lvl6pPr algn="l">
              <a:defRPr sz="2250" b="1">
                <a:solidFill>
                  <a:srgbClr val="0D69B3"/>
                </a:solidFill>
              </a:defRPr>
            </a:lvl6pPr>
            <a:lvl7pPr algn="l">
              <a:defRPr sz="2250" b="1">
                <a:solidFill>
                  <a:srgbClr val="0D69B3"/>
                </a:solidFill>
              </a:defRPr>
            </a:lvl7pPr>
            <a:lvl8pPr algn="l">
              <a:defRPr sz="2250" b="1">
                <a:solidFill>
                  <a:srgbClr val="0D69B3"/>
                </a:solidFill>
              </a:defRPr>
            </a:lvl8pPr>
            <a:lvl9pPr algn="l">
              <a:defRPr sz="2250" b="1">
                <a:solidFill>
                  <a:srgbClr val="0D69B3"/>
                </a:solidFill>
              </a:defRPr>
            </a:lvl9pPr>
          </a:lstStyle>
          <a:p xmlns:a="http://schemas.openxmlformats.org/drawingml/2006/main">
            <a:pPr algn="l">
              <a:defRPr sz="2250" b="1">
                <a:solidFill>
                  <a:srgbClr val="0D69B3"/>
                </a:solidFill>
              </a:defRPr>
            </a:pPr>
            <a:r>
              <a:rPr sz="2250" b="1">
                <a:solidFill>
                  <a:srgbClr val="0D69B3"/>
                </a:solidFill>
              </a:rPr>
              <a:t>Call script</a:t>
            </a:r>
          </a:p>
        </p:txBody>
      </p:sp>
      <p:sp>
        <p:nvSpPr>
          <p:cNvPr id="11" name="">
            <a:extLst xmlns:a="http://schemas.openxmlformats.org/drawingml/2006/main">
              <a:ext uri="{FF2B5EF4-FFF2-40B4-BE49-F238E27FC236}">
                <a16:creationId xmlns:a16="http://schemas.microsoft.com/office/drawing/2014/main" id="{A7BED822-C510-473E-AEC7-DAFC987AFF2C}"/>
              </a:ext>
            </a:extLst>
          </p:cNvPr>
          <p:cNvSpPr>
            <a:spLocks xmlns:a="http://schemas.openxmlformats.org/drawingml/2006/main" noGrp="1"/>
          </p:cNvSpPr>
          <p:nvPr/>
        </p:nvSpPr>
        <p:spPr>
          <a:xfrm xmlns:a="http://schemas.openxmlformats.org/drawingml/2006/main">
            <a:off x="6677025" y="2428875"/>
            <a:ext cx="4905375" cy="9525"/>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12" name="text-11">
            <a:extLst xmlns:a="http://schemas.openxmlformats.org/drawingml/2006/main">
              <a:ext uri="{FF2B5EF4-FFF2-40B4-BE49-F238E27FC236}">
                <a16:creationId xmlns:a16="http://schemas.microsoft.com/office/drawing/2014/main" id="{5B0CF759-F39B-4D9A-A1E3-28DC4D0387C7}"/>
              </a:ext>
            </a:extLst>
          </p:cNvPr>
          <p:cNvSpPr>
            <a:spLocks xmlns:a="http://schemas.openxmlformats.org/drawingml/2006/main" noGrp="1"/>
          </p:cNvSpPr>
          <p:nvPr/>
        </p:nvSpPr>
        <p:spPr>
          <a:xfrm xmlns:a="http://schemas.openxmlformats.org/drawingml/2006/main">
            <a:off x="6677025" y="2714625"/>
            <a:ext cx="333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F27323"/>
                </a:solidFill>
              </a:defRPr>
            </a:defPPr>
            <a:lvl1pPr algn="l">
              <a:defRPr sz="2025" b="1">
                <a:solidFill>
                  <a:srgbClr val="F27323"/>
                </a:solidFill>
              </a:defRPr>
            </a:lvl1pPr>
            <a:lvl2pPr algn="l">
              <a:defRPr sz="2025" b="1">
                <a:solidFill>
                  <a:srgbClr val="F27323"/>
                </a:solidFill>
              </a:defRPr>
            </a:lvl2pPr>
            <a:lvl3pPr algn="l">
              <a:defRPr sz="2025" b="1">
                <a:solidFill>
                  <a:srgbClr val="F27323"/>
                </a:solidFill>
              </a:defRPr>
            </a:lvl3pPr>
            <a:lvl4pPr algn="l">
              <a:defRPr sz="2025" b="1">
                <a:solidFill>
                  <a:srgbClr val="F27323"/>
                </a:solidFill>
              </a:defRPr>
            </a:lvl4pPr>
            <a:lvl5pPr algn="l">
              <a:defRPr sz="2025" b="1">
                <a:solidFill>
                  <a:srgbClr val="F27323"/>
                </a:solidFill>
              </a:defRPr>
            </a:lvl5pPr>
            <a:lvl6pPr algn="l">
              <a:defRPr sz="2025" b="1">
                <a:solidFill>
                  <a:srgbClr val="F27323"/>
                </a:solidFill>
              </a:defRPr>
            </a:lvl6pPr>
            <a:lvl7pPr algn="l">
              <a:defRPr sz="2025" b="1">
                <a:solidFill>
                  <a:srgbClr val="F27323"/>
                </a:solidFill>
              </a:defRPr>
            </a:lvl7pPr>
            <a:lvl8pPr algn="l">
              <a:defRPr sz="2025" b="1">
                <a:solidFill>
                  <a:srgbClr val="F27323"/>
                </a:solidFill>
              </a:defRPr>
            </a:lvl8pPr>
            <a:lvl9pPr algn="l">
              <a:defRPr sz="2025" b="1">
                <a:solidFill>
                  <a:srgbClr val="F27323"/>
                </a:solidFill>
              </a:defRPr>
            </a:lvl9pPr>
          </a:lstStyle>
          <a:p xmlns:a="http://schemas.openxmlformats.org/drawingml/2006/main">
            <a:pPr algn="l">
              <a:defRPr sz="2025" b="1">
                <a:solidFill>
                  <a:srgbClr val="F27323"/>
                </a:solidFill>
              </a:defRPr>
            </a:pPr>
            <a:r>
              <a:rPr sz="2025" b="1">
                <a:solidFill>
                  <a:srgbClr val="F27323"/>
                </a:solidFill>
              </a:rPr>
              <a:t>1</a:t>
            </a:r>
          </a:p>
        </p:txBody>
      </p:sp>
      <p:sp>
        <p:nvSpPr>
          <p:cNvPr id="13" name="text-12">
            <a:extLst xmlns:a="http://schemas.openxmlformats.org/drawingml/2006/main">
              <a:ext uri="{FF2B5EF4-FFF2-40B4-BE49-F238E27FC236}">
                <a16:creationId xmlns:a16="http://schemas.microsoft.com/office/drawing/2014/main" id="{45A202A7-AA56-4FA6-BE98-06FBC52F381D}"/>
              </a:ext>
            </a:extLst>
          </p:cNvPr>
          <p:cNvSpPr>
            <a:spLocks xmlns:a="http://schemas.openxmlformats.org/drawingml/2006/main" noGrp="1"/>
          </p:cNvSpPr>
          <p:nvPr/>
        </p:nvSpPr>
        <p:spPr>
          <a:xfrm xmlns:a="http://schemas.openxmlformats.org/drawingml/2006/main">
            <a:off x="7124700" y="2714625"/>
            <a:ext cx="445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142C48"/>
                </a:solidFill>
              </a:defRPr>
            </a:defPPr>
            <a:lvl1pPr algn="l">
              <a:defRPr sz="1875" b="0">
                <a:solidFill>
                  <a:srgbClr val="142C48"/>
                </a:solidFill>
              </a:defRPr>
            </a:lvl1pPr>
            <a:lvl2pPr algn="l">
              <a:defRPr sz="1875" b="0">
                <a:solidFill>
                  <a:srgbClr val="142C48"/>
                </a:solidFill>
              </a:defRPr>
            </a:lvl2pPr>
            <a:lvl3pPr algn="l">
              <a:defRPr sz="1875" b="0">
                <a:solidFill>
                  <a:srgbClr val="142C48"/>
                </a:solidFill>
              </a:defRPr>
            </a:lvl3pPr>
            <a:lvl4pPr algn="l">
              <a:defRPr sz="1875" b="0">
                <a:solidFill>
                  <a:srgbClr val="142C48"/>
                </a:solidFill>
              </a:defRPr>
            </a:lvl4pPr>
            <a:lvl5pPr algn="l">
              <a:defRPr sz="1875" b="0">
                <a:solidFill>
                  <a:srgbClr val="142C48"/>
                </a:solidFill>
              </a:defRPr>
            </a:lvl5pPr>
            <a:lvl6pPr algn="l">
              <a:defRPr sz="1875" b="0">
                <a:solidFill>
                  <a:srgbClr val="142C48"/>
                </a:solidFill>
              </a:defRPr>
            </a:lvl6pPr>
            <a:lvl7pPr algn="l">
              <a:defRPr sz="1875" b="0">
                <a:solidFill>
                  <a:srgbClr val="142C48"/>
                </a:solidFill>
              </a:defRPr>
            </a:lvl7pPr>
            <a:lvl8pPr algn="l">
              <a:defRPr sz="1875" b="0">
                <a:solidFill>
                  <a:srgbClr val="142C48"/>
                </a:solidFill>
              </a:defRPr>
            </a:lvl8pPr>
            <a:lvl9pPr algn="l">
              <a:defRPr sz="1875" b="0">
                <a:solidFill>
                  <a:srgbClr val="142C48"/>
                </a:solidFill>
              </a:defRPr>
            </a:lvl9pPr>
          </a:lstStyle>
          <a:p xmlns:a="http://schemas.openxmlformats.org/drawingml/2006/main">
            <a:pPr algn="l">
              <a:defRPr sz="1875" b="0">
                <a:solidFill>
                  <a:srgbClr val="142C48"/>
                </a:solidFill>
              </a:defRPr>
            </a:pPr>
            <a:r>
              <a:rPr sz="1875" b="0">
                <a:solidFill>
                  <a:srgbClr val="142C48"/>
                </a:solidFill>
              </a:rPr>
              <a:t>Ask whether it is convenient to speak.</a:t>
            </a:r>
          </a:p>
        </p:txBody>
      </p:sp>
      <p:sp>
        <p:nvSpPr>
          <p:cNvPr id="14" name="text-13">
            <a:extLst xmlns:a="http://schemas.openxmlformats.org/drawingml/2006/main">
              <a:ext uri="{FF2B5EF4-FFF2-40B4-BE49-F238E27FC236}">
                <a16:creationId xmlns:a16="http://schemas.microsoft.com/office/drawing/2014/main" id="{79F8D0BD-3888-497A-BC4E-5CEAE446D777}"/>
              </a:ext>
            </a:extLst>
          </p:cNvPr>
          <p:cNvSpPr>
            <a:spLocks xmlns:a="http://schemas.openxmlformats.org/drawingml/2006/main" noGrp="1"/>
          </p:cNvSpPr>
          <p:nvPr/>
        </p:nvSpPr>
        <p:spPr>
          <a:xfrm xmlns:a="http://schemas.openxmlformats.org/drawingml/2006/main">
            <a:off x="6677025" y="3371850"/>
            <a:ext cx="333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F27323"/>
                </a:solidFill>
              </a:defRPr>
            </a:defPPr>
            <a:lvl1pPr algn="l">
              <a:defRPr sz="2025" b="1">
                <a:solidFill>
                  <a:srgbClr val="F27323"/>
                </a:solidFill>
              </a:defRPr>
            </a:lvl1pPr>
            <a:lvl2pPr algn="l">
              <a:defRPr sz="2025" b="1">
                <a:solidFill>
                  <a:srgbClr val="F27323"/>
                </a:solidFill>
              </a:defRPr>
            </a:lvl2pPr>
            <a:lvl3pPr algn="l">
              <a:defRPr sz="2025" b="1">
                <a:solidFill>
                  <a:srgbClr val="F27323"/>
                </a:solidFill>
              </a:defRPr>
            </a:lvl3pPr>
            <a:lvl4pPr algn="l">
              <a:defRPr sz="2025" b="1">
                <a:solidFill>
                  <a:srgbClr val="F27323"/>
                </a:solidFill>
              </a:defRPr>
            </a:lvl4pPr>
            <a:lvl5pPr algn="l">
              <a:defRPr sz="2025" b="1">
                <a:solidFill>
                  <a:srgbClr val="F27323"/>
                </a:solidFill>
              </a:defRPr>
            </a:lvl5pPr>
            <a:lvl6pPr algn="l">
              <a:defRPr sz="2025" b="1">
                <a:solidFill>
                  <a:srgbClr val="F27323"/>
                </a:solidFill>
              </a:defRPr>
            </a:lvl6pPr>
            <a:lvl7pPr algn="l">
              <a:defRPr sz="2025" b="1">
                <a:solidFill>
                  <a:srgbClr val="F27323"/>
                </a:solidFill>
              </a:defRPr>
            </a:lvl7pPr>
            <a:lvl8pPr algn="l">
              <a:defRPr sz="2025" b="1">
                <a:solidFill>
                  <a:srgbClr val="F27323"/>
                </a:solidFill>
              </a:defRPr>
            </a:lvl8pPr>
            <a:lvl9pPr algn="l">
              <a:defRPr sz="2025" b="1">
                <a:solidFill>
                  <a:srgbClr val="F27323"/>
                </a:solidFill>
              </a:defRPr>
            </a:lvl9pPr>
          </a:lstStyle>
          <a:p xmlns:a="http://schemas.openxmlformats.org/drawingml/2006/main">
            <a:pPr algn="l">
              <a:defRPr sz="2025" b="1">
                <a:solidFill>
                  <a:srgbClr val="F27323"/>
                </a:solidFill>
              </a:defRPr>
            </a:pPr>
            <a:r>
              <a:rPr sz="2025" b="1">
                <a:solidFill>
                  <a:srgbClr val="F27323"/>
                </a:solidFill>
              </a:rPr>
              <a:t>2</a:t>
            </a:r>
          </a:p>
        </p:txBody>
      </p:sp>
      <p:sp>
        <p:nvSpPr>
          <p:cNvPr id="15" name="text-14">
            <a:extLst xmlns:a="http://schemas.openxmlformats.org/drawingml/2006/main">
              <a:ext uri="{FF2B5EF4-FFF2-40B4-BE49-F238E27FC236}">
                <a16:creationId xmlns:a16="http://schemas.microsoft.com/office/drawing/2014/main" id="{B44C126E-3FDD-4A7D-A469-48030E32F2FD}"/>
              </a:ext>
            </a:extLst>
          </p:cNvPr>
          <p:cNvSpPr>
            <a:spLocks xmlns:a="http://schemas.openxmlformats.org/drawingml/2006/main" noGrp="1"/>
          </p:cNvSpPr>
          <p:nvPr/>
        </p:nvSpPr>
        <p:spPr>
          <a:xfrm xmlns:a="http://schemas.openxmlformats.org/drawingml/2006/main">
            <a:off x="7124700" y="3371850"/>
            <a:ext cx="445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142C48"/>
                </a:solidFill>
              </a:defRPr>
            </a:defPPr>
            <a:lvl1pPr algn="l">
              <a:defRPr sz="1875" b="0">
                <a:solidFill>
                  <a:srgbClr val="142C48"/>
                </a:solidFill>
              </a:defRPr>
            </a:lvl1pPr>
            <a:lvl2pPr algn="l">
              <a:defRPr sz="1875" b="0">
                <a:solidFill>
                  <a:srgbClr val="142C48"/>
                </a:solidFill>
              </a:defRPr>
            </a:lvl2pPr>
            <a:lvl3pPr algn="l">
              <a:defRPr sz="1875" b="0">
                <a:solidFill>
                  <a:srgbClr val="142C48"/>
                </a:solidFill>
              </a:defRPr>
            </a:lvl3pPr>
            <a:lvl4pPr algn="l">
              <a:defRPr sz="1875" b="0">
                <a:solidFill>
                  <a:srgbClr val="142C48"/>
                </a:solidFill>
              </a:defRPr>
            </a:lvl4pPr>
            <a:lvl5pPr algn="l">
              <a:defRPr sz="1875" b="0">
                <a:solidFill>
                  <a:srgbClr val="142C48"/>
                </a:solidFill>
              </a:defRPr>
            </a:lvl5pPr>
            <a:lvl6pPr algn="l">
              <a:defRPr sz="1875" b="0">
                <a:solidFill>
                  <a:srgbClr val="142C48"/>
                </a:solidFill>
              </a:defRPr>
            </a:lvl6pPr>
            <a:lvl7pPr algn="l">
              <a:defRPr sz="1875" b="0">
                <a:solidFill>
                  <a:srgbClr val="142C48"/>
                </a:solidFill>
              </a:defRPr>
            </a:lvl7pPr>
            <a:lvl8pPr algn="l">
              <a:defRPr sz="1875" b="0">
                <a:solidFill>
                  <a:srgbClr val="142C48"/>
                </a:solidFill>
              </a:defRPr>
            </a:lvl8pPr>
            <a:lvl9pPr algn="l">
              <a:defRPr sz="1875" b="0">
                <a:solidFill>
                  <a:srgbClr val="142C48"/>
                </a:solidFill>
              </a:defRPr>
            </a:lvl9pPr>
          </a:lstStyle>
          <a:p xmlns:a="http://schemas.openxmlformats.org/drawingml/2006/main">
            <a:pPr algn="l">
              <a:defRPr sz="1875" b="0">
                <a:solidFill>
                  <a:srgbClr val="142C48"/>
                </a:solidFill>
              </a:defRPr>
            </a:pPr>
            <a:r>
              <a:rPr sz="1875" b="0">
                <a:solidFill>
                  <a:srgbClr val="142C48"/>
                </a:solidFill>
              </a:rPr>
              <a:t>Confirm the concern before a solution.</a:t>
            </a:r>
          </a:p>
        </p:txBody>
      </p:sp>
      <p:sp>
        <p:nvSpPr>
          <p:cNvPr id="16" name="text-15">
            <a:extLst xmlns:a="http://schemas.openxmlformats.org/drawingml/2006/main">
              <a:ext uri="{FF2B5EF4-FFF2-40B4-BE49-F238E27FC236}">
                <a16:creationId xmlns:a16="http://schemas.microsoft.com/office/drawing/2014/main" id="{83DE7888-2B65-42DD-BC51-0F3F04CB40BD}"/>
              </a:ext>
            </a:extLst>
          </p:cNvPr>
          <p:cNvSpPr>
            <a:spLocks xmlns:a="http://schemas.openxmlformats.org/drawingml/2006/main" noGrp="1"/>
          </p:cNvSpPr>
          <p:nvPr/>
        </p:nvSpPr>
        <p:spPr>
          <a:xfrm xmlns:a="http://schemas.openxmlformats.org/drawingml/2006/main">
            <a:off x="6677025" y="4029075"/>
            <a:ext cx="333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F27323"/>
                </a:solidFill>
              </a:defRPr>
            </a:defPPr>
            <a:lvl1pPr algn="l">
              <a:defRPr sz="2025" b="1">
                <a:solidFill>
                  <a:srgbClr val="F27323"/>
                </a:solidFill>
              </a:defRPr>
            </a:lvl1pPr>
            <a:lvl2pPr algn="l">
              <a:defRPr sz="2025" b="1">
                <a:solidFill>
                  <a:srgbClr val="F27323"/>
                </a:solidFill>
              </a:defRPr>
            </a:lvl2pPr>
            <a:lvl3pPr algn="l">
              <a:defRPr sz="2025" b="1">
                <a:solidFill>
                  <a:srgbClr val="F27323"/>
                </a:solidFill>
              </a:defRPr>
            </a:lvl3pPr>
            <a:lvl4pPr algn="l">
              <a:defRPr sz="2025" b="1">
                <a:solidFill>
                  <a:srgbClr val="F27323"/>
                </a:solidFill>
              </a:defRPr>
            </a:lvl4pPr>
            <a:lvl5pPr algn="l">
              <a:defRPr sz="2025" b="1">
                <a:solidFill>
                  <a:srgbClr val="F27323"/>
                </a:solidFill>
              </a:defRPr>
            </a:lvl5pPr>
            <a:lvl6pPr algn="l">
              <a:defRPr sz="2025" b="1">
                <a:solidFill>
                  <a:srgbClr val="F27323"/>
                </a:solidFill>
              </a:defRPr>
            </a:lvl6pPr>
            <a:lvl7pPr algn="l">
              <a:defRPr sz="2025" b="1">
                <a:solidFill>
                  <a:srgbClr val="F27323"/>
                </a:solidFill>
              </a:defRPr>
            </a:lvl7pPr>
            <a:lvl8pPr algn="l">
              <a:defRPr sz="2025" b="1">
                <a:solidFill>
                  <a:srgbClr val="F27323"/>
                </a:solidFill>
              </a:defRPr>
            </a:lvl8pPr>
            <a:lvl9pPr algn="l">
              <a:defRPr sz="2025" b="1">
                <a:solidFill>
                  <a:srgbClr val="F27323"/>
                </a:solidFill>
              </a:defRPr>
            </a:lvl9pPr>
          </a:lstStyle>
          <a:p xmlns:a="http://schemas.openxmlformats.org/drawingml/2006/main">
            <a:pPr algn="l">
              <a:defRPr sz="2025" b="1">
                <a:solidFill>
                  <a:srgbClr val="F27323"/>
                </a:solidFill>
              </a:defRPr>
            </a:pPr>
            <a:r>
              <a:rPr sz="2025" b="1">
                <a:solidFill>
                  <a:srgbClr val="F27323"/>
                </a:solidFill>
              </a:rPr>
              <a:t>3</a:t>
            </a:r>
          </a:p>
        </p:txBody>
      </p:sp>
      <p:sp>
        <p:nvSpPr>
          <p:cNvPr id="17" name="text-16">
            <a:extLst xmlns:a="http://schemas.openxmlformats.org/drawingml/2006/main">
              <a:ext uri="{FF2B5EF4-FFF2-40B4-BE49-F238E27FC236}">
                <a16:creationId xmlns:a16="http://schemas.microsoft.com/office/drawing/2014/main" id="{8D44949E-FFF8-4EB1-8BBC-1079EC9DFA01}"/>
              </a:ext>
            </a:extLst>
          </p:cNvPr>
          <p:cNvSpPr>
            <a:spLocks xmlns:a="http://schemas.openxmlformats.org/drawingml/2006/main" noGrp="1"/>
          </p:cNvSpPr>
          <p:nvPr/>
        </p:nvSpPr>
        <p:spPr>
          <a:xfrm xmlns:a="http://schemas.openxmlformats.org/drawingml/2006/main">
            <a:off x="7124700" y="4029075"/>
            <a:ext cx="445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142C48"/>
                </a:solidFill>
              </a:defRPr>
            </a:defPPr>
            <a:lvl1pPr algn="l">
              <a:defRPr sz="1875" b="0">
                <a:solidFill>
                  <a:srgbClr val="142C48"/>
                </a:solidFill>
              </a:defRPr>
            </a:lvl1pPr>
            <a:lvl2pPr algn="l">
              <a:defRPr sz="1875" b="0">
                <a:solidFill>
                  <a:srgbClr val="142C48"/>
                </a:solidFill>
              </a:defRPr>
            </a:lvl2pPr>
            <a:lvl3pPr algn="l">
              <a:defRPr sz="1875" b="0">
                <a:solidFill>
                  <a:srgbClr val="142C48"/>
                </a:solidFill>
              </a:defRPr>
            </a:lvl3pPr>
            <a:lvl4pPr algn="l">
              <a:defRPr sz="1875" b="0">
                <a:solidFill>
                  <a:srgbClr val="142C48"/>
                </a:solidFill>
              </a:defRPr>
            </a:lvl4pPr>
            <a:lvl5pPr algn="l">
              <a:defRPr sz="1875" b="0">
                <a:solidFill>
                  <a:srgbClr val="142C48"/>
                </a:solidFill>
              </a:defRPr>
            </a:lvl5pPr>
            <a:lvl6pPr algn="l">
              <a:defRPr sz="1875" b="0">
                <a:solidFill>
                  <a:srgbClr val="142C48"/>
                </a:solidFill>
              </a:defRPr>
            </a:lvl6pPr>
            <a:lvl7pPr algn="l">
              <a:defRPr sz="1875" b="0">
                <a:solidFill>
                  <a:srgbClr val="142C48"/>
                </a:solidFill>
              </a:defRPr>
            </a:lvl7pPr>
            <a:lvl8pPr algn="l">
              <a:defRPr sz="1875" b="0">
                <a:solidFill>
                  <a:srgbClr val="142C48"/>
                </a:solidFill>
              </a:defRPr>
            </a:lvl8pPr>
            <a:lvl9pPr algn="l">
              <a:defRPr sz="1875" b="0">
                <a:solidFill>
                  <a:srgbClr val="142C48"/>
                </a:solidFill>
              </a:defRPr>
            </a:lvl9pPr>
          </a:lstStyle>
          <a:p xmlns:a="http://schemas.openxmlformats.org/drawingml/2006/main">
            <a:pPr algn="l">
              <a:defRPr sz="1875" b="0">
                <a:solidFill>
                  <a:srgbClr val="142C48"/>
                </a:solidFill>
              </a:defRPr>
            </a:pPr>
            <a:r>
              <a:rPr sz="1875" b="0">
                <a:solidFill>
                  <a:srgbClr val="142C48"/>
                </a:solidFill>
              </a:rPr>
              <a:t>Check facts and permitted options.</a:t>
            </a:r>
          </a:p>
        </p:txBody>
      </p:sp>
      <p:sp>
        <p:nvSpPr>
          <p:cNvPr id="18" name="text-17">
            <a:extLst xmlns:a="http://schemas.openxmlformats.org/drawingml/2006/main">
              <a:ext uri="{FF2B5EF4-FFF2-40B4-BE49-F238E27FC236}">
                <a16:creationId xmlns:a16="http://schemas.microsoft.com/office/drawing/2014/main" id="{0B8DCBB9-0CF3-4EE3-85C7-F9BDFB18C551}"/>
              </a:ext>
            </a:extLst>
          </p:cNvPr>
          <p:cNvSpPr>
            <a:spLocks xmlns:a="http://schemas.openxmlformats.org/drawingml/2006/main" noGrp="1"/>
          </p:cNvSpPr>
          <p:nvPr/>
        </p:nvSpPr>
        <p:spPr>
          <a:xfrm xmlns:a="http://schemas.openxmlformats.org/drawingml/2006/main">
            <a:off x="6677025" y="4686300"/>
            <a:ext cx="333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F27323"/>
                </a:solidFill>
              </a:defRPr>
            </a:defPPr>
            <a:lvl1pPr algn="l">
              <a:defRPr sz="2025" b="1">
                <a:solidFill>
                  <a:srgbClr val="F27323"/>
                </a:solidFill>
              </a:defRPr>
            </a:lvl1pPr>
            <a:lvl2pPr algn="l">
              <a:defRPr sz="2025" b="1">
                <a:solidFill>
                  <a:srgbClr val="F27323"/>
                </a:solidFill>
              </a:defRPr>
            </a:lvl2pPr>
            <a:lvl3pPr algn="l">
              <a:defRPr sz="2025" b="1">
                <a:solidFill>
                  <a:srgbClr val="F27323"/>
                </a:solidFill>
              </a:defRPr>
            </a:lvl3pPr>
            <a:lvl4pPr algn="l">
              <a:defRPr sz="2025" b="1">
                <a:solidFill>
                  <a:srgbClr val="F27323"/>
                </a:solidFill>
              </a:defRPr>
            </a:lvl4pPr>
            <a:lvl5pPr algn="l">
              <a:defRPr sz="2025" b="1">
                <a:solidFill>
                  <a:srgbClr val="F27323"/>
                </a:solidFill>
              </a:defRPr>
            </a:lvl5pPr>
            <a:lvl6pPr algn="l">
              <a:defRPr sz="2025" b="1">
                <a:solidFill>
                  <a:srgbClr val="F27323"/>
                </a:solidFill>
              </a:defRPr>
            </a:lvl6pPr>
            <a:lvl7pPr algn="l">
              <a:defRPr sz="2025" b="1">
                <a:solidFill>
                  <a:srgbClr val="F27323"/>
                </a:solidFill>
              </a:defRPr>
            </a:lvl7pPr>
            <a:lvl8pPr algn="l">
              <a:defRPr sz="2025" b="1">
                <a:solidFill>
                  <a:srgbClr val="F27323"/>
                </a:solidFill>
              </a:defRPr>
            </a:lvl8pPr>
            <a:lvl9pPr algn="l">
              <a:defRPr sz="2025" b="1">
                <a:solidFill>
                  <a:srgbClr val="F27323"/>
                </a:solidFill>
              </a:defRPr>
            </a:lvl9pPr>
          </a:lstStyle>
          <a:p xmlns:a="http://schemas.openxmlformats.org/drawingml/2006/main">
            <a:pPr algn="l">
              <a:defRPr sz="2025" b="1">
                <a:solidFill>
                  <a:srgbClr val="F27323"/>
                </a:solidFill>
              </a:defRPr>
            </a:pPr>
            <a:r>
              <a:rPr sz="2025" b="1">
                <a:solidFill>
                  <a:srgbClr val="F27323"/>
                </a:solidFill>
              </a:rPr>
              <a:t>4</a:t>
            </a:r>
          </a:p>
        </p:txBody>
      </p:sp>
      <p:sp>
        <p:nvSpPr>
          <p:cNvPr id="19" name="text-18">
            <a:extLst xmlns:a="http://schemas.openxmlformats.org/drawingml/2006/main">
              <a:ext uri="{FF2B5EF4-FFF2-40B4-BE49-F238E27FC236}">
                <a16:creationId xmlns:a16="http://schemas.microsoft.com/office/drawing/2014/main" id="{4CC6708B-5514-4526-BF86-F9B277D3BC8D}"/>
              </a:ext>
            </a:extLst>
          </p:cNvPr>
          <p:cNvSpPr>
            <a:spLocks xmlns:a="http://schemas.openxmlformats.org/drawingml/2006/main" noGrp="1"/>
          </p:cNvSpPr>
          <p:nvPr/>
        </p:nvSpPr>
        <p:spPr>
          <a:xfrm xmlns:a="http://schemas.openxmlformats.org/drawingml/2006/main">
            <a:off x="7124700" y="4686300"/>
            <a:ext cx="445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142C48"/>
                </a:solidFill>
              </a:defRPr>
            </a:defPPr>
            <a:lvl1pPr algn="l">
              <a:defRPr sz="1875" b="0">
                <a:solidFill>
                  <a:srgbClr val="142C48"/>
                </a:solidFill>
              </a:defRPr>
            </a:lvl1pPr>
            <a:lvl2pPr algn="l">
              <a:defRPr sz="1875" b="0">
                <a:solidFill>
                  <a:srgbClr val="142C48"/>
                </a:solidFill>
              </a:defRPr>
            </a:lvl2pPr>
            <a:lvl3pPr algn="l">
              <a:defRPr sz="1875" b="0">
                <a:solidFill>
                  <a:srgbClr val="142C48"/>
                </a:solidFill>
              </a:defRPr>
            </a:lvl3pPr>
            <a:lvl4pPr algn="l">
              <a:defRPr sz="1875" b="0">
                <a:solidFill>
                  <a:srgbClr val="142C48"/>
                </a:solidFill>
              </a:defRPr>
            </a:lvl4pPr>
            <a:lvl5pPr algn="l">
              <a:defRPr sz="1875" b="0">
                <a:solidFill>
                  <a:srgbClr val="142C48"/>
                </a:solidFill>
              </a:defRPr>
            </a:lvl5pPr>
            <a:lvl6pPr algn="l">
              <a:defRPr sz="1875" b="0">
                <a:solidFill>
                  <a:srgbClr val="142C48"/>
                </a:solidFill>
              </a:defRPr>
            </a:lvl6pPr>
            <a:lvl7pPr algn="l">
              <a:defRPr sz="1875" b="0">
                <a:solidFill>
                  <a:srgbClr val="142C48"/>
                </a:solidFill>
              </a:defRPr>
            </a:lvl7pPr>
            <a:lvl8pPr algn="l">
              <a:defRPr sz="1875" b="0">
                <a:solidFill>
                  <a:srgbClr val="142C48"/>
                </a:solidFill>
              </a:defRPr>
            </a:lvl8pPr>
            <a:lvl9pPr algn="l">
              <a:defRPr sz="1875" b="0">
                <a:solidFill>
                  <a:srgbClr val="142C48"/>
                </a:solidFill>
              </a:defRPr>
            </a:lvl9pPr>
          </a:lstStyle>
          <a:p xmlns:a="http://schemas.openxmlformats.org/drawingml/2006/main">
            <a:pPr algn="l">
              <a:defRPr sz="1875" b="0">
                <a:solidFill>
                  <a:srgbClr val="142C48"/>
                </a:solidFill>
              </a:defRPr>
            </a:pPr>
            <a:r>
              <a:rPr sz="1875" b="0">
                <a:solidFill>
                  <a:srgbClr val="142C48"/>
                </a:solidFill>
              </a:rPr>
              <a:t>Agree and record the next action.</a:t>
            </a:r>
          </a:p>
        </p:txBody>
      </p:sp>
      <p:sp>
        <p:nvSpPr>
          <p:cNvPr id="20" name="text-19">
            <a:extLst xmlns:a="http://schemas.openxmlformats.org/drawingml/2006/main">
              <a:ext uri="{FF2B5EF4-FFF2-40B4-BE49-F238E27FC236}">
                <a16:creationId xmlns:a16="http://schemas.microsoft.com/office/drawing/2014/main" id="{F6CBF236-F7E6-4D28-A1A7-95643B7D7291}"/>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Staff review: facts, tone, eligibility and contact permission.</a:t>
            </a:r>
          </a:p>
        </p:txBody>
      </p:sp>
    </p:spTree>
    <p:extLst>
      <p:ext uri="{BB962C8B-B14F-4D97-AF65-F5344CB8AC3E}">
        <p14:creationId xmlns:p14="http://schemas.microsoft.com/office/powerpoint/2010/main" val="13171061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017678D-4568-4708-B493-681E3974BBF7}"/>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TOOLS</a:t>
            </a:r>
          </a:p>
        </p:txBody>
      </p:sp>
      <p:sp>
        <p:nvSpPr>
          <p:cNvPr id="2" name="text-1">
            <a:extLst xmlns:a="http://schemas.openxmlformats.org/drawingml/2006/main">
              <a:ext uri="{FF2B5EF4-FFF2-40B4-BE49-F238E27FC236}">
                <a16:creationId xmlns:a16="http://schemas.microsoft.com/office/drawing/2014/main" id="{661082FA-DDD8-418B-8116-D418AA794C39}"/>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Technology Architecture and Tool Choices</a:t>
            </a:r>
          </a:p>
        </p:txBody>
      </p:sp>
      <p:sp>
        <p:nvSpPr>
          <p:cNvPr id="3" name="">
            <a:extLst xmlns:a="http://schemas.openxmlformats.org/drawingml/2006/main">
              <a:ext uri="{FF2B5EF4-FFF2-40B4-BE49-F238E27FC236}">
                <a16:creationId xmlns:a16="http://schemas.microsoft.com/office/drawing/2014/main" id="{9A38F656-B467-433D-A418-D9C1A457F11E}"/>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ACEAC59-F731-4F25-8956-A0C86FF72B16}"/>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BBB81314-1041-4DBD-A722-02978321558D}"/>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SYSTEM.md and n8n/README.md. Five migrated workflows remain unpublished; timers are disabled.</a:t>
            </a:r>
          </a:p>
        </p:txBody>
      </p:sp>
      <p:sp>
        <p:nvSpPr>
          <p:cNvPr id="6" name="text-5">
            <a:extLst xmlns:a="http://schemas.openxmlformats.org/drawingml/2006/main">
              <a:ext uri="{FF2B5EF4-FFF2-40B4-BE49-F238E27FC236}">
                <a16:creationId xmlns:a16="http://schemas.microsoft.com/office/drawing/2014/main" id="{5956B348-05FC-4B11-ACCC-371AA69D5725}"/>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18 / 24</a:t>
            </a:r>
          </a:p>
        </p:txBody>
      </p:sp>
      <p:graphicFrame>
        <p:nvGraphicFramePr>
          <p:cNvPr id="7" name="">
            <a:extLst xmlns:a="http://schemas.openxmlformats.org/drawingml/2006/main">
              <a:ext uri="{FF2B5EF4-FFF2-40B4-BE49-F238E27FC236}">
                <a16:creationId xmlns:a16="http://schemas.microsoft.com/office/drawing/2014/main" id="{935ECA81-31EE-4E65-9D9B-40AA7351A11A}"/>
              </a:ext>
            </a:extLst>
          </p:cNvPr>
          <p:cNvGraphicFramePr/>
          <p:nvPr/>
        </p:nvGraphicFramePr>
        <p:xfrm>
          <a:off xmlns:a="http://schemas.openxmlformats.org/drawingml/2006/main" x="609600" y="1828800"/>
          <a:ext xmlns:a="http://schemas.openxmlformats.org/drawingml/2006/main" cx="10972800" cy="3581400"/>
        </p:xfrm>
        <a:graphic xmlns:a="http://schemas.openxmlformats.org/drawingml/2006/main">
          <a:graphicData uri="http://schemas.openxmlformats.org/drawingml/2006/table">
            <a:tbl>
              <a:tblPr/>
              <a:tblGrid>
                <a:gridCol w="2857500"/>
                <a:gridCol w="4476750"/>
                <a:gridCol w="3638550"/>
              </a:tblGrid>
              <a:tr h="495300">
                <a:tc>
                  <a:txBody>
                    <a:bodyPr/>
                    <a:lstStyle/>
                    <a:p>
                      <a:r>
                        <a:rPr sz="1800" b="1">
                          <a:solidFill>
                            <a:srgbClr val="0D69B3"/>
                          </a:solidFill>
                        </a:rPr>
                        <a:t>Tool</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800" b="1">
                          <a:solidFill>
                            <a:srgbClr val="0D69B3"/>
                          </a:solidFill>
                        </a:rPr>
                        <a:t>Responsibility</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800" b="1">
                          <a:solidFill>
                            <a:srgbClr val="0D69B3"/>
                          </a:solidFill>
                        </a:rPr>
                        <a:t>Reason for selection</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617220">
                <a:tc>
                  <a:txBody>
                    <a:bodyPr/>
                    <a:lstStyle/>
                    <a:p>
                      <a:r>
                        <a:rPr sz="1800" b="1">
                          <a:solidFill>
                            <a:srgbClr val="142C48"/>
                          </a:solidFill>
                        </a:rPr>
                        <a:t>Python + ML libraries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Features, comparison, prediction and SHAP</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Reproducible offline batch analytics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17220">
                <a:tc>
                  <a:txBody>
                    <a:bodyPr/>
                    <a:lstStyle/>
                    <a:p>
                      <a:r>
                        <a:rPr sz="1800" b="1">
                          <a:solidFill>
                            <a:srgbClr val="142C48"/>
                          </a:solidFill>
                        </a:rPr>
                        <a:t>Supabase / PostgreSQL</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Data, Auth, row-level access, transactions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Shared state and scoped access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17220">
                <a:tc>
                  <a:txBody>
                    <a:bodyPr/>
                    <a:lstStyle/>
                    <a:p>
                      <a:r>
                        <a:rPr sz="1800" b="1">
                          <a:solidFill>
                            <a:srgbClr val="142C48"/>
                          </a:solidFill>
                        </a:rPr>
                        <a:t>React / Vite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CS and customer-demo interfaces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Task-focused, non-technical usability</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17220">
                <a:tc>
                  <a:txBody>
                    <a:bodyPr/>
                    <a:lstStyle/>
                    <a:p>
                      <a:r>
                        <a:rPr sz="1800" b="1">
                          <a:solidFill>
                            <a:srgbClr val="142C48"/>
                          </a:solidFill>
                        </a:rPr>
                        <a:t>n8n</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AI requests, mock delivery, care operations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Inspectable orchestration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17220">
                <a:tc>
                  <a:txBody>
                    <a:bodyPr/>
                    <a:lstStyle/>
                    <a:p>
                      <a:r>
                        <a:rPr sz="1800" b="1">
                          <a:solidFill>
                            <a:srgbClr val="142C48"/>
                          </a:solidFill>
                        </a:rPr>
                        <a:t>LLM + demo knowledge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Explanation, message and call-script drafts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Context-based drafting and review</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31C69CD6-5ABE-416B-813F-16D59A98DBA1}"/>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Shared case state connects analytics and customer care.</a:t>
            </a:r>
          </a:p>
        </p:txBody>
      </p:sp>
    </p:spTree>
    <p:extLst>
      <p:ext uri="{BB962C8B-B14F-4D97-AF65-F5344CB8AC3E}">
        <p14:creationId xmlns:p14="http://schemas.microsoft.com/office/powerpoint/2010/main" val="10323450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98534435-7496-4635-AA48-36F72628FF10}"/>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TOOLS</a:t>
            </a:r>
          </a:p>
        </p:txBody>
      </p:sp>
      <p:sp>
        <p:nvSpPr>
          <p:cNvPr id="2" name="text-1">
            <a:extLst xmlns:a="http://schemas.openxmlformats.org/drawingml/2006/main">
              <a:ext uri="{FF2B5EF4-FFF2-40B4-BE49-F238E27FC236}">
                <a16:creationId xmlns:a16="http://schemas.microsoft.com/office/drawing/2014/main" id="{F4FB8118-4753-4C05-A6F1-71276DD9494F}"/>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Test Results</a:t>
            </a:r>
          </a:p>
        </p:txBody>
      </p:sp>
      <p:sp>
        <p:nvSpPr>
          <p:cNvPr id="3" name="">
            <a:extLst xmlns:a="http://schemas.openxmlformats.org/drawingml/2006/main">
              <a:ext uri="{FF2B5EF4-FFF2-40B4-BE49-F238E27FC236}">
                <a16:creationId xmlns:a16="http://schemas.microsoft.com/office/drawing/2014/main" id="{4DA0AB37-9309-428A-9D9E-344D27B0FC9B}"/>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736B882-9C59-42BB-9CC8-2376CA202DB8}"/>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34CF6D3C-C277-4A43-8B10-2286AF45F2C5}"/>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n8n_agents.json and n8n_workflows.json, 18 Oct 2026; n8n_migration.json. Historical previous-instance / v4 evidence.</a:t>
            </a:r>
          </a:p>
        </p:txBody>
      </p:sp>
      <p:sp>
        <p:nvSpPr>
          <p:cNvPr id="6" name="text-5">
            <a:extLst xmlns:a="http://schemas.openxmlformats.org/drawingml/2006/main">
              <a:ext uri="{FF2B5EF4-FFF2-40B4-BE49-F238E27FC236}">
                <a16:creationId xmlns:a16="http://schemas.microsoft.com/office/drawing/2014/main" id="{39BDC900-FB13-4AF9-AC6D-FDE1CB714311}"/>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19 / 24</a:t>
            </a:r>
          </a:p>
        </p:txBody>
      </p:sp>
      <p:sp>
        <p:nvSpPr>
          <p:cNvPr id="7" name="text-6">
            <a:extLst xmlns:a="http://schemas.openxmlformats.org/drawingml/2006/main">
              <a:ext uri="{FF2B5EF4-FFF2-40B4-BE49-F238E27FC236}">
                <a16:creationId xmlns:a16="http://schemas.microsoft.com/office/drawing/2014/main" id="{77AED650-1701-428A-86CE-15013860C8B5}"/>
              </a:ext>
            </a:extLst>
          </p:cNvPr>
          <p:cNvSpPr>
            <a:spLocks xmlns:a="http://schemas.openxmlformats.org/drawingml/2006/main" noGrp="1"/>
          </p:cNvSpPr>
          <p:nvPr/>
        </p:nvSpPr>
        <p:spPr>
          <a:xfrm xmlns:a="http://schemas.openxmlformats.org/drawingml/2006/main">
            <a:off x="609600" y="17621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0D69B3"/>
                </a:solidFill>
              </a:defRPr>
            </a:defPPr>
            <a:lvl1pPr algn="l">
              <a:defRPr sz="1950" b="1">
                <a:solidFill>
                  <a:srgbClr val="0D69B3"/>
                </a:solidFill>
              </a:defRPr>
            </a:lvl1pPr>
            <a:lvl2pPr algn="l">
              <a:defRPr sz="1950" b="1">
                <a:solidFill>
                  <a:srgbClr val="0D69B3"/>
                </a:solidFill>
              </a:defRPr>
            </a:lvl2pPr>
            <a:lvl3pPr algn="l">
              <a:defRPr sz="1950" b="1">
                <a:solidFill>
                  <a:srgbClr val="0D69B3"/>
                </a:solidFill>
              </a:defRPr>
            </a:lvl3pPr>
            <a:lvl4pPr algn="l">
              <a:defRPr sz="1950" b="1">
                <a:solidFill>
                  <a:srgbClr val="0D69B3"/>
                </a:solidFill>
              </a:defRPr>
            </a:lvl4pPr>
            <a:lvl5pPr algn="l">
              <a:defRPr sz="1950" b="1">
                <a:solidFill>
                  <a:srgbClr val="0D69B3"/>
                </a:solidFill>
              </a:defRPr>
            </a:lvl5pPr>
            <a:lvl6pPr algn="l">
              <a:defRPr sz="1950" b="1">
                <a:solidFill>
                  <a:srgbClr val="0D69B3"/>
                </a:solidFill>
              </a:defRPr>
            </a:lvl6pPr>
            <a:lvl7pPr algn="l">
              <a:defRPr sz="1950" b="1">
                <a:solidFill>
                  <a:srgbClr val="0D69B3"/>
                </a:solidFill>
              </a:defRPr>
            </a:lvl7pPr>
            <a:lvl8pPr algn="l">
              <a:defRPr sz="1950" b="1">
                <a:solidFill>
                  <a:srgbClr val="0D69B3"/>
                </a:solidFill>
              </a:defRPr>
            </a:lvl8pPr>
            <a:lvl9pPr algn="l">
              <a:defRPr sz="1950" b="1">
                <a:solidFill>
                  <a:srgbClr val="0D69B3"/>
                </a:solidFill>
              </a:defRPr>
            </a:lvl9pPr>
          </a:lstStyle>
          <a:p xmlns:a="http://schemas.openxmlformats.org/drawingml/2006/main">
            <a:pPr algn="l">
              <a:defRPr sz="1950" b="1">
                <a:solidFill>
                  <a:srgbClr val="0D69B3"/>
                </a:solidFill>
              </a:defRPr>
            </a:pPr>
            <a:r>
              <a:rPr sz="1950" b="1">
                <a:solidFill>
                  <a:srgbClr val="0D69B3"/>
                </a:solidFill>
              </a:rPr>
              <a:t>Historical checks — previous instance, 18 October 2026</a:t>
            </a:r>
          </a:p>
        </p:txBody>
      </p:sp>
      <p:graphicFrame>
        <p:nvGraphicFramePr>
          <p:cNvPr id="8" name="">
            <a:extLst xmlns:a="http://schemas.openxmlformats.org/drawingml/2006/main">
              <a:ext uri="{FF2B5EF4-FFF2-40B4-BE49-F238E27FC236}">
                <a16:creationId xmlns:a16="http://schemas.microsoft.com/office/drawing/2014/main" id="{E96B23F4-BBB6-426F-B379-CA28DCE6EDD4}"/>
              </a:ext>
            </a:extLst>
          </p:cNvPr>
          <p:cNvGraphicFramePr/>
          <p:nvPr/>
        </p:nvGraphicFramePr>
        <p:xfrm>
          <a:off xmlns:a="http://schemas.openxmlformats.org/drawingml/2006/main" x="609600" y="2333625"/>
          <a:ext xmlns:a="http://schemas.openxmlformats.org/drawingml/2006/main" cx="10972800" cy="2933700"/>
        </p:xfrm>
        <a:graphic xmlns:a="http://schemas.openxmlformats.org/drawingml/2006/main">
          <a:graphicData uri="http://schemas.openxmlformats.org/drawingml/2006/table">
            <a:tbl>
              <a:tblPr/>
              <a:tblGrid>
                <a:gridCol w="2857500"/>
                <a:gridCol w="8115300"/>
              </a:tblGrid>
              <a:tr h="495300">
                <a:tc>
                  <a:txBody>
                    <a:bodyPr/>
                    <a:lstStyle/>
                    <a:p>
                      <a:r>
                        <a:rPr sz="1725" b="1">
                          <a:solidFill>
                            <a:srgbClr val="0D69B3"/>
                          </a:solidFill>
                        </a:rPr>
                        <a:t>Check</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725" b="1">
                          <a:solidFill>
                            <a:srgbClr val="0D69B3"/>
                          </a:solidFill>
                        </a:rPr>
                        <a:t>Recorded observation</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487680">
                <a:tc>
                  <a:txBody>
                    <a:bodyPr/>
                    <a:lstStyle/>
                    <a:p>
                      <a:r>
                        <a:rPr sz="1725" b="1">
                          <a:solidFill>
                            <a:srgbClr val="142C48"/>
                          </a:solidFill>
                        </a:rPr>
                        <a:t>Output types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Message, call script and explanation completed with knowledge tool</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87680">
                <a:tc>
                  <a:txBody>
                    <a:bodyPr/>
                    <a:lstStyle/>
                    <a:p>
                      <a:r>
                        <a:rPr sz="1725" b="1">
                          <a:solidFill>
                            <a:srgbClr val="142C48"/>
                          </a:solidFill>
                        </a:rPr>
                        <a:t>Approval separation</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Unapproved message unsent; script/explanation created no outbound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87680">
                <a:tc>
                  <a:txBody>
                    <a:bodyPr/>
                    <a:lstStyle/>
                    <a:p>
                      <a:r>
                        <a:rPr sz="1725" b="1">
                          <a:solidFill>
                            <a:srgbClr val="142C48"/>
                          </a:solidFill>
                        </a:rPr>
                        <a:t>Duplicate handling</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Requests coalesced; wakeups claimed each job once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87680">
                <a:tc>
                  <a:txBody>
                    <a:bodyPr/>
                    <a:lstStyle/>
                    <a:p>
                      <a:r>
                        <a:rPr sz="1725" b="1">
                          <a:solidFill>
                            <a:srgbClr val="142C48"/>
                          </a:solidFill>
                        </a:rPr>
                        <a:t>Mock interaction</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Approved delivery and deduplicated customer reply recorded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487680">
                <a:tc>
                  <a:txBody>
                    <a:bodyPr/>
                    <a:lstStyle/>
                    <a:p>
                      <a:r>
                        <a:rPr sz="1725" b="1">
                          <a:solidFill>
                            <a:srgbClr val="142C48"/>
                          </a:solidFill>
                        </a:rPr>
                        <a:t>Grounding boundary</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One unsafe draft rejected and superseded before sending</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9" name="text-7">
            <a:extLst xmlns:a="http://schemas.openxmlformats.org/drawingml/2006/main">
              <a:ext uri="{FF2B5EF4-FFF2-40B4-BE49-F238E27FC236}">
                <a16:creationId xmlns:a16="http://schemas.microsoft.com/office/drawing/2014/main" id="{C6767094-D7F0-4E38-A5F2-802BB84AA815}"/>
              </a:ext>
            </a:extLst>
          </p:cNvPr>
          <p:cNvSpPr>
            <a:spLocks xmlns:a="http://schemas.openxmlformats.org/drawingml/2006/main" noGrp="1"/>
          </p:cNvSpPr>
          <p:nvPr/>
        </p:nvSpPr>
        <p:spPr>
          <a:xfrm xmlns:a="http://schemas.openxmlformats.org/drawingml/2006/main">
            <a:off x="609600" y="56102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Current migration: 5 workflows unpublished. No new runtime acceptance test.</a:t>
            </a:r>
          </a:p>
        </p:txBody>
      </p:sp>
      <p:sp>
        <p:nvSpPr>
          <p:cNvPr id="10" name="text-8">
            <a:extLst xmlns:a="http://schemas.openxmlformats.org/drawingml/2006/main">
              <a:ext uri="{FF2B5EF4-FFF2-40B4-BE49-F238E27FC236}">
                <a16:creationId xmlns:a16="http://schemas.microsoft.com/office/drawing/2014/main" id="{09D8F23C-0221-47C2-AB6C-DFF84FB93100}"/>
              </a:ext>
            </a:extLst>
          </p:cNvPr>
          <p:cNvSpPr>
            <a:spLocks xmlns:a="http://schemas.openxmlformats.org/drawingml/2006/main" noGrp="1"/>
          </p:cNvSpPr>
          <p:nvPr/>
        </p:nvSpPr>
        <p:spPr>
          <a:xfrm xmlns:a="http://schemas.openxmlformats.org/drawingml/2006/main">
            <a:off x="609600" y="5981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425" b="0">
                <a:solidFill>
                  <a:srgbClr val="61738A"/>
                </a:solidFill>
              </a:defRPr>
            </a:defPPr>
            <a:lvl1pPr algn="l">
              <a:defRPr sz="1425" b="0">
                <a:solidFill>
                  <a:srgbClr val="61738A"/>
                </a:solidFill>
              </a:defRPr>
            </a:lvl1pPr>
            <a:lvl2pPr algn="l">
              <a:defRPr sz="1425" b="0">
                <a:solidFill>
                  <a:srgbClr val="61738A"/>
                </a:solidFill>
              </a:defRPr>
            </a:lvl2pPr>
            <a:lvl3pPr algn="l">
              <a:defRPr sz="1425" b="0">
                <a:solidFill>
                  <a:srgbClr val="61738A"/>
                </a:solidFill>
              </a:defRPr>
            </a:lvl3pPr>
            <a:lvl4pPr algn="l">
              <a:defRPr sz="1425" b="0">
                <a:solidFill>
                  <a:srgbClr val="61738A"/>
                </a:solidFill>
              </a:defRPr>
            </a:lvl4pPr>
            <a:lvl5pPr algn="l">
              <a:defRPr sz="1425" b="0">
                <a:solidFill>
                  <a:srgbClr val="61738A"/>
                </a:solidFill>
              </a:defRPr>
            </a:lvl5pPr>
            <a:lvl6pPr algn="l">
              <a:defRPr sz="1425" b="0">
                <a:solidFill>
                  <a:srgbClr val="61738A"/>
                </a:solidFill>
              </a:defRPr>
            </a:lvl6pPr>
            <a:lvl7pPr algn="l">
              <a:defRPr sz="1425" b="0">
                <a:solidFill>
                  <a:srgbClr val="61738A"/>
                </a:solidFill>
              </a:defRPr>
            </a:lvl7pPr>
            <a:lvl8pPr algn="l">
              <a:defRPr sz="1425" b="0">
                <a:solidFill>
                  <a:srgbClr val="61738A"/>
                </a:solidFill>
              </a:defRPr>
            </a:lvl8pPr>
            <a:lvl9pPr algn="l">
              <a:defRPr sz="1425" b="0">
                <a:solidFill>
                  <a:srgbClr val="61738A"/>
                </a:solidFill>
              </a:defRPr>
            </a:lvl9pPr>
          </a:lstStyle>
          <a:p xmlns:a="http://schemas.openxmlformats.org/drawingml/2006/main">
            <a:pPr algn="l">
              <a:defRPr sz="1425" b="0">
                <a:solidFill>
                  <a:srgbClr val="61738A"/>
                </a:solidFill>
              </a:defRPr>
            </a:pPr>
            <a:r>
              <a:rPr sz="1425" b="0">
                <a:solidFill>
                  <a:srgbClr val="61738A"/>
                </a:solidFill>
              </a:rPr>
              <a:t>Specific behaviour checks, not an AI accuracy rate or an SLA.</a:t>
            </a:r>
          </a:p>
        </p:txBody>
      </p:sp>
    </p:spTree>
    <p:extLst>
      <p:ext uri="{BB962C8B-B14F-4D97-AF65-F5344CB8AC3E}">
        <p14:creationId xmlns:p14="http://schemas.microsoft.com/office/powerpoint/2010/main" val="75337951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5513E126-59CB-4079-A544-34F0DC5A8867}"/>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TOOLS</a:t>
            </a:r>
          </a:p>
        </p:txBody>
      </p:sp>
      <p:sp>
        <p:nvSpPr>
          <p:cNvPr id="2" name="text-1">
            <a:extLst xmlns:a="http://schemas.openxmlformats.org/drawingml/2006/main">
              <a:ext uri="{FF2B5EF4-FFF2-40B4-BE49-F238E27FC236}">
                <a16:creationId xmlns:a16="http://schemas.microsoft.com/office/drawing/2014/main" id="{1E19F482-8161-4E5D-9FD9-74202C29A839}"/>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Validation, Controls and Current Limitations</a:t>
            </a:r>
          </a:p>
        </p:txBody>
      </p:sp>
      <p:sp>
        <p:nvSpPr>
          <p:cNvPr id="3" name="">
            <a:extLst xmlns:a="http://schemas.openxmlformats.org/drawingml/2006/main">
              <a:ext uri="{FF2B5EF4-FFF2-40B4-BE49-F238E27FC236}">
                <a16:creationId xmlns:a16="http://schemas.microsoft.com/office/drawing/2014/main" id="{E593B267-7397-48E6-9A2E-B3C461F05C55}"/>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2FE49C-42B0-4E51-B658-8CC32524F7CD}"/>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04897128-164C-415B-8F19-286356C8EF64}"/>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v5 supabase_v5_cutover.json and shap_summary.json. Local/SQL checks do not establish browser E2E or cloud concurrency.</a:t>
            </a:r>
          </a:p>
        </p:txBody>
      </p:sp>
      <p:sp>
        <p:nvSpPr>
          <p:cNvPr id="6" name="text-5">
            <a:extLst xmlns:a="http://schemas.openxmlformats.org/drawingml/2006/main">
              <a:ext uri="{FF2B5EF4-FFF2-40B4-BE49-F238E27FC236}">
                <a16:creationId xmlns:a16="http://schemas.microsoft.com/office/drawing/2014/main" id="{723A1FD4-287A-48BF-BBBD-E64DA7CD35DA}"/>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20 / 24</a:t>
            </a:r>
          </a:p>
        </p:txBody>
      </p:sp>
      <p:graphicFrame>
        <p:nvGraphicFramePr>
          <p:cNvPr id="7" name="">
            <a:extLst xmlns:a="http://schemas.openxmlformats.org/drawingml/2006/main">
              <a:ext uri="{FF2B5EF4-FFF2-40B4-BE49-F238E27FC236}">
                <a16:creationId xmlns:a16="http://schemas.microsoft.com/office/drawing/2014/main" id="{6B2C2BD3-8A2E-4B07-BE54-9E94DE1DFE49}"/>
              </a:ext>
            </a:extLst>
          </p:cNvPr>
          <p:cNvGraphicFramePr/>
          <p:nvPr/>
        </p:nvGraphicFramePr>
        <p:xfrm>
          <a:off xmlns:a="http://schemas.openxmlformats.org/drawingml/2006/main" x="609600" y="1809750"/>
          <a:ext xmlns:a="http://schemas.openxmlformats.org/drawingml/2006/main" cx="10972800" cy="3724275"/>
        </p:xfrm>
        <a:graphic xmlns:a="http://schemas.openxmlformats.org/drawingml/2006/main">
          <a:graphicData uri="http://schemas.openxmlformats.org/drawingml/2006/table">
            <a:tbl>
              <a:tblPr/>
              <a:tblGrid>
                <a:gridCol w="2476500"/>
                <a:gridCol w="4686300"/>
                <a:gridCol w="3810000"/>
              </a:tblGrid>
              <a:tr h="495300">
                <a:tc>
                  <a:txBody>
                    <a:bodyPr/>
                    <a:lstStyle/>
                    <a:p>
                      <a:r>
                        <a:rPr sz="1725" b="1">
                          <a:solidFill>
                            <a:srgbClr val="0D69B3"/>
                          </a:solidFill>
                        </a:rPr>
                        <a:t>Area</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725" b="1">
                          <a:solidFill>
                            <a:srgbClr val="0D69B3"/>
                          </a:solidFill>
                        </a:rPr>
                        <a:t>Evidence available</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725" b="1">
                          <a:solidFill>
                            <a:srgbClr val="0D69B3"/>
                          </a:solidFill>
                        </a:rPr>
                        <a:t>Remaining boundary</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645795">
                <a:tc>
                  <a:txBody>
                    <a:bodyPr/>
                    <a:lstStyle/>
                    <a:p>
                      <a:r>
                        <a:rPr sz="1725" b="1">
                          <a:solidFill>
                            <a:srgbClr val="142C48"/>
                          </a:solidFill>
                        </a:rPr>
                        <a:t>ML and explanations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43 ML tests; SHAP reconstruction verified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Synthetic data; no FPT model validation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45795">
                <a:tc>
                  <a:txBody>
                    <a:bodyPr/>
                    <a:lstStyle/>
                    <a:p>
                      <a:r>
                        <a:rPr sz="1725" b="1">
                          <a:solidFill>
                            <a:srgbClr val="142C48"/>
                          </a:solidFill>
                        </a:rPr>
                        <a:t>Database behaviour</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38 existing + 7 rolling + 2 restore checks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Cloud concurrency not established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45795">
                <a:tc>
                  <a:txBody>
                    <a:bodyPr/>
                    <a:lstStyle/>
                    <a:p>
                      <a:r>
                        <a:rPr sz="1725" b="1">
                          <a:solidFill>
                            <a:srgbClr val="142C48"/>
                          </a:solidFill>
                        </a:rPr>
                        <a:t>Access scope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Agent 1 case; Supervisor 207; portal 0 internal</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Fresh v5 browser journey pending</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45795">
                <a:tc>
                  <a:txBody>
                    <a:bodyPr/>
                    <a:lstStyle/>
                    <a:p>
                      <a:r>
                        <a:rPr sz="1725" b="1">
                          <a:solidFill>
                            <a:srgbClr val="142C48"/>
                          </a:solidFill>
                        </a:rPr>
                        <a:t>UI source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10 tests and build passed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Updated Vercel deployment pending</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45795">
                <a:tc>
                  <a:txBody>
                    <a:bodyPr/>
                    <a:lstStyle/>
                    <a:p>
                      <a:r>
                        <a:rPr sz="1725" b="1">
                          <a:solidFill>
                            <a:srgbClr val="142C48"/>
                          </a:solidFill>
                        </a:rPr>
                        <a:t>Workflow controls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Historical approval, opt-out, deduplication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725" b="0">
                          <a:solidFill>
                            <a:srgbClr val="142C48"/>
                          </a:solidFill>
                        </a:rPr>
                        <a:t>New n8n runtime not accepted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A3985614-4FAA-44C1-8BE2-7EC4AE21F8AA}"/>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Technical feasibility is supported. Business impact remains unmeasured.</a:t>
            </a:r>
          </a:p>
        </p:txBody>
      </p:sp>
    </p:spTree>
    <p:extLst>
      <p:ext uri="{BB962C8B-B14F-4D97-AF65-F5344CB8AC3E}">
        <p14:creationId xmlns:p14="http://schemas.microsoft.com/office/powerpoint/2010/main" val="212184700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4832ACCC-A503-4228-8A02-37B67FA748D1}"/>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BUSINESS VALUE &amp; STRATEGY</a:t>
            </a:r>
          </a:p>
        </p:txBody>
      </p:sp>
      <p:sp>
        <p:nvSpPr>
          <p:cNvPr id="2" name="text-1">
            <a:extLst xmlns:a="http://schemas.openxmlformats.org/drawingml/2006/main">
              <a:ext uri="{FF2B5EF4-FFF2-40B4-BE49-F238E27FC236}">
                <a16:creationId xmlns:a16="http://schemas.microsoft.com/office/drawing/2014/main" id="{7162235E-EA48-407B-90B0-7348465C6B9C}"/>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Expected Business Value and Cost Scenarios</a:t>
            </a:r>
          </a:p>
        </p:txBody>
      </p:sp>
      <p:sp>
        <p:nvSpPr>
          <p:cNvPr id="3" name="">
            <a:extLst xmlns:a="http://schemas.openxmlformats.org/drawingml/2006/main">
              <a:ext uri="{FF2B5EF4-FFF2-40B4-BE49-F238E27FC236}">
                <a16:creationId xmlns:a16="http://schemas.microsoft.com/office/drawing/2014/main" id="{F2495046-1DD0-48FE-BEAE-BE9DC4D45EF0}"/>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910D0A-18E5-49D5-AE65-C9C702F1596D}"/>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F2D5B998-E765-439C-B460-16AC00842B81}"/>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author-created scenario in SLIDE_CONTENT.md. Assumptions only, not an approved budget, measured uplift or FPT ROI.</a:t>
            </a:r>
          </a:p>
        </p:txBody>
      </p:sp>
      <p:sp>
        <p:nvSpPr>
          <p:cNvPr id="6" name="text-5">
            <a:extLst xmlns:a="http://schemas.openxmlformats.org/drawingml/2006/main">
              <a:ext uri="{FF2B5EF4-FFF2-40B4-BE49-F238E27FC236}">
                <a16:creationId xmlns:a16="http://schemas.microsoft.com/office/drawing/2014/main" id="{44F76B34-8559-44E8-B45F-9A30A0A5C698}"/>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21 / 24</a:t>
            </a:r>
          </a:p>
        </p:txBody>
      </p:sp>
      <p:sp>
        <p:nvSpPr>
          <p:cNvPr id="7" name="text-6">
            <a:extLst xmlns:a="http://schemas.openxmlformats.org/drawingml/2006/main">
              <a:ext uri="{FF2B5EF4-FFF2-40B4-BE49-F238E27FC236}">
                <a16:creationId xmlns:a16="http://schemas.microsoft.com/office/drawing/2014/main" id="{B1EDDE30-98E2-46BE-B57F-E9CB5A849A39}"/>
              </a:ext>
            </a:extLst>
          </p:cNvPr>
          <p:cNvSpPr>
            <a:spLocks xmlns:a="http://schemas.openxmlformats.org/drawingml/2006/main" noGrp="1"/>
          </p:cNvSpPr>
          <p:nvPr/>
        </p:nvSpPr>
        <p:spPr>
          <a:xfrm xmlns:a="http://schemas.openxmlformats.org/drawingml/2006/main">
            <a:off x="609600" y="178117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142C48"/>
                </a:solidFill>
              </a:defRPr>
            </a:defPPr>
            <a:lvl1pPr algn="l">
              <a:defRPr sz="1800" b="0">
                <a:solidFill>
                  <a:srgbClr val="142C48"/>
                </a:solidFill>
              </a:defRPr>
            </a:lvl1pPr>
            <a:lvl2pPr algn="l">
              <a:defRPr sz="1800" b="0">
                <a:solidFill>
                  <a:srgbClr val="142C48"/>
                </a:solidFill>
              </a:defRPr>
            </a:lvl2pPr>
            <a:lvl3pPr algn="l">
              <a:defRPr sz="1800" b="0">
                <a:solidFill>
                  <a:srgbClr val="142C48"/>
                </a:solidFill>
              </a:defRPr>
            </a:lvl3pPr>
            <a:lvl4pPr algn="l">
              <a:defRPr sz="1800" b="0">
                <a:solidFill>
                  <a:srgbClr val="142C48"/>
                </a:solidFill>
              </a:defRPr>
            </a:lvl4pPr>
            <a:lvl5pPr algn="l">
              <a:defRPr sz="1800" b="0">
                <a:solidFill>
                  <a:srgbClr val="142C48"/>
                </a:solidFill>
              </a:defRPr>
            </a:lvl5pPr>
            <a:lvl6pPr algn="l">
              <a:defRPr sz="1800" b="0">
                <a:solidFill>
                  <a:srgbClr val="142C48"/>
                </a:solidFill>
              </a:defRPr>
            </a:lvl6pPr>
            <a:lvl7pPr algn="l">
              <a:defRPr sz="1800" b="0">
                <a:solidFill>
                  <a:srgbClr val="142C48"/>
                </a:solidFill>
              </a:defRPr>
            </a:lvl7pPr>
            <a:lvl8pPr algn="l">
              <a:defRPr sz="1800" b="0">
                <a:solidFill>
                  <a:srgbClr val="142C48"/>
                </a:solidFill>
              </a:defRPr>
            </a:lvl8pPr>
            <a:lvl9pPr algn="l">
              <a:defRPr sz="1800" b="0">
                <a:solidFill>
                  <a:srgbClr val="142C48"/>
                </a:solidFill>
              </a:defRPr>
            </a:lvl9pPr>
          </a:lstStyle>
          <a:p xmlns:a="http://schemas.openxmlformats.org/drawingml/2006/main">
            <a:pPr algn="l">
              <a:defRPr sz="1800" b="0">
                <a:solidFill>
                  <a:srgbClr val="142C48"/>
                </a:solidFill>
              </a:defRPr>
            </a:pPr>
            <a:r>
              <a:rPr sz="1800" b="0">
                <a:solidFill>
                  <a:srgbClr val="142C48"/>
                </a:solidFill>
              </a:rPr>
              <a:t>1,000 customers · 3-month horizon · VND 300,000 margin per additional retained customer</a:t>
            </a:r>
          </a:p>
        </p:txBody>
      </p:sp>
      <p:sp>
        <p:nvSpPr>
          <p:cNvPr id="8" name="text-7">
            <a:extLst xmlns:a="http://schemas.openxmlformats.org/drawingml/2006/main">
              <a:ext uri="{FF2B5EF4-FFF2-40B4-BE49-F238E27FC236}">
                <a16:creationId xmlns:a16="http://schemas.microsoft.com/office/drawing/2014/main" id="{29AE3990-9CCF-450A-A5D6-C9F1C0F87164}"/>
              </a:ext>
            </a:extLst>
          </p:cNvPr>
          <p:cNvSpPr>
            <a:spLocks xmlns:a="http://schemas.openxmlformats.org/drawingml/2006/main" noGrp="1"/>
          </p:cNvSpPr>
          <p:nvPr/>
        </p:nvSpPr>
        <p:spPr>
          <a:xfrm xmlns:a="http://schemas.openxmlformats.org/drawingml/2006/main">
            <a:off x="609600" y="226695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61738A"/>
                </a:solidFill>
              </a:defRPr>
            </a:defPPr>
            <a:lvl1pPr algn="l">
              <a:defRPr sz="1350" b="0">
                <a:solidFill>
                  <a:srgbClr val="61738A"/>
                </a:solidFill>
              </a:defRPr>
            </a:lvl1pPr>
            <a:lvl2pPr algn="l">
              <a:defRPr sz="1350" b="0">
                <a:solidFill>
                  <a:srgbClr val="61738A"/>
                </a:solidFill>
              </a:defRPr>
            </a:lvl2pPr>
            <a:lvl3pPr algn="l">
              <a:defRPr sz="1350" b="0">
                <a:solidFill>
                  <a:srgbClr val="61738A"/>
                </a:solidFill>
              </a:defRPr>
            </a:lvl3pPr>
            <a:lvl4pPr algn="l">
              <a:defRPr sz="1350" b="0">
                <a:solidFill>
                  <a:srgbClr val="61738A"/>
                </a:solidFill>
              </a:defRPr>
            </a:lvl4pPr>
            <a:lvl5pPr algn="l">
              <a:defRPr sz="1350" b="0">
                <a:solidFill>
                  <a:srgbClr val="61738A"/>
                </a:solidFill>
              </a:defRPr>
            </a:lvl5pPr>
            <a:lvl6pPr algn="l">
              <a:defRPr sz="1350" b="0">
                <a:solidFill>
                  <a:srgbClr val="61738A"/>
                </a:solidFill>
              </a:defRPr>
            </a:lvl6pPr>
            <a:lvl7pPr algn="l">
              <a:defRPr sz="1350" b="0">
                <a:solidFill>
                  <a:srgbClr val="61738A"/>
                </a:solidFill>
              </a:defRPr>
            </a:lvl7pPr>
            <a:lvl8pPr algn="l">
              <a:defRPr sz="1350" b="0">
                <a:solidFill>
                  <a:srgbClr val="61738A"/>
                </a:solidFill>
              </a:defRPr>
            </a:lvl8pPr>
            <a:lvl9pPr algn="l">
              <a:defRPr sz="1350" b="0">
                <a:solidFill>
                  <a:srgbClr val="61738A"/>
                </a:solidFill>
              </a:defRPr>
            </a:lvl9pPr>
          </a:lstStyle>
          <a:p xmlns:a="http://schemas.openxmlformats.org/drawingml/2006/main">
            <a:pPr algn="l">
              <a:defRPr sz="1350" b="0">
                <a:solidFill>
                  <a:srgbClr val="61738A"/>
                </a:solidFill>
              </a:defRPr>
            </a:pPr>
            <a:r>
              <a:rPr sz="1350" b="0">
                <a:solidFill>
                  <a:srgbClr val="61738A"/>
                </a:solidFill>
              </a:rPr>
              <a:t>Net value (VND million)</a:t>
            </a:r>
          </a:p>
        </p:txBody>
      </p:sp>
      <p:graphicFrame>
        <p:nvGraphicFramePr>
          <p:cNvPr id="9" name="Chart">
            <a:extLst xmlns:a="http://schemas.openxmlformats.org/drawingml/2006/main">
              <a:ext uri="{FF2B5EF4-FFF2-40B4-BE49-F238E27FC236}">
                <a16:creationId xmlns:a16="http://schemas.microsoft.com/office/drawing/2014/main" id="{CD98513C-70BE-4535-84F2-4A91CDC91A80}"/>
              </a:ext>
            </a:extLst>
          </p:cNvPr>
          <p:cNvGraphicFramePr/>
          <p:nvPr/>
        </p:nvGraphicFramePr>
        <p:xfrm>
          <a:off xmlns:a="http://schemas.openxmlformats.org/drawingml/2006/main" x="609600" y="2562225"/>
          <a:ext xmlns:a="http://schemas.openxmlformats.org/drawingml/2006/main" cx="6534150" cy="2886075"/>
        </p:xfrm>
        <a:graphic xmlns:a="http://schemas.openxmlformats.org/drawingml/2006/main">
          <a:graphicData uri="http://schemas.openxmlformats.org/drawingml/2006/chart">
            <c:chart xmlns:r="http://schemas.openxmlformats.org/officeDocument/2006/relationships" xmlns:c="http://schemas.openxmlformats.org/drawingml/2006/chart" r:id="R7b45fe4e7ac44090"/>
          </a:graphicData>
        </a:graphic>
      </p:graphicFrame>
      <p:sp>
        <p:nvSpPr>
          <p:cNvPr id="10" name="text-8">
            <a:extLst xmlns:a="http://schemas.openxmlformats.org/drawingml/2006/main">
              <a:ext uri="{FF2B5EF4-FFF2-40B4-BE49-F238E27FC236}">
                <a16:creationId xmlns:a16="http://schemas.microsoft.com/office/drawing/2014/main" id="{FEB82C2A-6543-4C8E-89BF-8A9287B71E7C}"/>
              </a:ext>
            </a:extLst>
          </p:cNvPr>
          <p:cNvSpPr>
            <a:spLocks xmlns:a="http://schemas.openxmlformats.org/drawingml/2006/main" noGrp="1"/>
          </p:cNvSpPr>
          <p:nvPr/>
        </p:nvSpPr>
        <p:spPr>
          <a:xfrm xmlns:a="http://schemas.openxmlformats.org/drawingml/2006/main">
            <a:off x="7715250" y="2562225"/>
            <a:ext cx="3867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675" b="1">
                <a:solidFill>
                  <a:srgbClr val="142C48"/>
                </a:solidFill>
              </a:defRPr>
            </a:defPPr>
            <a:lvl1pPr algn="l">
              <a:defRPr sz="3675" b="1">
                <a:solidFill>
                  <a:srgbClr val="142C48"/>
                </a:solidFill>
              </a:defRPr>
            </a:lvl1pPr>
            <a:lvl2pPr algn="l">
              <a:defRPr sz="3675" b="1">
                <a:solidFill>
                  <a:srgbClr val="142C48"/>
                </a:solidFill>
              </a:defRPr>
            </a:lvl2pPr>
            <a:lvl3pPr algn="l">
              <a:defRPr sz="3675" b="1">
                <a:solidFill>
                  <a:srgbClr val="142C48"/>
                </a:solidFill>
              </a:defRPr>
            </a:lvl3pPr>
            <a:lvl4pPr algn="l">
              <a:defRPr sz="3675" b="1">
                <a:solidFill>
                  <a:srgbClr val="142C48"/>
                </a:solidFill>
              </a:defRPr>
            </a:lvl4pPr>
            <a:lvl5pPr algn="l">
              <a:defRPr sz="3675" b="1">
                <a:solidFill>
                  <a:srgbClr val="142C48"/>
                </a:solidFill>
              </a:defRPr>
            </a:lvl5pPr>
            <a:lvl6pPr algn="l">
              <a:defRPr sz="3675" b="1">
                <a:solidFill>
                  <a:srgbClr val="142C48"/>
                </a:solidFill>
              </a:defRPr>
            </a:lvl6pPr>
            <a:lvl7pPr algn="l">
              <a:defRPr sz="3675" b="1">
                <a:solidFill>
                  <a:srgbClr val="142C48"/>
                </a:solidFill>
              </a:defRPr>
            </a:lvl7pPr>
            <a:lvl8pPr algn="l">
              <a:defRPr sz="3675" b="1">
                <a:solidFill>
                  <a:srgbClr val="142C48"/>
                </a:solidFill>
              </a:defRPr>
            </a:lvl8pPr>
            <a:lvl9pPr algn="l">
              <a:defRPr sz="3675" b="1">
                <a:solidFill>
                  <a:srgbClr val="142C48"/>
                </a:solidFill>
              </a:defRPr>
            </a:lvl9pPr>
          </a:lstStyle>
          <a:p xmlns:a="http://schemas.openxmlformats.org/drawingml/2006/main">
            <a:pPr algn="l">
              <a:defRPr sz="3675" b="1">
                <a:solidFill>
                  <a:srgbClr val="142C48"/>
                </a:solidFill>
              </a:defRPr>
            </a:pPr>
            <a:r>
              <a:rPr sz="3675" b="1">
                <a:solidFill>
                  <a:srgbClr val="142C48"/>
                </a:solidFill>
              </a:rPr>
              <a:t>VND 20m</a:t>
            </a:r>
          </a:p>
        </p:txBody>
      </p:sp>
      <p:sp>
        <p:nvSpPr>
          <p:cNvPr id="11" name="text-9">
            <a:extLst xmlns:a="http://schemas.openxmlformats.org/drawingml/2006/main">
              <a:ext uri="{FF2B5EF4-FFF2-40B4-BE49-F238E27FC236}">
                <a16:creationId xmlns:a16="http://schemas.microsoft.com/office/drawing/2014/main" id="{3F2F0FE9-E217-483D-A8D3-2A2E6D6A49DC}"/>
              </a:ext>
            </a:extLst>
          </p:cNvPr>
          <p:cNvSpPr>
            <a:spLocks xmlns:a="http://schemas.openxmlformats.org/drawingml/2006/main" noGrp="1"/>
          </p:cNvSpPr>
          <p:nvPr/>
        </p:nvSpPr>
        <p:spPr>
          <a:xfrm xmlns:a="http://schemas.openxmlformats.org/drawingml/2006/main">
            <a:off x="7715250" y="3276600"/>
            <a:ext cx="3867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61738A"/>
                </a:solidFill>
              </a:defRPr>
            </a:defPPr>
            <a:lvl1pPr algn="l">
              <a:defRPr sz="1800" b="0">
                <a:solidFill>
                  <a:srgbClr val="61738A"/>
                </a:solidFill>
              </a:defRPr>
            </a:lvl1pPr>
            <a:lvl2pPr algn="l">
              <a:defRPr sz="1800" b="0">
                <a:solidFill>
                  <a:srgbClr val="61738A"/>
                </a:solidFill>
              </a:defRPr>
            </a:lvl2pPr>
            <a:lvl3pPr algn="l">
              <a:defRPr sz="1800" b="0">
                <a:solidFill>
                  <a:srgbClr val="61738A"/>
                </a:solidFill>
              </a:defRPr>
            </a:lvl3pPr>
            <a:lvl4pPr algn="l">
              <a:defRPr sz="1800" b="0">
                <a:solidFill>
                  <a:srgbClr val="61738A"/>
                </a:solidFill>
              </a:defRPr>
            </a:lvl4pPr>
            <a:lvl5pPr algn="l">
              <a:defRPr sz="1800" b="0">
                <a:solidFill>
                  <a:srgbClr val="61738A"/>
                </a:solidFill>
              </a:defRPr>
            </a:lvl5pPr>
            <a:lvl6pPr algn="l">
              <a:defRPr sz="1800" b="0">
                <a:solidFill>
                  <a:srgbClr val="61738A"/>
                </a:solidFill>
              </a:defRPr>
            </a:lvl6pPr>
            <a:lvl7pPr algn="l">
              <a:defRPr sz="1800" b="0">
                <a:solidFill>
                  <a:srgbClr val="61738A"/>
                </a:solidFill>
              </a:defRPr>
            </a:lvl7pPr>
            <a:lvl8pPr algn="l">
              <a:defRPr sz="1800" b="0">
                <a:solidFill>
                  <a:srgbClr val="61738A"/>
                </a:solidFill>
              </a:defRPr>
            </a:lvl8pPr>
            <a:lvl9pPr algn="l">
              <a:defRPr sz="1800" b="0">
                <a:solidFill>
                  <a:srgbClr val="61738A"/>
                </a:solidFill>
              </a:defRPr>
            </a:lvl9pPr>
          </a:lstStyle>
          <a:p xmlns:a="http://schemas.openxmlformats.org/drawingml/2006/main">
            <a:pPr algn="l">
              <a:defRPr sz="1800" b="0">
                <a:solidFill>
                  <a:srgbClr val="61738A"/>
                </a:solidFill>
              </a:defRPr>
            </a:pPr>
            <a:r>
              <a:rPr sz="1800" b="0">
                <a:solidFill>
                  <a:srgbClr val="61738A"/>
                </a:solidFill>
              </a:rPr>
              <a:t>Total assumed cost</a:t>
            </a:r>
          </a:p>
          <a:p xmlns:a="http://schemas.openxmlformats.org/drawingml/2006/main">
            <a:pPr algn="l">
              <a:defRPr sz="1800" b="0">
                <a:solidFill>
                  <a:srgbClr val="61738A"/>
                </a:solidFill>
              </a:defRPr>
            </a:pPr>
            <a:r>
              <a:rPr sz="1800" b="0">
                <a:solidFill>
                  <a:srgbClr val="61738A"/>
                </a:solidFill>
              </a:rPr>
              <a:t>VND 10,000 × 1,000 + VND 10m</a:t>
            </a:r>
          </a:p>
        </p:txBody>
      </p:sp>
      <p:sp>
        <p:nvSpPr>
          <p:cNvPr id="12" name="text-10">
            <a:extLst xmlns:a="http://schemas.openxmlformats.org/drawingml/2006/main">
              <a:ext uri="{FF2B5EF4-FFF2-40B4-BE49-F238E27FC236}">
                <a16:creationId xmlns:a16="http://schemas.microsoft.com/office/drawing/2014/main" id="{954A733B-D1F5-47AE-9D75-8A6B0F8E96A3}"/>
              </a:ext>
            </a:extLst>
          </p:cNvPr>
          <p:cNvSpPr>
            <a:spLocks xmlns:a="http://schemas.openxmlformats.org/drawingml/2006/main" noGrp="1"/>
          </p:cNvSpPr>
          <p:nvPr/>
        </p:nvSpPr>
        <p:spPr>
          <a:xfrm xmlns:a="http://schemas.openxmlformats.org/drawingml/2006/main">
            <a:off x="7715250" y="4371975"/>
            <a:ext cx="3867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675" b="1">
                <a:solidFill>
                  <a:srgbClr val="F27323"/>
                </a:solidFill>
              </a:defRPr>
            </a:defPPr>
            <a:lvl1pPr algn="l">
              <a:defRPr sz="3675" b="1">
                <a:solidFill>
                  <a:srgbClr val="F27323"/>
                </a:solidFill>
              </a:defRPr>
            </a:lvl1pPr>
            <a:lvl2pPr algn="l">
              <a:defRPr sz="3675" b="1">
                <a:solidFill>
                  <a:srgbClr val="F27323"/>
                </a:solidFill>
              </a:defRPr>
            </a:lvl2pPr>
            <a:lvl3pPr algn="l">
              <a:defRPr sz="3675" b="1">
                <a:solidFill>
                  <a:srgbClr val="F27323"/>
                </a:solidFill>
              </a:defRPr>
            </a:lvl3pPr>
            <a:lvl4pPr algn="l">
              <a:defRPr sz="3675" b="1">
                <a:solidFill>
                  <a:srgbClr val="F27323"/>
                </a:solidFill>
              </a:defRPr>
            </a:lvl4pPr>
            <a:lvl5pPr algn="l">
              <a:defRPr sz="3675" b="1">
                <a:solidFill>
                  <a:srgbClr val="F27323"/>
                </a:solidFill>
              </a:defRPr>
            </a:lvl5pPr>
            <a:lvl6pPr algn="l">
              <a:defRPr sz="3675" b="1">
                <a:solidFill>
                  <a:srgbClr val="F27323"/>
                </a:solidFill>
              </a:defRPr>
            </a:lvl6pPr>
            <a:lvl7pPr algn="l">
              <a:defRPr sz="3675" b="1">
                <a:solidFill>
                  <a:srgbClr val="F27323"/>
                </a:solidFill>
              </a:defRPr>
            </a:lvl7pPr>
            <a:lvl8pPr algn="l">
              <a:defRPr sz="3675" b="1">
                <a:solidFill>
                  <a:srgbClr val="F27323"/>
                </a:solidFill>
              </a:defRPr>
            </a:lvl8pPr>
            <a:lvl9pPr algn="l">
              <a:defRPr sz="3675" b="1">
                <a:solidFill>
                  <a:srgbClr val="F27323"/>
                </a:solidFill>
              </a:defRPr>
            </a:lvl9pPr>
          </a:lstStyle>
          <a:p xmlns:a="http://schemas.openxmlformats.org/drawingml/2006/main">
            <a:pPr algn="l">
              <a:defRPr sz="3675" b="1">
                <a:solidFill>
                  <a:srgbClr val="F27323"/>
                </a:solidFill>
              </a:defRPr>
            </a:pPr>
            <a:r>
              <a:rPr sz="3675" b="1">
                <a:solidFill>
                  <a:srgbClr val="F27323"/>
                </a:solidFill>
              </a:rPr>
              <a:t>6.67 pp</a:t>
            </a:r>
          </a:p>
        </p:txBody>
      </p:sp>
      <p:sp>
        <p:nvSpPr>
          <p:cNvPr id="13" name="text-11">
            <a:extLst xmlns:a="http://schemas.openxmlformats.org/drawingml/2006/main">
              <a:ext uri="{FF2B5EF4-FFF2-40B4-BE49-F238E27FC236}">
                <a16:creationId xmlns:a16="http://schemas.microsoft.com/office/drawing/2014/main" id="{44069B1A-C106-4DEE-8665-C332D28105FB}"/>
              </a:ext>
            </a:extLst>
          </p:cNvPr>
          <p:cNvSpPr>
            <a:spLocks xmlns:a="http://schemas.openxmlformats.org/drawingml/2006/main" noGrp="1"/>
          </p:cNvSpPr>
          <p:nvPr/>
        </p:nvSpPr>
        <p:spPr>
          <a:xfrm xmlns:a="http://schemas.openxmlformats.org/drawingml/2006/main">
            <a:off x="7715250" y="5067300"/>
            <a:ext cx="3867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61738A"/>
                </a:solidFill>
              </a:defRPr>
            </a:defPPr>
            <a:lvl1pPr algn="l">
              <a:defRPr sz="1800" b="0">
                <a:solidFill>
                  <a:srgbClr val="61738A"/>
                </a:solidFill>
              </a:defRPr>
            </a:lvl1pPr>
            <a:lvl2pPr algn="l">
              <a:defRPr sz="1800" b="0">
                <a:solidFill>
                  <a:srgbClr val="61738A"/>
                </a:solidFill>
              </a:defRPr>
            </a:lvl2pPr>
            <a:lvl3pPr algn="l">
              <a:defRPr sz="1800" b="0">
                <a:solidFill>
                  <a:srgbClr val="61738A"/>
                </a:solidFill>
              </a:defRPr>
            </a:lvl3pPr>
            <a:lvl4pPr algn="l">
              <a:defRPr sz="1800" b="0">
                <a:solidFill>
                  <a:srgbClr val="61738A"/>
                </a:solidFill>
              </a:defRPr>
            </a:lvl4pPr>
            <a:lvl5pPr algn="l">
              <a:defRPr sz="1800" b="0">
                <a:solidFill>
                  <a:srgbClr val="61738A"/>
                </a:solidFill>
              </a:defRPr>
            </a:lvl5pPr>
            <a:lvl6pPr algn="l">
              <a:defRPr sz="1800" b="0">
                <a:solidFill>
                  <a:srgbClr val="61738A"/>
                </a:solidFill>
              </a:defRPr>
            </a:lvl6pPr>
            <a:lvl7pPr algn="l">
              <a:defRPr sz="1800" b="0">
                <a:solidFill>
                  <a:srgbClr val="61738A"/>
                </a:solidFill>
              </a:defRPr>
            </a:lvl7pPr>
            <a:lvl8pPr algn="l">
              <a:defRPr sz="1800" b="0">
                <a:solidFill>
                  <a:srgbClr val="61738A"/>
                </a:solidFill>
              </a:defRPr>
            </a:lvl8pPr>
            <a:lvl9pPr algn="l">
              <a:defRPr sz="1800" b="0">
                <a:solidFill>
                  <a:srgbClr val="61738A"/>
                </a:solidFill>
              </a:defRPr>
            </a:lvl9pPr>
          </a:lstStyle>
          <a:p xmlns:a="http://schemas.openxmlformats.org/drawingml/2006/main">
            <a:pPr algn="l">
              <a:defRPr sz="1800" b="0">
                <a:solidFill>
                  <a:srgbClr val="61738A"/>
                </a:solidFill>
              </a:defRPr>
            </a:pPr>
            <a:r>
              <a:rPr sz="1800" b="0">
                <a:solidFill>
                  <a:srgbClr val="61738A"/>
                </a:solidFill>
              </a:rPr>
              <a:t>Break-even incremental retention</a:t>
            </a:r>
          </a:p>
        </p:txBody>
      </p:sp>
      <p:sp>
        <p:nvSpPr>
          <p:cNvPr id="14" name="text-12">
            <a:extLst xmlns:a="http://schemas.openxmlformats.org/drawingml/2006/main">
              <a:ext uri="{FF2B5EF4-FFF2-40B4-BE49-F238E27FC236}">
                <a16:creationId xmlns:a16="http://schemas.microsoft.com/office/drawing/2014/main" id="{C76148CE-DAEA-441B-8707-C3F4646F7719}"/>
              </a:ext>
            </a:extLst>
          </p:cNvPr>
          <p:cNvSpPr>
            <a:spLocks xmlns:a="http://schemas.openxmlformats.org/drawingml/2006/main" noGrp="1"/>
          </p:cNvSpPr>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0D69B3"/>
                </a:solidFill>
              </a:defRPr>
            </a:defPPr>
            <a:lvl1pPr algn="l">
              <a:defRPr sz="1875" b="1">
                <a:solidFill>
                  <a:srgbClr val="0D69B3"/>
                </a:solidFill>
              </a:defRPr>
            </a:lvl1pPr>
            <a:lvl2pPr algn="l">
              <a:defRPr sz="1875" b="1">
                <a:solidFill>
                  <a:srgbClr val="0D69B3"/>
                </a:solidFill>
              </a:defRPr>
            </a:lvl2pPr>
            <a:lvl3pPr algn="l">
              <a:defRPr sz="1875" b="1">
                <a:solidFill>
                  <a:srgbClr val="0D69B3"/>
                </a:solidFill>
              </a:defRPr>
            </a:lvl3pPr>
            <a:lvl4pPr algn="l">
              <a:defRPr sz="1875" b="1">
                <a:solidFill>
                  <a:srgbClr val="0D69B3"/>
                </a:solidFill>
              </a:defRPr>
            </a:lvl4pPr>
            <a:lvl5pPr algn="l">
              <a:defRPr sz="1875" b="1">
                <a:solidFill>
                  <a:srgbClr val="0D69B3"/>
                </a:solidFill>
              </a:defRPr>
            </a:lvl5pPr>
            <a:lvl6pPr algn="l">
              <a:defRPr sz="1875" b="1">
                <a:solidFill>
                  <a:srgbClr val="0D69B3"/>
                </a:solidFill>
              </a:defRPr>
            </a:lvl6pPr>
            <a:lvl7pPr algn="l">
              <a:defRPr sz="1875" b="1">
                <a:solidFill>
                  <a:srgbClr val="0D69B3"/>
                </a:solidFill>
              </a:defRPr>
            </a:lvl7pPr>
            <a:lvl8pPr algn="l">
              <a:defRPr sz="1875" b="1">
                <a:solidFill>
                  <a:srgbClr val="0D69B3"/>
                </a:solidFill>
              </a:defRPr>
            </a:lvl8pPr>
            <a:lvl9pPr algn="l">
              <a:defRPr sz="1875" b="1">
                <a:solidFill>
                  <a:srgbClr val="0D69B3"/>
                </a:solidFill>
              </a:defRPr>
            </a:lvl9pPr>
          </a:lstStyle>
          <a:p xmlns:a="http://schemas.openxmlformats.org/drawingml/2006/main">
            <a:pPr algn="l">
              <a:defRPr sz="1875" b="1">
                <a:solidFill>
                  <a:srgbClr val="0D69B3"/>
                </a:solidFill>
              </a:defRPr>
            </a:pPr>
            <a:r>
              <a:rPr sz="1875" b="1">
                <a:solidFill>
                  <a:srgbClr val="0D69B3"/>
                </a:solidFill>
              </a:rPr>
              <a:t>Scenario ROI: Low −70%     Base −25%     High +20%</a:t>
            </a:r>
          </a:p>
        </p:txBody>
      </p:sp>
    </p:spTree>
    <p:extLst>
      <p:ext uri="{BB962C8B-B14F-4D97-AF65-F5344CB8AC3E}">
        <p14:creationId xmlns:p14="http://schemas.microsoft.com/office/powerpoint/2010/main" val="162324259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23F38B10-FFF2-4F48-8405-E5052CA34498}"/>
              </a:ext>
            </a:extLst>
          </p:cNvPr>
          <p:cNvCxnSpPr>
            <a:stCxn xmlns:a="http://schemas.openxmlformats.org/drawingml/2006/main" id="9" idx="3"/>
            <a:endCxn xmlns:a="http://schemas.openxmlformats.org/drawingml/2006/main" id="13" idx="1"/>
          </p:cNvCxnSpPr>
          <p:nvPr/>
        </p:nvCxnSpPr>
        <p:spPr>
          <a:xfrm xmlns:a="http://schemas.openxmlformats.org/drawingml/2006/main">
            <a:off x="6667500" y="2238375"/>
            <a:ext cx="1171575" cy="514350"/>
          </a:xfrm>
          <a:prstGeom xmlns:a="http://schemas.openxmlformats.org/drawingml/2006/main" prst="bentConnector3">
            <a:avLst>
              <a:gd name="adj1" fmla="val 80488"/>
            </a:avLst>
          </a:prstGeom>
          <a:ln xmlns:a="http://schemas.openxmlformats.org/drawingml/2006/main" w="14288">
            <a:solidFill>
              <a:srgbClr val="0D69B3"/>
            </a:solidFill>
            <a:tailEnd type="triangle" w="sm" len="sm"/>
          </a:ln>
        </p:spPr>
      </p:cxnSp>
      <p:cxnSp>
        <p:nvCxnSpPr>
          <p:cNvPr id="16" name="">
            <a:extLst xmlns:a="http://schemas.openxmlformats.org/drawingml/2006/main">
              <a:ext uri="{FF2B5EF4-FFF2-40B4-BE49-F238E27FC236}">
                <a16:creationId xmlns:a16="http://schemas.microsoft.com/office/drawing/2014/main" id="{8CBC46E4-1A15-423C-86F9-84576125062D}"/>
              </a:ext>
            </a:extLst>
          </p:cNvPr>
          <p:cNvCxnSpPr>
            <a:stCxn xmlns:a="http://schemas.openxmlformats.org/drawingml/2006/main" id="9" idx="3"/>
            <a:endCxn xmlns:a="http://schemas.openxmlformats.org/drawingml/2006/main" id="11" idx="1"/>
          </p:cNvCxnSpPr>
          <p:nvPr/>
        </p:nvCxnSpPr>
        <p:spPr>
          <a:xfrm xmlns:a="http://schemas.openxmlformats.org/drawingml/2006/main" flipV="1">
            <a:off x="6667500" y="1962150"/>
            <a:ext cx="1171575" cy="276225"/>
          </a:xfrm>
          <a:prstGeom xmlns:a="http://schemas.openxmlformats.org/drawingml/2006/main" prst="bentConnector3">
            <a:avLst>
              <a:gd name="adj1" fmla="val 50000"/>
            </a:avLst>
          </a:prstGeom>
          <a:ln xmlns:a="http://schemas.openxmlformats.org/drawingml/2006/main" w="14288">
            <a:solidFill>
              <a:srgbClr val="0D69B3"/>
            </a:solidFill>
            <a:tailEnd type="triangle" w="sm" len="sm"/>
          </a:ln>
        </p:spPr>
      </p:cxnSp>
      <p:cxnSp>
        <p:nvCxnSpPr>
          <p:cNvPr id="15" name="">
            <a:extLst xmlns:a="http://schemas.openxmlformats.org/drawingml/2006/main">
              <a:ext uri="{FF2B5EF4-FFF2-40B4-BE49-F238E27FC236}">
                <a16:creationId xmlns:a16="http://schemas.microsoft.com/office/drawing/2014/main" id="{E5C3EBCE-667D-4286-90CA-14F48941798C}"/>
              </a:ext>
            </a:extLst>
          </p:cNvPr>
          <p:cNvCxnSpPr>
            <a:stCxn xmlns:a="http://schemas.openxmlformats.org/drawingml/2006/main" id="7" idx="3"/>
            <a:endCxn xmlns:a="http://schemas.openxmlformats.org/drawingml/2006/main" id="9" idx="1"/>
          </p:cNvCxnSpPr>
          <p:nvPr/>
        </p:nvCxnSpPr>
        <p:spPr>
          <a:xfrm xmlns:a="http://schemas.openxmlformats.org/drawingml/2006/main">
            <a:off x="3181350" y="2238375"/>
            <a:ext cx="723900" cy="0"/>
          </a:xfrm>
          <a:prstGeom xmlns:a="http://schemas.openxmlformats.org/drawingml/2006/main" prst="straightConnector1">
            <a:avLst/>
          </a:prstGeom>
          <a:ln xmlns:a="http://schemas.openxmlformats.org/drawingml/2006/main" w="15240">
            <a:solidFill>
              <a:srgbClr val="0D69B3"/>
            </a:solidFill>
            <a:tailEnd type="triangle" w="sm" len="sm"/>
          </a:ln>
        </p:spPr>
      </p:cxnSp>
      <p:sp>
        <p:nvSpPr>
          <p:cNvPr id="21" name="text-0">
            <a:extLst xmlns:a="http://schemas.openxmlformats.org/drawingml/2006/main">
              <a:ext uri="{FF2B5EF4-FFF2-40B4-BE49-F238E27FC236}">
                <a16:creationId xmlns:a16="http://schemas.microsoft.com/office/drawing/2014/main" id="{111FED73-6061-45DA-818A-E9AECE90CF80}"/>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BUSINESS VALUE &amp; STRATEGY</a:t>
            </a:r>
          </a:p>
        </p:txBody>
      </p:sp>
      <p:sp>
        <p:nvSpPr>
          <p:cNvPr id="2" name="text-1">
            <a:extLst xmlns:a="http://schemas.openxmlformats.org/drawingml/2006/main">
              <a:ext uri="{FF2B5EF4-FFF2-40B4-BE49-F238E27FC236}">
                <a16:creationId xmlns:a16="http://schemas.microsoft.com/office/drawing/2014/main" id="{39E6DC0E-F811-43D5-B2D3-61DD037DE57E}"/>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Pilot Evaluation and Success Metrics</a:t>
            </a:r>
          </a:p>
        </p:txBody>
      </p:sp>
      <p:sp>
        <p:nvSpPr>
          <p:cNvPr id="3" name="">
            <a:extLst xmlns:a="http://schemas.openxmlformats.org/drawingml/2006/main">
              <a:ext uri="{FF2B5EF4-FFF2-40B4-BE49-F238E27FC236}">
                <a16:creationId xmlns:a16="http://schemas.microsoft.com/office/drawing/2014/main" id="{EE5367B7-3BD9-4AD4-A99D-E092D6EEFD3E}"/>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907D31-8A93-4822-BDC9-0C2CA592B8B9}"/>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98A073EC-06A6-4482-82DA-30526D0896D6}"/>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REPORT.md controlled-pilot design; Ascarza (2018). Planned evaluation; sample size requires a power calculation.</a:t>
            </a:r>
          </a:p>
        </p:txBody>
      </p:sp>
      <p:sp>
        <p:nvSpPr>
          <p:cNvPr id="6" name="text-5">
            <a:extLst xmlns:a="http://schemas.openxmlformats.org/drawingml/2006/main">
              <a:ext uri="{FF2B5EF4-FFF2-40B4-BE49-F238E27FC236}">
                <a16:creationId xmlns:a16="http://schemas.microsoft.com/office/drawing/2014/main" id="{C07DA364-0458-4B13-A9E8-34A3878C9534}"/>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22 / 24</a:t>
            </a:r>
          </a:p>
        </p:txBody>
      </p:sp>
      <p:sp>
        <p:nvSpPr>
          <p:cNvPr id="7" name="">
            <a:extLst xmlns:a="http://schemas.openxmlformats.org/drawingml/2006/main">
              <a:ext uri="{FF2B5EF4-FFF2-40B4-BE49-F238E27FC236}">
                <a16:creationId xmlns:a16="http://schemas.microsoft.com/office/drawing/2014/main" id="{4F981300-EEB2-4371-BB59-C733AA7528E2}"/>
              </a:ext>
            </a:extLst>
          </p:cNvPr>
          <p:cNvSpPr>
            <a:spLocks xmlns:a="http://schemas.openxmlformats.org/drawingml/2006/main" noGrp="1"/>
          </p:cNvSpPr>
          <p:nvPr/>
        </p:nvSpPr>
        <p:spPr>
          <a:xfrm xmlns:a="http://schemas.openxmlformats.org/drawingml/2006/main">
            <a:off x="609600" y="1943100"/>
            <a:ext cx="2571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8" name="text-7">
            <a:extLst xmlns:a="http://schemas.openxmlformats.org/drawingml/2006/main">
              <a:ext uri="{FF2B5EF4-FFF2-40B4-BE49-F238E27FC236}">
                <a16:creationId xmlns:a16="http://schemas.microsoft.com/office/drawing/2014/main" id="{92EE6D4B-08A4-4268-91A6-13CC0CD3D068}"/>
              </a:ext>
            </a:extLst>
          </p:cNvPr>
          <p:cNvSpPr>
            <a:spLocks xmlns:a="http://schemas.openxmlformats.org/drawingml/2006/main" noGrp="1"/>
          </p:cNvSpPr>
          <p:nvPr/>
        </p:nvSpPr>
        <p:spPr>
          <a:xfrm xmlns:a="http://schemas.openxmlformats.org/drawingml/2006/main">
            <a:off x="742950" y="2105025"/>
            <a:ext cx="230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Eligible cohort</a:t>
            </a:r>
          </a:p>
        </p:txBody>
      </p:sp>
      <p:sp>
        <p:nvSpPr>
          <p:cNvPr id="9" name="">
            <a:extLst xmlns:a="http://schemas.openxmlformats.org/drawingml/2006/main">
              <a:ext uri="{FF2B5EF4-FFF2-40B4-BE49-F238E27FC236}">
                <a16:creationId xmlns:a16="http://schemas.microsoft.com/office/drawing/2014/main" id="{F5D8B2EA-024E-43B9-85D6-DCF1ABF4E6E8}"/>
              </a:ext>
            </a:extLst>
          </p:cNvPr>
          <p:cNvSpPr>
            <a:spLocks xmlns:a="http://schemas.openxmlformats.org/drawingml/2006/main" noGrp="1"/>
          </p:cNvSpPr>
          <p:nvPr/>
        </p:nvSpPr>
        <p:spPr>
          <a:xfrm xmlns:a="http://schemas.openxmlformats.org/drawingml/2006/main">
            <a:off x="3905250" y="1943100"/>
            <a:ext cx="2762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0" name="text-9">
            <a:extLst xmlns:a="http://schemas.openxmlformats.org/drawingml/2006/main">
              <a:ext uri="{FF2B5EF4-FFF2-40B4-BE49-F238E27FC236}">
                <a16:creationId xmlns:a16="http://schemas.microsoft.com/office/drawing/2014/main" id="{7EAB5D9C-D8DF-44CB-9E37-56ECFC459B43}"/>
              </a:ext>
            </a:extLst>
          </p:cNvPr>
          <p:cNvSpPr>
            <a:spLocks xmlns:a="http://schemas.openxmlformats.org/drawingml/2006/main" noGrp="1"/>
          </p:cNvSpPr>
          <p:nvPr/>
        </p:nvSpPr>
        <p:spPr>
          <a:xfrm xmlns:a="http://schemas.openxmlformats.org/drawingml/2006/main">
            <a:off x="4038600" y="2105025"/>
            <a:ext cx="2495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Random assignment</a:t>
            </a:r>
          </a:p>
        </p:txBody>
      </p:sp>
      <p:sp>
        <p:nvSpPr>
          <p:cNvPr id="11" name="">
            <a:extLst xmlns:a="http://schemas.openxmlformats.org/drawingml/2006/main">
              <a:ext uri="{FF2B5EF4-FFF2-40B4-BE49-F238E27FC236}">
                <a16:creationId xmlns:a16="http://schemas.microsoft.com/office/drawing/2014/main" id="{86A147B8-0132-451C-899F-9AE160FE647A}"/>
              </a:ext>
            </a:extLst>
          </p:cNvPr>
          <p:cNvSpPr>
            <a:spLocks xmlns:a="http://schemas.openxmlformats.org/drawingml/2006/main" noGrp="1"/>
          </p:cNvSpPr>
          <p:nvPr/>
        </p:nvSpPr>
        <p:spPr>
          <a:xfrm xmlns:a="http://schemas.openxmlformats.org/drawingml/2006/main">
            <a:off x="7839075" y="1666875"/>
            <a:ext cx="374332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2" name="text-11">
            <a:extLst xmlns:a="http://schemas.openxmlformats.org/drawingml/2006/main">
              <a:ext uri="{FF2B5EF4-FFF2-40B4-BE49-F238E27FC236}">
                <a16:creationId xmlns:a16="http://schemas.microsoft.com/office/drawing/2014/main" id="{81BD8502-795A-4D7B-A871-DC79013104F7}"/>
              </a:ext>
            </a:extLst>
          </p:cNvPr>
          <p:cNvSpPr>
            <a:spLocks xmlns:a="http://schemas.openxmlformats.org/drawingml/2006/main" noGrp="1"/>
          </p:cNvSpPr>
          <p:nvPr/>
        </p:nvSpPr>
        <p:spPr>
          <a:xfrm xmlns:a="http://schemas.openxmlformats.org/drawingml/2006/main">
            <a:off x="7972425" y="1828800"/>
            <a:ext cx="347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New workflow</a:t>
            </a:r>
          </a:p>
        </p:txBody>
      </p:sp>
      <p:sp>
        <p:nvSpPr>
          <p:cNvPr id="13" name="">
            <a:extLst xmlns:a="http://schemas.openxmlformats.org/drawingml/2006/main">
              <a:ext uri="{FF2B5EF4-FFF2-40B4-BE49-F238E27FC236}">
                <a16:creationId xmlns:a16="http://schemas.microsoft.com/office/drawing/2014/main" id="{033C2927-1FF9-4800-8EF8-6628368D9C22}"/>
              </a:ext>
            </a:extLst>
          </p:cNvPr>
          <p:cNvSpPr>
            <a:spLocks xmlns:a="http://schemas.openxmlformats.org/drawingml/2006/main" noGrp="1"/>
          </p:cNvSpPr>
          <p:nvPr/>
        </p:nvSpPr>
        <p:spPr>
          <a:xfrm xmlns:a="http://schemas.openxmlformats.org/drawingml/2006/main">
            <a:off x="7839075" y="2457450"/>
            <a:ext cx="374332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AE3EB"/>
            </a:solidFill>
            <a:prstDash val="solid"/>
          </a:ln>
        </p:spPr>
      </p:sp>
      <p:sp>
        <p:nvSpPr>
          <p:cNvPr id="14" name="text-13">
            <a:extLst xmlns:a="http://schemas.openxmlformats.org/drawingml/2006/main">
              <a:ext uri="{FF2B5EF4-FFF2-40B4-BE49-F238E27FC236}">
                <a16:creationId xmlns:a16="http://schemas.microsoft.com/office/drawing/2014/main" id="{4D1CB3C3-05DF-43B7-B88A-4730CABB18D7}"/>
              </a:ext>
            </a:extLst>
          </p:cNvPr>
          <p:cNvSpPr>
            <a:spLocks xmlns:a="http://schemas.openxmlformats.org/drawingml/2006/main" noGrp="1"/>
          </p:cNvSpPr>
          <p:nvPr/>
        </p:nvSpPr>
        <p:spPr>
          <a:xfrm xmlns:a="http://schemas.openxmlformats.org/drawingml/2006/main">
            <a:off x="7972425" y="2619375"/>
            <a:ext cx="347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0D69B3"/>
                </a:solidFill>
              </a:defRPr>
            </a:defPPr>
            <a:lvl1pPr algn="ctr">
              <a:defRPr sz="1725" b="1">
                <a:solidFill>
                  <a:srgbClr val="0D69B3"/>
                </a:solidFill>
              </a:defRPr>
            </a:lvl1pPr>
            <a:lvl2pPr algn="ctr">
              <a:defRPr sz="1725" b="1">
                <a:solidFill>
                  <a:srgbClr val="0D69B3"/>
                </a:solidFill>
              </a:defRPr>
            </a:lvl2pPr>
            <a:lvl3pPr algn="ctr">
              <a:defRPr sz="1725" b="1">
                <a:solidFill>
                  <a:srgbClr val="0D69B3"/>
                </a:solidFill>
              </a:defRPr>
            </a:lvl3pPr>
            <a:lvl4pPr algn="ctr">
              <a:defRPr sz="1725" b="1">
                <a:solidFill>
                  <a:srgbClr val="0D69B3"/>
                </a:solidFill>
              </a:defRPr>
            </a:lvl4pPr>
            <a:lvl5pPr algn="ctr">
              <a:defRPr sz="1725" b="1">
                <a:solidFill>
                  <a:srgbClr val="0D69B3"/>
                </a:solidFill>
              </a:defRPr>
            </a:lvl5pPr>
            <a:lvl6pPr algn="ctr">
              <a:defRPr sz="1725" b="1">
                <a:solidFill>
                  <a:srgbClr val="0D69B3"/>
                </a:solidFill>
              </a:defRPr>
            </a:lvl6pPr>
            <a:lvl7pPr algn="ctr">
              <a:defRPr sz="1725" b="1">
                <a:solidFill>
                  <a:srgbClr val="0D69B3"/>
                </a:solidFill>
              </a:defRPr>
            </a:lvl7pPr>
            <a:lvl8pPr algn="ctr">
              <a:defRPr sz="1725" b="1">
                <a:solidFill>
                  <a:srgbClr val="0D69B3"/>
                </a:solidFill>
              </a:defRPr>
            </a:lvl8pPr>
            <a:lvl9pPr algn="ctr">
              <a:defRPr sz="1725" b="1">
                <a:solidFill>
                  <a:srgbClr val="0D69B3"/>
                </a:solidFill>
              </a:defRPr>
            </a:lvl9pPr>
          </a:lstStyle>
          <a:p xmlns:a="http://schemas.openxmlformats.org/drawingml/2006/main">
            <a:pPr algn="ctr">
              <a:defRPr sz="1725" b="1">
                <a:solidFill>
                  <a:srgbClr val="0D69B3"/>
                </a:solidFill>
              </a:defRPr>
            </a:pPr>
            <a:r>
              <a:rPr sz="1725" b="1">
                <a:solidFill>
                  <a:srgbClr val="0D69B3"/>
                </a:solidFill>
              </a:rPr>
              <a:t>Current process</a:t>
            </a:r>
          </a:p>
        </p:txBody>
      </p:sp>
      <p:sp>
        <p:nvSpPr>
          <p:cNvPr id="18" name="text-17">
            <a:extLst xmlns:a="http://schemas.openxmlformats.org/drawingml/2006/main">
              <a:ext uri="{FF2B5EF4-FFF2-40B4-BE49-F238E27FC236}">
                <a16:creationId xmlns:a16="http://schemas.microsoft.com/office/drawing/2014/main" id="{A3BCB27E-58B1-45D9-94B6-F2E29FB9652A}"/>
              </a:ext>
            </a:extLst>
          </p:cNvPr>
          <p:cNvSpPr>
            <a:spLocks xmlns:a="http://schemas.openxmlformats.org/drawingml/2006/main" noGrp="1"/>
          </p:cNvSpPr>
          <p:nvPr/>
        </p:nvSpPr>
        <p:spPr>
          <a:xfrm xmlns:a="http://schemas.openxmlformats.org/drawingml/2006/main">
            <a:off x="609600" y="2762250"/>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Keep assignment stable across scoring batches.</a:t>
            </a:r>
          </a:p>
        </p:txBody>
      </p:sp>
      <p:graphicFrame>
        <p:nvGraphicFramePr>
          <p:cNvPr id="19" name="">
            <a:extLst xmlns:a="http://schemas.openxmlformats.org/drawingml/2006/main">
              <a:ext uri="{FF2B5EF4-FFF2-40B4-BE49-F238E27FC236}">
                <a16:creationId xmlns:a16="http://schemas.microsoft.com/office/drawing/2014/main" id="{0AF409E5-C12F-4A3C-B859-6B94438C1E95}"/>
              </a:ext>
            </a:extLst>
          </p:cNvPr>
          <p:cNvGraphicFramePr/>
          <p:nvPr/>
        </p:nvGraphicFramePr>
        <p:xfrm>
          <a:off xmlns:a="http://schemas.openxmlformats.org/drawingml/2006/main" x="609600" y="3305175"/>
          <a:ext xmlns:a="http://schemas.openxmlformats.org/drawingml/2006/main" cx="10972800" cy="2352675"/>
        </p:xfrm>
        <a:graphic xmlns:a="http://schemas.openxmlformats.org/drawingml/2006/main">
          <a:graphicData uri="http://schemas.openxmlformats.org/drawingml/2006/table">
            <a:tbl>
              <a:tblPr/>
              <a:tblGrid>
                <a:gridCol w="2286000"/>
                <a:gridCol w="4000500"/>
                <a:gridCol w="4686300"/>
              </a:tblGrid>
              <a:tr h="495300">
                <a:tc>
                  <a:txBody>
                    <a:bodyPr/>
                    <a:lstStyle/>
                    <a:p>
                      <a:r>
                        <a:rPr sz="1575" b="1">
                          <a:solidFill>
                            <a:srgbClr val="0D69B3"/>
                          </a:solidFill>
                        </a:rPr>
                        <a:t>Layer</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575" b="1">
                          <a:solidFill>
                            <a:srgbClr val="0D69B3"/>
                          </a:solidFill>
                        </a:rPr>
                        <a:t>Metric</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575" b="1">
                          <a:solidFill>
                            <a:srgbClr val="0D69B3"/>
                          </a:solidFill>
                        </a:rPr>
                        <a:t>Measurement rule</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371475">
                <a:tc>
                  <a:txBody>
                    <a:bodyPr/>
                    <a:lstStyle/>
                    <a:p>
                      <a:r>
                        <a:rPr sz="1575" b="1">
                          <a:solidFill>
                            <a:srgbClr val="142C48"/>
                          </a:solidFill>
                        </a:rPr>
                        <a:t>Prediction</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AUC, AP, calibration, Recall@K</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Mature labels; versioned model; capacity K</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371475">
                <a:tc>
                  <a:txBody>
                    <a:bodyPr/>
                    <a:lstStyle/>
                    <a:p>
                      <a:r>
                        <a:rPr sz="1575" b="1">
                          <a:solidFill>
                            <a:srgbClr val="142C48"/>
                          </a:solidFill>
                        </a:rPr>
                        <a:t>Operations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First-contact time; review minutes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Defined timestamps and task sample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371475">
                <a:tc>
                  <a:txBody>
                    <a:bodyPr/>
                    <a:lstStyle/>
                    <a:p>
                      <a:r>
                        <a:rPr sz="1575" b="1">
                          <a:solidFill>
                            <a:srgbClr val="142C48"/>
                          </a:solidFill>
                        </a:rPr>
                        <a:t>AI assistance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Acceptance/edit rate; factual errors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Human rubric and explicit denominator</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371475">
                <a:tc>
                  <a:txBody>
                    <a:bodyPr/>
                    <a:lstStyle/>
                    <a:p>
                      <a:r>
                        <a:rPr sz="1575" b="1">
                          <a:solidFill>
                            <a:srgbClr val="142C48"/>
                          </a:solidFill>
                        </a:rPr>
                        <a:t>Business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Incremental retention; net contribution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Assigned-group comparison; full horizon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371475">
                <a:tc>
                  <a:txBody>
                    <a:bodyPr/>
                    <a:lstStyle/>
                    <a:p>
                      <a:r>
                        <a:rPr sz="1575" b="1">
                          <a:solidFill>
                            <a:srgbClr val="142C48"/>
                          </a:solidFill>
                        </a:rPr>
                        <a:t>Guardrails</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Opt-out, complaints, wrong offers, cost</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575" b="0">
                          <a:solidFill>
                            <a:srgbClr val="142C48"/>
                          </a:solidFill>
                        </a:rPr>
                        <a:t>Predefined thresholds and escalation</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20" name="text-18">
            <a:extLst xmlns:a="http://schemas.openxmlformats.org/drawingml/2006/main">
              <a:ext uri="{FF2B5EF4-FFF2-40B4-BE49-F238E27FC236}">
                <a16:creationId xmlns:a16="http://schemas.microsoft.com/office/drawing/2014/main" id="{B7F3F22A-69E2-4A1B-9587-A9475B9DA45A}"/>
              </a:ext>
            </a:extLst>
          </p:cNvPr>
          <p:cNvSpPr>
            <a:spLocks xmlns:a="http://schemas.openxmlformats.org/drawingml/2006/main" noGrp="1"/>
          </p:cNvSpPr>
          <p:nvPr/>
        </p:nvSpPr>
        <p:spPr>
          <a:xfrm xmlns:a="http://schemas.openxmlformats.org/drawingml/2006/main">
            <a:off x="609600" y="59531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142C48"/>
                </a:solidFill>
              </a:defRPr>
            </a:defPPr>
            <a:lvl1pPr algn="l">
              <a:defRPr sz="1650" b="1">
                <a:solidFill>
                  <a:srgbClr val="142C48"/>
                </a:solidFill>
              </a:defRPr>
            </a:lvl1pPr>
            <a:lvl2pPr algn="l">
              <a:defRPr sz="1650" b="1">
                <a:solidFill>
                  <a:srgbClr val="142C48"/>
                </a:solidFill>
              </a:defRPr>
            </a:lvl2pPr>
            <a:lvl3pPr algn="l">
              <a:defRPr sz="1650" b="1">
                <a:solidFill>
                  <a:srgbClr val="142C48"/>
                </a:solidFill>
              </a:defRPr>
            </a:lvl3pPr>
            <a:lvl4pPr algn="l">
              <a:defRPr sz="1650" b="1">
                <a:solidFill>
                  <a:srgbClr val="142C48"/>
                </a:solidFill>
              </a:defRPr>
            </a:lvl4pPr>
            <a:lvl5pPr algn="l">
              <a:defRPr sz="1650" b="1">
                <a:solidFill>
                  <a:srgbClr val="142C48"/>
                </a:solidFill>
              </a:defRPr>
            </a:lvl5pPr>
            <a:lvl6pPr algn="l">
              <a:defRPr sz="1650" b="1">
                <a:solidFill>
                  <a:srgbClr val="142C48"/>
                </a:solidFill>
              </a:defRPr>
            </a:lvl6pPr>
            <a:lvl7pPr algn="l">
              <a:defRPr sz="1650" b="1">
                <a:solidFill>
                  <a:srgbClr val="142C48"/>
                </a:solidFill>
              </a:defRPr>
            </a:lvl7pPr>
            <a:lvl8pPr algn="l">
              <a:defRPr sz="1650" b="1">
                <a:solidFill>
                  <a:srgbClr val="142C48"/>
                </a:solidFill>
              </a:defRPr>
            </a:lvl8pPr>
            <a:lvl9pPr algn="l">
              <a:defRPr sz="1650" b="1">
                <a:solidFill>
                  <a:srgbClr val="142C48"/>
                </a:solidFill>
              </a:defRPr>
            </a:lvl9pPr>
          </a:lstStyle>
          <a:p xmlns:a="http://schemas.openxmlformats.org/drawingml/2006/main">
            <a:pPr algn="l">
              <a:defRPr sz="1650" b="1">
                <a:solidFill>
                  <a:srgbClr val="142C48"/>
                </a:solidFill>
              </a:defRPr>
            </a:pPr>
            <a:r>
              <a:rPr sz="1650" b="1">
                <a:solidFill>
                  <a:srgbClr val="142C48"/>
                </a:solidFill>
              </a:rPr>
              <a:t>Analyse by original assignment. Reply and case closure are not retention outcomes.</a:t>
            </a:r>
          </a:p>
        </p:txBody>
      </p:sp>
    </p:spTree>
    <p:extLst>
      <p:ext uri="{BB962C8B-B14F-4D97-AF65-F5344CB8AC3E}">
        <p14:creationId xmlns:p14="http://schemas.microsoft.com/office/powerpoint/2010/main" val="150635380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04B56A2-F6EA-48B8-8009-898B8E7F0930}"/>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BUSINESS VALUE &amp; STRATEGY</a:t>
            </a:r>
          </a:p>
        </p:txBody>
      </p:sp>
      <p:sp>
        <p:nvSpPr>
          <p:cNvPr id="2" name="text-1">
            <a:extLst xmlns:a="http://schemas.openxmlformats.org/drawingml/2006/main">
              <a:ext uri="{FF2B5EF4-FFF2-40B4-BE49-F238E27FC236}">
                <a16:creationId xmlns:a16="http://schemas.microsoft.com/office/drawing/2014/main" id="{87B473DE-C3F3-4038-A361-BAC51882CB9C}"/>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Implementation Roadmap and Key Risks</a:t>
            </a:r>
          </a:p>
        </p:txBody>
      </p:sp>
      <p:sp>
        <p:nvSpPr>
          <p:cNvPr id="3" name="">
            <a:extLst xmlns:a="http://schemas.openxmlformats.org/drawingml/2006/main">
              <a:ext uri="{FF2B5EF4-FFF2-40B4-BE49-F238E27FC236}">
                <a16:creationId xmlns:a16="http://schemas.microsoft.com/office/drawing/2014/main" id="{8DA9FB0B-0D1D-4948-A15F-9C45DE84F1B0}"/>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28CCF0-3D21-4A96-BECE-5E5B0E5FB576}"/>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2CAB69E3-F73A-43C8-9613-465FFBD210F2}"/>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Source: IMPLEMENTATION.md and SYSTEM.md. Stage gates are proposed; dates, owners and enterprise access are not committed.</a:t>
            </a:r>
          </a:p>
        </p:txBody>
      </p:sp>
      <p:sp>
        <p:nvSpPr>
          <p:cNvPr id="6" name="text-5">
            <a:extLst xmlns:a="http://schemas.openxmlformats.org/drawingml/2006/main">
              <a:ext uri="{FF2B5EF4-FFF2-40B4-BE49-F238E27FC236}">
                <a16:creationId xmlns:a16="http://schemas.microsoft.com/office/drawing/2014/main" id="{91EC4242-991F-4BD3-96FF-322033D7D4D2}"/>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23 / 24</a:t>
            </a:r>
          </a:p>
        </p:txBody>
      </p:sp>
      <p:graphicFrame>
        <p:nvGraphicFramePr>
          <p:cNvPr id="7" name="">
            <a:extLst xmlns:a="http://schemas.openxmlformats.org/drawingml/2006/main">
              <a:ext uri="{FF2B5EF4-FFF2-40B4-BE49-F238E27FC236}">
                <a16:creationId xmlns:a16="http://schemas.microsoft.com/office/drawing/2014/main" id="{E93A89DC-6365-4A69-BE4C-444778B82F6C}"/>
              </a:ext>
            </a:extLst>
          </p:cNvPr>
          <p:cNvGraphicFramePr/>
          <p:nvPr/>
        </p:nvGraphicFramePr>
        <p:xfrm>
          <a:off xmlns:a="http://schemas.openxmlformats.org/drawingml/2006/main" x="609600" y="1847850"/>
          <a:ext xmlns:a="http://schemas.openxmlformats.org/drawingml/2006/main" cx="10972800" cy="3286125"/>
        </p:xfrm>
        <a:graphic xmlns:a="http://schemas.openxmlformats.org/drawingml/2006/main">
          <a:graphicData uri="http://schemas.openxmlformats.org/drawingml/2006/table">
            <a:tbl>
              <a:tblPr/>
              <a:tblGrid>
                <a:gridCol w="2857500"/>
                <a:gridCol w="3143250"/>
                <a:gridCol w="4972050"/>
              </a:tblGrid>
              <a:tr h="495300">
                <a:tc>
                  <a:txBody>
                    <a:bodyPr/>
                    <a:lstStyle/>
                    <a:p>
                      <a:r>
                        <a:rPr sz="1800" b="1">
                          <a:solidFill>
                            <a:srgbClr val="0D69B3"/>
                          </a:solidFill>
                        </a:rPr>
                        <a:t>Stage</a:t>
                      </a:r>
                    </a:p>
                  </a:txBody>
                  <a:tcPr marL="114300" marR="114300" marT="76200" marB="66675" anchor="ctr">
                    <a:lnL w="4763">
                      <a:solidFill>
                        <a:srgbClr val="DAE3EB"/>
                      </a:solidFill>
                      <a:prstDash val="solid"/>
                    </a:lnL>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800" b="1">
                          <a:solidFill>
                            <a:srgbClr val="0D69B3"/>
                          </a:solidFill>
                        </a:rPr>
                        <a:t>Accountable role</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c>
                  <a:txBody>
                    <a:bodyPr/>
                    <a:lstStyle/>
                    <a:p>
                      <a:r>
                        <a:rPr sz="1800" b="1">
                          <a:solidFill>
                            <a:srgbClr val="0D69B3"/>
                          </a:solidFill>
                        </a:rPr>
                        <a:t>Gate before progressing</a:t>
                      </a:r>
                    </a:p>
                  </a:txBody>
                  <a:tcPr marL="114300" marR="114300" marT="76200" marB="66675" anchor="ctr">
                    <a:lnR w="4763">
                      <a:solidFill>
                        <a:srgbClr val="DAE3EB"/>
                      </a:solidFill>
                      <a:prstDash val="solid"/>
                    </a:lnR>
                    <a:lnT w="4763">
                      <a:solidFill>
                        <a:srgbClr val="DAE3EB"/>
                      </a:solidFill>
                      <a:prstDash val="solid"/>
                    </a:lnT>
                    <a:lnB w="4763">
                      <a:solidFill>
                        <a:srgbClr val="DAE3EB"/>
                      </a:solidFill>
                      <a:prstDash val="solid"/>
                    </a:lnB>
                    <a:solidFill>
                      <a:srgbClr val="F4F8FC"/>
                    </a:solidFill>
                  </a:tcPr>
                </a:tc>
              </a:tr>
              <a:tr h="697706">
                <a:tc>
                  <a:txBody>
                    <a:bodyPr/>
                    <a:lstStyle/>
                    <a:p>
                      <a:r>
                        <a:rPr sz="1800" b="1">
                          <a:solidFill>
                            <a:srgbClr val="142C48"/>
                          </a:solidFill>
                        </a:rPr>
                        <a:t>Complete and rehearse</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Project lead + QA</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Current runtime accepted; fallback ready; no critical access/send defects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97706">
                <a:tc>
                  <a:txBody>
                    <a:bodyPr/>
                    <a:lstStyle/>
                    <a:p>
                      <a:r>
                        <a:rPr sz="1800" b="1">
                          <a:solidFill>
                            <a:srgbClr val="142C48"/>
                          </a:solidFill>
                        </a:rPr>
                        <a:t>Prepare enterprise pilot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Data + CS + policy owners</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Permissioned data, catalog, integration and costs agreed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97706">
                <a:tc>
                  <a:txBody>
                    <a:bodyPr/>
                    <a:lstStyle/>
                    <a:p>
                      <a:r>
                        <a:rPr sz="1800" b="1">
                          <a:solidFill>
                            <a:srgbClr val="142C48"/>
                          </a:solidFill>
                        </a:rPr>
                        <a:t>Run Binh Duong pilot</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CS sponsor + evaluation lead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Randomisation, mature outcomes and guardrails maintained</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r h="697706">
                <a:tc>
                  <a:txBody>
                    <a:bodyPr/>
                    <a:lstStyle/>
                    <a:p>
                      <a:r>
                        <a:rPr sz="1800" b="1">
                          <a:solidFill>
                            <a:srgbClr val="142C48"/>
                          </a:solidFill>
                        </a:rPr>
                        <a:t>Review expansion</a:t>
                      </a:r>
                    </a:p>
                  </a:txBody>
                  <a:tcPr marL="114300" marR="114300" marT="76200" marB="66675" anchor="ctr">
                    <a:lnL w="4763">
                      <a:solidFill>
                        <a:srgbClr val="DAE3EB"/>
                      </a:solidFill>
                      <a:prstDash val="solid"/>
                    </a:lnL>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Management + Finance</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c>
                  <a:txBody>
                    <a:bodyPr/>
                    <a:lstStyle/>
                    <a:p>
                      <a:r>
                        <a:rPr sz="1800" b="0">
                          <a:solidFill>
                            <a:srgbClr val="142C48"/>
                          </a:solidFill>
                        </a:rPr>
                        <a:t>Credible incremental benefit with acceptable risk and cost</a:t>
                      </a:r>
                    </a:p>
                  </a:txBody>
                  <a:tcPr marL="114300" marR="114300" marT="76200" marB="66675" anchor="ctr">
                    <a:lnR w="4763">
                      <a:solidFill>
                        <a:srgbClr val="DAE3EB"/>
                      </a:solidFill>
                      <a:prstDash val="solid"/>
                    </a:lnR>
                    <a:lnB w="4763">
                      <a:solidFill>
                        <a:srgbClr val="DAE3EB"/>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663D8869-0419-4D78-922F-B2A0D42EC041}"/>
              </a:ext>
            </a:extLst>
          </p:cNvPr>
          <p:cNvSpPr>
            <a:spLocks xmlns:a="http://schemas.openxmlformats.org/drawingml/2006/main" noGrp="1"/>
          </p:cNvSpPr>
          <p:nvPr/>
        </p:nvSpPr>
        <p:spPr>
          <a:xfrm xmlns:a="http://schemas.openxmlformats.org/drawingml/2006/main">
            <a:off x="609600" y="545782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0D69B3"/>
                </a:solidFill>
              </a:defRPr>
            </a:defPPr>
            <a:lvl1pPr algn="l">
              <a:defRPr sz="1950" b="1">
                <a:solidFill>
                  <a:srgbClr val="0D69B3"/>
                </a:solidFill>
              </a:defRPr>
            </a:lvl1pPr>
            <a:lvl2pPr algn="l">
              <a:defRPr sz="1950" b="1">
                <a:solidFill>
                  <a:srgbClr val="0D69B3"/>
                </a:solidFill>
              </a:defRPr>
            </a:lvl2pPr>
            <a:lvl3pPr algn="l">
              <a:defRPr sz="1950" b="1">
                <a:solidFill>
                  <a:srgbClr val="0D69B3"/>
                </a:solidFill>
              </a:defRPr>
            </a:lvl3pPr>
            <a:lvl4pPr algn="l">
              <a:defRPr sz="1950" b="1">
                <a:solidFill>
                  <a:srgbClr val="0D69B3"/>
                </a:solidFill>
              </a:defRPr>
            </a:lvl4pPr>
            <a:lvl5pPr algn="l">
              <a:defRPr sz="1950" b="1">
                <a:solidFill>
                  <a:srgbClr val="0D69B3"/>
                </a:solidFill>
              </a:defRPr>
            </a:lvl5pPr>
            <a:lvl6pPr algn="l">
              <a:defRPr sz="1950" b="1">
                <a:solidFill>
                  <a:srgbClr val="0D69B3"/>
                </a:solidFill>
              </a:defRPr>
            </a:lvl6pPr>
            <a:lvl7pPr algn="l">
              <a:defRPr sz="1950" b="1">
                <a:solidFill>
                  <a:srgbClr val="0D69B3"/>
                </a:solidFill>
              </a:defRPr>
            </a:lvl7pPr>
            <a:lvl8pPr algn="l">
              <a:defRPr sz="1950" b="1">
                <a:solidFill>
                  <a:srgbClr val="0D69B3"/>
                </a:solidFill>
              </a:defRPr>
            </a:lvl8pPr>
            <a:lvl9pPr algn="l">
              <a:defRPr sz="1950" b="1">
                <a:solidFill>
                  <a:srgbClr val="0D69B3"/>
                </a:solidFill>
              </a:defRPr>
            </a:lvl9pPr>
          </a:lstStyle>
          <a:p xmlns:a="http://schemas.openxmlformats.org/drawingml/2006/main">
            <a:pPr algn="l">
              <a:defRPr sz="1950" b="1">
                <a:solidFill>
                  <a:srgbClr val="0D69B3"/>
                </a:solidFill>
              </a:defRPr>
            </a:pPr>
            <a:r>
              <a:rPr sz="1950" b="1">
                <a:solidFill>
                  <a:srgbClr val="0D69B3"/>
                </a:solidFill>
              </a:rPr>
              <a:t>Key risks</a:t>
            </a:r>
          </a:p>
        </p:txBody>
      </p:sp>
      <p:sp>
        <p:nvSpPr>
          <p:cNvPr id="9" name="text-7">
            <a:extLst xmlns:a="http://schemas.openxmlformats.org/drawingml/2006/main">
              <a:ext uri="{FF2B5EF4-FFF2-40B4-BE49-F238E27FC236}">
                <a16:creationId xmlns:a16="http://schemas.microsoft.com/office/drawing/2014/main" id="{864ECC39-FD0A-480F-B6FE-6A73FAE15014}"/>
              </a:ext>
            </a:extLst>
          </p:cNvPr>
          <p:cNvSpPr>
            <a:spLocks xmlns:a="http://schemas.openxmlformats.org/drawingml/2006/main" noGrp="1"/>
          </p:cNvSpPr>
          <p:nvPr/>
        </p:nvSpPr>
        <p:spPr>
          <a:xfrm xmlns:a="http://schemas.openxmlformats.org/drawingml/2006/main">
            <a:off x="2381250" y="5457825"/>
            <a:ext cx="9201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142C48"/>
                </a:solidFill>
              </a:defRPr>
            </a:defPPr>
            <a:lvl1pPr algn="l">
              <a:defRPr sz="1800" b="0">
                <a:solidFill>
                  <a:srgbClr val="142C48"/>
                </a:solidFill>
              </a:defRPr>
            </a:lvl1pPr>
            <a:lvl2pPr algn="l">
              <a:defRPr sz="1800" b="0">
                <a:solidFill>
                  <a:srgbClr val="142C48"/>
                </a:solidFill>
              </a:defRPr>
            </a:lvl2pPr>
            <a:lvl3pPr algn="l">
              <a:defRPr sz="1800" b="0">
                <a:solidFill>
                  <a:srgbClr val="142C48"/>
                </a:solidFill>
              </a:defRPr>
            </a:lvl3pPr>
            <a:lvl4pPr algn="l">
              <a:defRPr sz="1800" b="0">
                <a:solidFill>
                  <a:srgbClr val="142C48"/>
                </a:solidFill>
              </a:defRPr>
            </a:lvl4pPr>
            <a:lvl5pPr algn="l">
              <a:defRPr sz="1800" b="0">
                <a:solidFill>
                  <a:srgbClr val="142C48"/>
                </a:solidFill>
              </a:defRPr>
            </a:lvl5pPr>
            <a:lvl6pPr algn="l">
              <a:defRPr sz="1800" b="0">
                <a:solidFill>
                  <a:srgbClr val="142C48"/>
                </a:solidFill>
              </a:defRPr>
            </a:lvl6pPr>
            <a:lvl7pPr algn="l">
              <a:defRPr sz="1800" b="0">
                <a:solidFill>
                  <a:srgbClr val="142C48"/>
                </a:solidFill>
              </a:defRPr>
            </a:lvl7pPr>
            <a:lvl8pPr algn="l">
              <a:defRPr sz="1800" b="0">
                <a:solidFill>
                  <a:srgbClr val="142C48"/>
                </a:solidFill>
              </a:defRPr>
            </a:lvl8pPr>
            <a:lvl9pPr algn="l">
              <a:defRPr sz="1800" b="0">
                <a:solidFill>
                  <a:srgbClr val="142C48"/>
                </a:solidFill>
              </a:defRPr>
            </a:lvl9pPr>
          </a:lstStyle>
          <a:p xmlns:a="http://schemas.openxmlformats.org/drawingml/2006/main">
            <a:pPr algn="l">
              <a:defRPr sz="1800" b="0">
                <a:solidFill>
                  <a:srgbClr val="142C48"/>
                </a:solidFill>
              </a:defRPr>
            </a:pPr>
            <a:r>
              <a:rPr sz="1800" b="0">
                <a:solidFill>
                  <a:srgbClr val="142C48"/>
                </a:solidFill>
              </a:rPr>
              <a:t>Data mismatch · Unsupported AI content · Duplicate outreach</a:t>
            </a:r>
          </a:p>
          <a:p xmlns:a="http://schemas.openxmlformats.org/drawingml/2006/main">
            <a:pPr algn="l">
              <a:defRPr sz="1800" b="0">
                <a:solidFill>
                  <a:srgbClr val="142C48"/>
                </a:solidFill>
              </a:defRPr>
            </a:pPr>
            <a:r>
              <a:rPr sz="1800" b="0">
                <a:solidFill>
                  <a:srgbClr val="142C48"/>
                </a:solidFill>
              </a:rPr>
              <a:t>Staff adoption · Unproven economics · Execution quota</a:t>
            </a:r>
          </a:p>
        </p:txBody>
      </p:sp>
    </p:spTree>
    <p:extLst>
      <p:ext uri="{BB962C8B-B14F-4D97-AF65-F5344CB8AC3E}">
        <p14:creationId xmlns:p14="http://schemas.microsoft.com/office/powerpoint/2010/main" val="57681490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465F3D57-41D6-4160-B0E0-8DCC70F6A443}"/>
              </a:ext>
            </a:extLst>
          </p:cNvPr>
          <p:cNvSpPr>
            <a:spLocks xmlns:a="http://schemas.openxmlformats.org/drawingml/2006/main" noGrp="1"/>
          </p:cNvSpPr>
          <p:nvPr/>
        </p:nvSpPr>
        <p:spPr>
          <a:xfrm xmlns:a="http://schemas.openxmlformats.org/drawingml/2006/main">
            <a:off x="609600" y="3238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0D69B3"/>
                </a:solidFill>
              </a:defRPr>
            </a:defPPr>
            <a:lvl1pPr algn="l">
              <a:defRPr sz="1050" b="1">
                <a:solidFill>
                  <a:srgbClr val="0D69B3"/>
                </a:solidFill>
              </a:defRPr>
            </a:lvl1pPr>
            <a:lvl2pPr algn="l">
              <a:defRPr sz="1050" b="1">
                <a:solidFill>
                  <a:srgbClr val="0D69B3"/>
                </a:solidFill>
              </a:defRPr>
            </a:lvl2pPr>
            <a:lvl3pPr algn="l">
              <a:defRPr sz="1050" b="1">
                <a:solidFill>
                  <a:srgbClr val="0D69B3"/>
                </a:solidFill>
              </a:defRPr>
            </a:lvl3pPr>
            <a:lvl4pPr algn="l">
              <a:defRPr sz="1050" b="1">
                <a:solidFill>
                  <a:srgbClr val="0D69B3"/>
                </a:solidFill>
              </a:defRPr>
            </a:lvl4pPr>
            <a:lvl5pPr algn="l">
              <a:defRPr sz="1050" b="1">
                <a:solidFill>
                  <a:srgbClr val="0D69B3"/>
                </a:solidFill>
              </a:defRPr>
            </a:lvl5pPr>
            <a:lvl6pPr algn="l">
              <a:defRPr sz="1050" b="1">
                <a:solidFill>
                  <a:srgbClr val="0D69B3"/>
                </a:solidFill>
              </a:defRPr>
            </a:lvl6pPr>
            <a:lvl7pPr algn="l">
              <a:defRPr sz="1050" b="1">
                <a:solidFill>
                  <a:srgbClr val="0D69B3"/>
                </a:solidFill>
              </a:defRPr>
            </a:lvl7pPr>
            <a:lvl8pPr algn="l">
              <a:defRPr sz="1050" b="1">
                <a:solidFill>
                  <a:srgbClr val="0D69B3"/>
                </a:solidFill>
              </a:defRPr>
            </a:lvl8pPr>
            <a:lvl9pPr algn="l">
              <a:defRPr sz="1050" b="1">
                <a:solidFill>
                  <a:srgbClr val="0D69B3"/>
                </a:solidFill>
              </a:defRPr>
            </a:lvl9pPr>
          </a:lstStyle>
          <a:p xmlns:a="http://schemas.openxmlformats.org/drawingml/2006/main">
            <a:pPr algn="l">
              <a:defRPr sz="1050" b="1">
                <a:solidFill>
                  <a:srgbClr val="0D69B3"/>
                </a:solidFill>
              </a:defRPr>
            </a:pPr>
            <a:r>
              <a:rPr sz="1050" b="1">
                <a:solidFill>
                  <a:srgbClr val="0D69B3"/>
                </a:solidFill>
              </a:rPr>
              <a:t>BUSINESS VALUE &amp; STRATEGY</a:t>
            </a:r>
          </a:p>
        </p:txBody>
      </p:sp>
      <p:sp>
        <p:nvSpPr>
          <p:cNvPr id="2" name="text-1">
            <a:extLst xmlns:a="http://schemas.openxmlformats.org/drawingml/2006/main">
              <a:ext uri="{FF2B5EF4-FFF2-40B4-BE49-F238E27FC236}">
                <a16:creationId xmlns:a16="http://schemas.microsoft.com/office/drawing/2014/main" id="{56541137-20BE-4445-B5B4-59D9CD7119F3}"/>
              </a:ext>
            </a:extLst>
          </p:cNvPr>
          <p:cNvSpPr>
            <a:spLocks xmlns:a="http://schemas.openxmlformats.org/drawingml/2006/main" noGrp="1"/>
          </p:cNvSpPr>
          <p:nvPr/>
        </p:nvSpPr>
        <p:spPr>
          <a:xfrm xmlns:a="http://schemas.openxmlformats.org/drawingml/2006/main">
            <a:off x="609600" y="6953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42C48"/>
                </a:solidFill>
              </a:defRPr>
            </a:defPPr>
            <a:lvl1pPr algn="l">
              <a:defRPr sz="3000" b="1">
                <a:solidFill>
                  <a:srgbClr val="142C48"/>
                </a:solidFill>
              </a:defRPr>
            </a:lvl1pPr>
            <a:lvl2pPr algn="l">
              <a:defRPr sz="3000" b="1">
                <a:solidFill>
                  <a:srgbClr val="142C48"/>
                </a:solidFill>
              </a:defRPr>
            </a:lvl2pPr>
            <a:lvl3pPr algn="l">
              <a:defRPr sz="3000" b="1">
                <a:solidFill>
                  <a:srgbClr val="142C48"/>
                </a:solidFill>
              </a:defRPr>
            </a:lvl3pPr>
            <a:lvl4pPr algn="l">
              <a:defRPr sz="3000" b="1">
                <a:solidFill>
                  <a:srgbClr val="142C48"/>
                </a:solidFill>
              </a:defRPr>
            </a:lvl4pPr>
            <a:lvl5pPr algn="l">
              <a:defRPr sz="3000" b="1">
                <a:solidFill>
                  <a:srgbClr val="142C48"/>
                </a:solidFill>
              </a:defRPr>
            </a:lvl5pPr>
            <a:lvl6pPr algn="l">
              <a:defRPr sz="3000" b="1">
                <a:solidFill>
                  <a:srgbClr val="142C48"/>
                </a:solidFill>
              </a:defRPr>
            </a:lvl6pPr>
            <a:lvl7pPr algn="l">
              <a:defRPr sz="3000" b="1">
                <a:solidFill>
                  <a:srgbClr val="142C48"/>
                </a:solidFill>
              </a:defRPr>
            </a:lvl7pPr>
            <a:lvl8pPr algn="l">
              <a:defRPr sz="3000" b="1">
                <a:solidFill>
                  <a:srgbClr val="142C48"/>
                </a:solidFill>
              </a:defRPr>
            </a:lvl8pPr>
            <a:lvl9pPr algn="l">
              <a:defRPr sz="3000" b="1">
                <a:solidFill>
                  <a:srgbClr val="142C48"/>
                </a:solidFill>
              </a:defRPr>
            </a:lvl9pPr>
          </a:lstStyle>
          <a:p xmlns:a="http://schemas.openxmlformats.org/drawingml/2006/main">
            <a:pPr algn="l">
              <a:defRPr sz="3000" b="1">
                <a:solidFill>
                  <a:srgbClr val="142C48"/>
                </a:solidFill>
              </a:defRPr>
            </a:pPr>
            <a:r>
              <a:rPr sz="3000" b="1">
                <a:solidFill>
                  <a:srgbClr val="142C48"/>
                </a:solidFill>
              </a:rPr>
              <a:t>Recommendation and Next Steps</a:t>
            </a:r>
          </a:p>
        </p:txBody>
      </p:sp>
      <p:sp>
        <p:nvSpPr>
          <p:cNvPr id="3" name="">
            <a:extLst xmlns:a="http://schemas.openxmlformats.org/drawingml/2006/main">
              <a:ext uri="{FF2B5EF4-FFF2-40B4-BE49-F238E27FC236}">
                <a16:creationId xmlns:a16="http://schemas.microsoft.com/office/drawing/2014/main" id="{D37B5250-522A-40A4-B99E-ADABDCBE0B2B}"/>
              </a:ext>
            </a:extLst>
          </p:cNvPr>
          <p:cNvSpPr>
            <a:spLocks xmlns:a="http://schemas.openxmlformats.org/drawingml/2006/main" noGrp="1"/>
          </p:cNvSpPr>
          <p:nvPr/>
        </p:nvSpPr>
        <p:spPr>
          <a:xfrm xmlns:a="http://schemas.openxmlformats.org/drawingml/2006/main">
            <a:off x="609600" y="1457325"/>
            <a:ext cx="457200" cy="38100"/>
          </a:xfrm>
          <a:prstGeom xmlns:a="http://schemas.openxmlformats.org/drawingml/2006/main" prst="rect">
            <a:avLst/>
          </a:prstGeom>
          <a:solidFill xmlns:a="http://schemas.openxmlformats.org/drawingml/2006/main">
            <a:srgbClr val="F2732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7ED4472-32B7-44EF-8D19-C608CE494693}"/>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AE3EB"/>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1E4EE8DB-2F93-4EE7-B4AD-1445CB3E49CB}"/>
              </a:ext>
            </a:extLst>
          </p:cNvPr>
          <p:cNvSpPr>
            <a:spLocks xmlns:a="http://schemas.openxmlformats.org/drawingml/2006/main" noGrp="1"/>
          </p:cNvSpPr>
          <p:nvPr/>
        </p:nvSpPr>
        <p:spPr>
          <a:xfrm xmlns:a="http://schemas.openxmlformats.org/drawingml/2006/main">
            <a:off x="609600" y="64103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61738A"/>
                </a:solidFill>
              </a:defRPr>
            </a:defPPr>
            <a:lvl1pPr algn="l">
              <a:defRPr sz="975" b="0">
                <a:solidFill>
                  <a:srgbClr val="61738A"/>
                </a:solidFill>
              </a:defRPr>
            </a:lvl1pPr>
            <a:lvl2pPr algn="l">
              <a:defRPr sz="975" b="0">
                <a:solidFill>
                  <a:srgbClr val="61738A"/>
                </a:solidFill>
              </a:defRPr>
            </a:lvl2pPr>
            <a:lvl3pPr algn="l">
              <a:defRPr sz="975" b="0">
                <a:solidFill>
                  <a:srgbClr val="61738A"/>
                </a:solidFill>
              </a:defRPr>
            </a:lvl3pPr>
            <a:lvl4pPr algn="l">
              <a:defRPr sz="975" b="0">
                <a:solidFill>
                  <a:srgbClr val="61738A"/>
                </a:solidFill>
              </a:defRPr>
            </a:lvl4pPr>
            <a:lvl5pPr algn="l">
              <a:defRPr sz="975" b="0">
                <a:solidFill>
                  <a:srgbClr val="61738A"/>
                </a:solidFill>
              </a:defRPr>
            </a:lvl5pPr>
            <a:lvl6pPr algn="l">
              <a:defRPr sz="975" b="0">
                <a:solidFill>
                  <a:srgbClr val="61738A"/>
                </a:solidFill>
              </a:defRPr>
            </a:lvl6pPr>
            <a:lvl7pPr algn="l">
              <a:defRPr sz="975" b="0">
                <a:solidFill>
                  <a:srgbClr val="61738A"/>
                </a:solidFill>
              </a:defRPr>
            </a:lvl7pPr>
            <a:lvl8pPr algn="l">
              <a:defRPr sz="975" b="0">
                <a:solidFill>
                  <a:srgbClr val="61738A"/>
                </a:solidFill>
              </a:defRPr>
            </a:lvl8pPr>
            <a:lvl9pPr algn="l">
              <a:defRPr sz="975" b="0">
                <a:solidFill>
                  <a:srgbClr val="61738A"/>
                </a:solidFill>
              </a:defRPr>
            </a:lvl9pPr>
          </a:lstStyle>
          <a:p xmlns:a="http://schemas.openxmlformats.org/drawingml/2006/main">
            <a:pPr algn="l">
              <a:defRPr sz="975" b="0">
                <a:solidFill>
                  <a:srgbClr val="61738A"/>
                </a:solidFill>
              </a:defRPr>
            </a:pPr>
            <a:r>
              <a:rPr sz="975" b="0">
                <a:solidFill>
                  <a:srgbClr val="61738A"/>
                </a:solidFill>
              </a:rPr>
              <a:t>Recommendation based on the project scope and evidence as of 19 October 2026. No enterprise pilot has been run.</a:t>
            </a:r>
          </a:p>
        </p:txBody>
      </p:sp>
      <p:sp>
        <p:nvSpPr>
          <p:cNvPr id="6" name="text-5">
            <a:extLst xmlns:a="http://schemas.openxmlformats.org/drawingml/2006/main">
              <a:ext uri="{FF2B5EF4-FFF2-40B4-BE49-F238E27FC236}">
                <a16:creationId xmlns:a16="http://schemas.microsoft.com/office/drawing/2014/main" id="{5F451247-157A-4891-8C00-039F6FD33683}"/>
              </a:ext>
            </a:extLst>
          </p:cNvPr>
          <p:cNvSpPr>
            <a:spLocks xmlns:a="http://schemas.openxmlformats.org/drawingml/2006/main" noGrp="1"/>
          </p:cNvSpPr>
          <p:nvPr/>
        </p:nvSpPr>
        <p:spPr>
          <a:xfrm xmlns:a="http://schemas.openxmlformats.org/drawingml/2006/main">
            <a:off x="10763250" y="641985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1738A"/>
                </a:solidFill>
              </a:defRPr>
            </a:defPPr>
            <a:lvl1pPr algn="r">
              <a:defRPr sz="1050" b="0">
                <a:solidFill>
                  <a:srgbClr val="61738A"/>
                </a:solidFill>
              </a:defRPr>
            </a:lvl1pPr>
            <a:lvl2pPr algn="r">
              <a:defRPr sz="1050" b="0">
                <a:solidFill>
                  <a:srgbClr val="61738A"/>
                </a:solidFill>
              </a:defRPr>
            </a:lvl2pPr>
            <a:lvl3pPr algn="r">
              <a:defRPr sz="1050" b="0">
                <a:solidFill>
                  <a:srgbClr val="61738A"/>
                </a:solidFill>
              </a:defRPr>
            </a:lvl3pPr>
            <a:lvl4pPr algn="r">
              <a:defRPr sz="1050" b="0">
                <a:solidFill>
                  <a:srgbClr val="61738A"/>
                </a:solidFill>
              </a:defRPr>
            </a:lvl4pPr>
            <a:lvl5pPr algn="r">
              <a:defRPr sz="1050" b="0">
                <a:solidFill>
                  <a:srgbClr val="61738A"/>
                </a:solidFill>
              </a:defRPr>
            </a:lvl5pPr>
            <a:lvl6pPr algn="r">
              <a:defRPr sz="1050" b="0">
                <a:solidFill>
                  <a:srgbClr val="61738A"/>
                </a:solidFill>
              </a:defRPr>
            </a:lvl6pPr>
            <a:lvl7pPr algn="r">
              <a:defRPr sz="1050" b="0">
                <a:solidFill>
                  <a:srgbClr val="61738A"/>
                </a:solidFill>
              </a:defRPr>
            </a:lvl7pPr>
            <a:lvl8pPr algn="r">
              <a:defRPr sz="1050" b="0">
                <a:solidFill>
                  <a:srgbClr val="61738A"/>
                </a:solidFill>
              </a:defRPr>
            </a:lvl8pPr>
            <a:lvl9pPr algn="r">
              <a:defRPr sz="1050" b="0">
                <a:solidFill>
                  <a:srgbClr val="61738A"/>
                </a:solidFill>
              </a:defRPr>
            </a:lvl9pPr>
          </a:lstStyle>
          <a:p xmlns:a="http://schemas.openxmlformats.org/drawingml/2006/main">
            <a:pPr algn="r">
              <a:defRPr sz="1050" b="0">
                <a:solidFill>
                  <a:srgbClr val="61738A"/>
                </a:solidFill>
              </a:defRPr>
            </a:pPr>
            <a:r>
              <a:rPr sz="1050" b="0">
                <a:solidFill>
                  <a:srgbClr val="61738A"/>
                </a:solidFill>
              </a:rPr>
              <a:t>24 / 24</a:t>
            </a:r>
          </a:p>
        </p:txBody>
      </p:sp>
      <p:sp>
        <p:nvSpPr>
          <p:cNvPr id="7" name="text-6">
            <a:extLst xmlns:a="http://schemas.openxmlformats.org/drawingml/2006/main">
              <a:ext uri="{FF2B5EF4-FFF2-40B4-BE49-F238E27FC236}">
                <a16:creationId xmlns:a16="http://schemas.microsoft.com/office/drawing/2014/main" id="{5CD9C715-1383-4111-AA8E-479D1C142379}"/>
              </a:ext>
            </a:extLst>
          </p:cNvPr>
          <p:cNvSpPr>
            <a:spLocks xmlns:a="http://schemas.openxmlformats.org/drawingml/2006/main" noGrp="1"/>
          </p:cNvSpPr>
          <p:nvPr/>
        </p:nvSpPr>
        <p:spPr>
          <a:xfrm xmlns:a="http://schemas.openxmlformats.org/drawingml/2006/main">
            <a:off x="609600" y="1924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225" b="1">
                <a:solidFill>
                  <a:srgbClr val="0D69B3"/>
                </a:solidFill>
              </a:defRPr>
            </a:defPPr>
            <a:lvl1pPr algn="l">
              <a:defRPr sz="3225" b="1">
                <a:solidFill>
                  <a:srgbClr val="0D69B3"/>
                </a:solidFill>
              </a:defRPr>
            </a:lvl1pPr>
            <a:lvl2pPr algn="l">
              <a:defRPr sz="3225" b="1">
                <a:solidFill>
                  <a:srgbClr val="0D69B3"/>
                </a:solidFill>
              </a:defRPr>
            </a:lvl2pPr>
            <a:lvl3pPr algn="l">
              <a:defRPr sz="3225" b="1">
                <a:solidFill>
                  <a:srgbClr val="0D69B3"/>
                </a:solidFill>
              </a:defRPr>
            </a:lvl3pPr>
            <a:lvl4pPr algn="l">
              <a:defRPr sz="3225" b="1">
                <a:solidFill>
                  <a:srgbClr val="0D69B3"/>
                </a:solidFill>
              </a:defRPr>
            </a:lvl4pPr>
            <a:lvl5pPr algn="l">
              <a:defRPr sz="3225" b="1">
                <a:solidFill>
                  <a:srgbClr val="0D69B3"/>
                </a:solidFill>
              </a:defRPr>
            </a:lvl5pPr>
            <a:lvl6pPr algn="l">
              <a:defRPr sz="3225" b="1">
                <a:solidFill>
                  <a:srgbClr val="0D69B3"/>
                </a:solidFill>
              </a:defRPr>
            </a:lvl6pPr>
            <a:lvl7pPr algn="l">
              <a:defRPr sz="3225" b="1">
                <a:solidFill>
                  <a:srgbClr val="0D69B3"/>
                </a:solidFill>
              </a:defRPr>
            </a:lvl7pPr>
            <a:lvl8pPr algn="l">
              <a:defRPr sz="3225" b="1">
                <a:solidFill>
                  <a:srgbClr val="0D69B3"/>
                </a:solidFill>
              </a:defRPr>
            </a:lvl8pPr>
            <a:lvl9pPr algn="l">
              <a:defRPr sz="3225" b="1">
                <a:solidFill>
                  <a:srgbClr val="0D69B3"/>
                </a:solidFill>
              </a:defRPr>
            </a:lvl9pPr>
          </a:lstStyle>
          <a:p xmlns:a="http://schemas.openxmlformats.org/drawingml/2006/main">
            <a:pPr algn="l">
              <a:defRPr sz="3225" b="1">
                <a:solidFill>
                  <a:srgbClr val="0D69B3"/>
                </a:solidFill>
              </a:defRPr>
            </a:pPr>
            <a:r>
              <a:rPr sz="3225" b="1">
                <a:solidFill>
                  <a:srgbClr val="0D69B3"/>
                </a:solidFill>
              </a:rPr>
              <a:t>Prepare a controlled Binh Duong pilot</a:t>
            </a:r>
          </a:p>
          <a:p xmlns:a="http://schemas.openxmlformats.org/drawingml/2006/main">
            <a:pPr algn="l">
              <a:defRPr sz="3225" b="1">
                <a:solidFill>
                  <a:srgbClr val="0D69B3"/>
                </a:solidFill>
              </a:defRPr>
            </a:pPr>
            <a:r>
              <a:rPr sz="3225" b="1">
                <a:solidFill>
                  <a:srgbClr val="0D69B3"/>
                </a:solidFill>
              </a:rPr>
              <a:t>after current-runtime acceptance.</a:t>
            </a:r>
          </a:p>
        </p:txBody>
      </p:sp>
      <p:sp>
        <p:nvSpPr>
          <p:cNvPr id="8" name="text-7">
            <a:extLst xmlns:a="http://schemas.openxmlformats.org/drawingml/2006/main">
              <a:ext uri="{FF2B5EF4-FFF2-40B4-BE49-F238E27FC236}">
                <a16:creationId xmlns:a16="http://schemas.microsoft.com/office/drawing/2014/main" id="{2355FB00-4F62-4842-80AA-2F45A9CD99E1}"/>
              </a:ext>
            </a:extLst>
          </p:cNvPr>
          <p:cNvSpPr>
            <a:spLocks xmlns:a="http://schemas.openxmlformats.org/drawingml/2006/main" noGrp="1"/>
          </p:cNvSpPr>
          <p:nvPr/>
        </p:nvSpPr>
        <p:spPr>
          <a:xfrm xmlns:a="http://schemas.openxmlformats.org/drawingml/2006/main">
            <a:off x="609600" y="33528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F27323"/>
                </a:solidFill>
              </a:defRPr>
            </a:defPPr>
            <a:lvl1pPr algn="l">
              <a:defRPr sz="1875" b="1">
                <a:solidFill>
                  <a:srgbClr val="F27323"/>
                </a:solidFill>
              </a:defRPr>
            </a:lvl1pPr>
            <a:lvl2pPr algn="l">
              <a:defRPr sz="1875" b="1">
                <a:solidFill>
                  <a:srgbClr val="F27323"/>
                </a:solidFill>
              </a:defRPr>
            </a:lvl2pPr>
            <a:lvl3pPr algn="l">
              <a:defRPr sz="1875" b="1">
                <a:solidFill>
                  <a:srgbClr val="F27323"/>
                </a:solidFill>
              </a:defRPr>
            </a:lvl3pPr>
            <a:lvl4pPr algn="l">
              <a:defRPr sz="1875" b="1">
                <a:solidFill>
                  <a:srgbClr val="F27323"/>
                </a:solidFill>
              </a:defRPr>
            </a:lvl4pPr>
            <a:lvl5pPr algn="l">
              <a:defRPr sz="1875" b="1">
                <a:solidFill>
                  <a:srgbClr val="F27323"/>
                </a:solidFill>
              </a:defRPr>
            </a:lvl5pPr>
            <a:lvl6pPr algn="l">
              <a:defRPr sz="1875" b="1">
                <a:solidFill>
                  <a:srgbClr val="F27323"/>
                </a:solidFill>
              </a:defRPr>
            </a:lvl6pPr>
            <a:lvl7pPr algn="l">
              <a:defRPr sz="1875" b="1">
                <a:solidFill>
                  <a:srgbClr val="F27323"/>
                </a:solidFill>
              </a:defRPr>
            </a:lvl7pPr>
            <a:lvl8pPr algn="l">
              <a:defRPr sz="1875" b="1">
                <a:solidFill>
                  <a:srgbClr val="F27323"/>
                </a:solidFill>
              </a:defRPr>
            </a:lvl8pPr>
            <a:lvl9pPr algn="l">
              <a:defRPr sz="1875" b="1">
                <a:solidFill>
                  <a:srgbClr val="F27323"/>
                </a:solidFill>
              </a:defRPr>
            </a:lvl9pPr>
          </a:lstStyle>
          <a:p xmlns:a="http://schemas.openxmlformats.org/drawingml/2006/main">
            <a:pPr algn="l">
              <a:defRPr sz="1875" b="1">
                <a:solidFill>
                  <a:srgbClr val="F27323"/>
                </a:solidFill>
              </a:defRPr>
            </a:pPr>
            <a:r>
              <a:rPr sz="1875" b="1">
                <a:solidFill>
                  <a:srgbClr val="F27323"/>
                </a:solidFill>
              </a:rPr>
              <a:t>Data</a:t>
            </a:r>
          </a:p>
        </p:txBody>
      </p:sp>
      <p:sp>
        <p:nvSpPr>
          <p:cNvPr id="9" name="text-8">
            <a:extLst xmlns:a="http://schemas.openxmlformats.org/drawingml/2006/main">
              <a:ext uri="{FF2B5EF4-FFF2-40B4-BE49-F238E27FC236}">
                <a16:creationId xmlns:a16="http://schemas.microsoft.com/office/drawing/2014/main" id="{5F7AF514-CF35-4CBD-9122-538E802624E1}"/>
              </a:ext>
            </a:extLst>
          </p:cNvPr>
          <p:cNvSpPr>
            <a:spLocks xmlns:a="http://schemas.openxmlformats.org/drawingml/2006/main" noGrp="1"/>
          </p:cNvSpPr>
          <p:nvPr/>
        </p:nvSpPr>
        <p:spPr>
          <a:xfrm xmlns:a="http://schemas.openxmlformats.org/drawingml/2006/main">
            <a:off x="2609850" y="3352800"/>
            <a:ext cx="8972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142C48"/>
                </a:solidFill>
              </a:defRPr>
            </a:defPPr>
            <a:lvl1pPr algn="l">
              <a:defRPr sz="1875" b="0">
                <a:solidFill>
                  <a:srgbClr val="142C48"/>
                </a:solidFill>
              </a:defRPr>
            </a:lvl1pPr>
            <a:lvl2pPr algn="l">
              <a:defRPr sz="1875" b="0">
                <a:solidFill>
                  <a:srgbClr val="142C48"/>
                </a:solidFill>
              </a:defRPr>
            </a:lvl2pPr>
            <a:lvl3pPr algn="l">
              <a:defRPr sz="1875" b="0">
                <a:solidFill>
                  <a:srgbClr val="142C48"/>
                </a:solidFill>
              </a:defRPr>
            </a:lvl3pPr>
            <a:lvl4pPr algn="l">
              <a:defRPr sz="1875" b="0">
                <a:solidFill>
                  <a:srgbClr val="142C48"/>
                </a:solidFill>
              </a:defRPr>
            </a:lvl4pPr>
            <a:lvl5pPr algn="l">
              <a:defRPr sz="1875" b="0">
                <a:solidFill>
                  <a:srgbClr val="142C48"/>
                </a:solidFill>
              </a:defRPr>
            </a:lvl5pPr>
            <a:lvl6pPr algn="l">
              <a:defRPr sz="1875" b="0">
                <a:solidFill>
                  <a:srgbClr val="142C48"/>
                </a:solidFill>
              </a:defRPr>
            </a:lvl6pPr>
            <a:lvl7pPr algn="l">
              <a:defRPr sz="1875" b="0">
                <a:solidFill>
                  <a:srgbClr val="142C48"/>
                </a:solidFill>
              </a:defRPr>
            </a:lvl7pPr>
            <a:lvl8pPr algn="l">
              <a:defRPr sz="1875" b="0">
                <a:solidFill>
                  <a:srgbClr val="142C48"/>
                </a:solidFill>
              </a:defRPr>
            </a:lvl8pPr>
            <a:lvl9pPr algn="l">
              <a:defRPr sz="1875" b="0">
                <a:solidFill>
                  <a:srgbClr val="142C48"/>
                </a:solidFill>
              </a:defRPr>
            </a:lvl9pPr>
          </a:lstStyle>
          <a:p xmlns:a="http://schemas.openxmlformats.org/drawingml/2006/main">
            <a:pPr algn="l">
              <a:defRPr sz="1875" b="0">
                <a:solidFill>
                  <a:srgbClr val="142C48"/>
                </a:solidFill>
              </a:defRPr>
            </a:pPr>
            <a:r>
              <a:rPr sz="1875" b="0">
                <a:solidFill>
                  <a:srgbClr val="142C48"/>
                </a:solidFill>
              </a:rPr>
              <a:t>Permissioned sources, outcome definitions and privacy ownership</a:t>
            </a:r>
          </a:p>
        </p:txBody>
      </p:sp>
      <p:sp>
        <p:nvSpPr>
          <p:cNvPr id="10" name="text-9">
            <a:extLst xmlns:a="http://schemas.openxmlformats.org/drawingml/2006/main">
              <a:ext uri="{FF2B5EF4-FFF2-40B4-BE49-F238E27FC236}">
                <a16:creationId xmlns:a16="http://schemas.microsoft.com/office/drawing/2014/main" id="{1081B497-9180-4043-80F5-C8C1229CBEAE}"/>
              </a:ext>
            </a:extLst>
          </p:cNvPr>
          <p:cNvSpPr>
            <a:spLocks xmlns:a="http://schemas.openxmlformats.org/drawingml/2006/main" noGrp="1"/>
          </p:cNvSpPr>
          <p:nvPr/>
        </p:nvSpPr>
        <p:spPr>
          <a:xfrm xmlns:a="http://schemas.openxmlformats.org/drawingml/2006/main">
            <a:off x="609600" y="39433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F27323"/>
                </a:solidFill>
              </a:defRPr>
            </a:defPPr>
            <a:lvl1pPr algn="l">
              <a:defRPr sz="1875" b="1">
                <a:solidFill>
                  <a:srgbClr val="F27323"/>
                </a:solidFill>
              </a:defRPr>
            </a:lvl1pPr>
            <a:lvl2pPr algn="l">
              <a:defRPr sz="1875" b="1">
                <a:solidFill>
                  <a:srgbClr val="F27323"/>
                </a:solidFill>
              </a:defRPr>
            </a:lvl2pPr>
            <a:lvl3pPr algn="l">
              <a:defRPr sz="1875" b="1">
                <a:solidFill>
                  <a:srgbClr val="F27323"/>
                </a:solidFill>
              </a:defRPr>
            </a:lvl3pPr>
            <a:lvl4pPr algn="l">
              <a:defRPr sz="1875" b="1">
                <a:solidFill>
                  <a:srgbClr val="F27323"/>
                </a:solidFill>
              </a:defRPr>
            </a:lvl4pPr>
            <a:lvl5pPr algn="l">
              <a:defRPr sz="1875" b="1">
                <a:solidFill>
                  <a:srgbClr val="F27323"/>
                </a:solidFill>
              </a:defRPr>
            </a:lvl5pPr>
            <a:lvl6pPr algn="l">
              <a:defRPr sz="1875" b="1">
                <a:solidFill>
                  <a:srgbClr val="F27323"/>
                </a:solidFill>
              </a:defRPr>
            </a:lvl6pPr>
            <a:lvl7pPr algn="l">
              <a:defRPr sz="1875" b="1">
                <a:solidFill>
                  <a:srgbClr val="F27323"/>
                </a:solidFill>
              </a:defRPr>
            </a:lvl7pPr>
            <a:lvl8pPr algn="l">
              <a:defRPr sz="1875" b="1">
                <a:solidFill>
                  <a:srgbClr val="F27323"/>
                </a:solidFill>
              </a:defRPr>
            </a:lvl8pPr>
            <a:lvl9pPr algn="l">
              <a:defRPr sz="1875" b="1">
                <a:solidFill>
                  <a:srgbClr val="F27323"/>
                </a:solidFill>
              </a:defRPr>
            </a:lvl9pPr>
          </a:lstStyle>
          <a:p xmlns:a="http://schemas.openxmlformats.org/drawingml/2006/main">
            <a:pPr algn="l">
              <a:defRPr sz="1875" b="1">
                <a:solidFill>
                  <a:srgbClr val="F27323"/>
                </a:solidFill>
              </a:defRPr>
            </a:pPr>
            <a:r>
              <a:rPr sz="1875" b="1">
                <a:solidFill>
                  <a:srgbClr val="F27323"/>
                </a:solidFill>
              </a:rPr>
              <a:t>Operations</a:t>
            </a:r>
          </a:p>
        </p:txBody>
      </p:sp>
      <p:sp>
        <p:nvSpPr>
          <p:cNvPr id="11" name="text-10">
            <a:extLst xmlns:a="http://schemas.openxmlformats.org/drawingml/2006/main">
              <a:ext uri="{FF2B5EF4-FFF2-40B4-BE49-F238E27FC236}">
                <a16:creationId xmlns:a16="http://schemas.microsoft.com/office/drawing/2014/main" id="{DE49D198-68B6-4D26-B8EA-1F49D639D574}"/>
              </a:ext>
            </a:extLst>
          </p:cNvPr>
          <p:cNvSpPr>
            <a:spLocks xmlns:a="http://schemas.openxmlformats.org/drawingml/2006/main" noGrp="1"/>
          </p:cNvSpPr>
          <p:nvPr/>
        </p:nvSpPr>
        <p:spPr>
          <a:xfrm xmlns:a="http://schemas.openxmlformats.org/drawingml/2006/main">
            <a:off x="2609850" y="3943350"/>
            <a:ext cx="8972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142C48"/>
                </a:solidFill>
              </a:defRPr>
            </a:defPPr>
            <a:lvl1pPr algn="l">
              <a:defRPr sz="1875" b="0">
                <a:solidFill>
                  <a:srgbClr val="142C48"/>
                </a:solidFill>
              </a:defRPr>
            </a:lvl1pPr>
            <a:lvl2pPr algn="l">
              <a:defRPr sz="1875" b="0">
                <a:solidFill>
                  <a:srgbClr val="142C48"/>
                </a:solidFill>
              </a:defRPr>
            </a:lvl2pPr>
            <a:lvl3pPr algn="l">
              <a:defRPr sz="1875" b="0">
                <a:solidFill>
                  <a:srgbClr val="142C48"/>
                </a:solidFill>
              </a:defRPr>
            </a:lvl3pPr>
            <a:lvl4pPr algn="l">
              <a:defRPr sz="1875" b="0">
                <a:solidFill>
                  <a:srgbClr val="142C48"/>
                </a:solidFill>
              </a:defRPr>
            </a:lvl4pPr>
            <a:lvl5pPr algn="l">
              <a:defRPr sz="1875" b="0">
                <a:solidFill>
                  <a:srgbClr val="142C48"/>
                </a:solidFill>
              </a:defRPr>
            </a:lvl5pPr>
            <a:lvl6pPr algn="l">
              <a:defRPr sz="1875" b="0">
                <a:solidFill>
                  <a:srgbClr val="142C48"/>
                </a:solidFill>
              </a:defRPr>
            </a:lvl6pPr>
            <a:lvl7pPr algn="l">
              <a:defRPr sz="1875" b="0">
                <a:solidFill>
                  <a:srgbClr val="142C48"/>
                </a:solidFill>
              </a:defRPr>
            </a:lvl7pPr>
            <a:lvl8pPr algn="l">
              <a:defRPr sz="1875" b="0">
                <a:solidFill>
                  <a:srgbClr val="142C48"/>
                </a:solidFill>
              </a:defRPr>
            </a:lvl8pPr>
            <a:lvl9pPr algn="l">
              <a:defRPr sz="1875" b="0">
                <a:solidFill>
                  <a:srgbClr val="142C48"/>
                </a:solidFill>
              </a:defRPr>
            </a:lvl9pPr>
          </a:lstStyle>
          <a:p xmlns:a="http://schemas.openxmlformats.org/drawingml/2006/main">
            <a:pPr algn="l">
              <a:defRPr sz="1875" b="0">
                <a:solidFill>
                  <a:srgbClr val="142C48"/>
                </a:solidFill>
              </a:defRPr>
            </a:pPr>
            <a:r>
              <a:rPr sz="1875" b="0">
                <a:solidFill>
                  <a:srgbClr val="142C48"/>
                </a:solidFill>
              </a:rPr>
              <a:t>CS sponsor, named owners and an approved contact / offer policy</a:t>
            </a:r>
          </a:p>
        </p:txBody>
      </p:sp>
      <p:sp>
        <p:nvSpPr>
          <p:cNvPr id="12" name="text-11">
            <a:extLst xmlns:a="http://schemas.openxmlformats.org/drawingml/2006/main">
              <a:ext uri="{FF2B5EF4-FFF2-40B4-BE49-F238E27FC236}">
                <a16:creationId xmlns:a16="http://schemas.microsoft.com/office/drawing/2014/main" id="{76B82AEA-5104-43BC-8B30-2C1977338BDB}"/>
              </a:ext>
            </a:extLst>
          </p:cNvPr>
          <p:cNvSpPr>
            <a:spLocks xmlns:a="http://schemas.openxmlformats.org/drawingml/2006/main" noGrp="1"/>
          </p:cNvSpPr>
          <p:nvPr/>
        </p:nvSpPr>
        <p:spPr>
          <a:xfrm xmlns:a="http://schemas.openxmlformats.org/drawingml/2006/main">
            <a:off x="609600" y="45339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F27323"/>
                </a:solidFill>
              </a:defRPr>
            </a:defPPr>
            <a:lvl1pPr algn="l">
              <a:defRPr sz="1875" b="1">
                <a:solidFill>
                  <a:srgbClr val="F27323"/>
                </a:solidFill>
              </a:defRPr>
            </a:lvl1pPr>
            <a:lvl2pPr algn="l">
              <a:defRPr sz="1875" b="1">
                <a:solidFill>
                  <a:srgbClr val="F27323"/>
                </a:solidFill>
              </a:defRPr>
            </a:lvl2pPr>
            <a:lvl3pPr algn="l">
              <a:defRPr sz="1875" b="1">
                <a:solidFill>
                  <a:srgbClr val="F27323"/>
                </a:solidFill>
              </a:defRPr>
            </a:lvl3pPr>
            <a:lvl4pPr algn="l">
              <a:defRPr sz="1875" b="1">
                <a:solidFill>
                  <a:srgbClr val="F27323"/>
                </a:solidFill>
              </a:defRPr>
            </a:lvl4pPr>
            <a:lvl5pPr algn="l">
              <a:defRPr sz="1875" b="1">
                <a:solidFill>
                  <a:srgbClr val="F27323"/>
                </a:solidFill>
              </a:defRPr>
            </a:lvl5pPr>
            <a:lvl6pPr algn="l">
              <a:defRPr sz="1875" b="1">
                <a:solidFill>
                  <a:srgbClr val="F27323"/>
                </a:solidFill>
              </a:defRPr>
            </a:lvl6pPr>
            <a:lvl7pPr algn="l">
              <a:defRPr sz="1875" b="1">
                <a:solidFill>
                  <a:srgbClr val="F27323"/>
                </a:solidFill>
              </a:defRPr>
            </a:lvl7pPr>
            <a:lvl8pPr algn="l">
              <a:defRPr sz="1875" b="1">
                <a:solidFill>
                  <a:srgbClr val="F27323"/>
                </a:solidFill>
              </a:defRPr>
            </a:lvl8pPr>
            <a:lvl9pPr algn="l">
              <a:defRPr sz="1875" b="1">
                <a:solidFill>
                  <a:srgbClr val="F27323"/>
                </a:solidFill>
              </a:defRPr>
            </a:lvl9pPr>
          </a:lstStyle>
          <a:p xmlns:a="http://schemas.openxmlformats.org/drawingml/2006/main">
            <a:pPr algn="l">
              <a:defRPr sz="1875" b="1">
                <a:solidFill>
                  <a:srgbClr val="F27323"/>
                </a:solidFill>
              </a:defRPr>
            </a:pPr>
            <a:r>
              <a:rPr sz="1875" b="1">
                <a:solidFill>
                  <a:srgbClr val="F27323"/>
                </a:solidFill>
              </a:rPr>
              <a:t>Runtime</a:t>
            </a:r>
          </a:p>
        </p:txBody>
      </p:sp>
      <p:sp>
        <p:nvSpPr>
          <p:cNvPr id="13" name="text-12">
            <a:extLst xmlns:a="http://schemas.openxmlformats.org/drawingml/2006/main">
              <a:ext uri="{FF2B5EF4-FFF2-40B4-BE49-F238E27FC236}">
                <a16:creationId xmlns:a16="http://schemas.microsoft.com/office/drawing/2014/main" id="{20796EA1-C556-4FBA-871C-B4FB21AE806B}"/>
              </a:ext>
            </a:extLst>
          </p:cNvPr>
          <p:cNvSpPr>
            <a:spLocks xmlns:a="http://schemas.openxmlformats.org/drawingml/2006/main" noGrp="1"/>
          </p:cNvSpPr>
          <p:nvPr/>
        </p:nvSpPr>
        <p:spPr>
          <a:xfrm xmlns:a="http://schemas.openxmlformats.org/drawingml/2006/main">
            <a:off x="2609850" y="4533900"/>
            <a:ext cx="8972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142C48"/>
                </a:solidFill>
              </a:defRPr>
            </a:defPPr>
            <a:lvl1pPr algn="l">
              <a:defRPr sz="1875" b="0">
                <a:solidFill>
                  <a:srgbClr val="142C48"/>
                </a:solidFill>
              </a:defRPr>
            </a:lvl1pPr>
            <a:lvl2pPr algn="l">
              <a:defRPr sz="1875" b="0">
                <a:solidFill>
                  <a:srgbClr val="142C48"/>
                </a:solidFill>
              </a:defRPr>
            </a:lvl2pPr>
            <a:lvl3pPr algn="l">
              <a:defRPr sz="1875" b="0">
                <a:solidFill>
                  <a:srgbClr val="142C48"/>
                </a:solidFill>
              </a:defRPr>
            </a:lvl3pPr>
            <a:lvl4pPr algn="l">
              <a:defRPr sz="1875" b="0">
                <a:solidFill>
                  <a:srgbClr val="142C48"/>
                </a:solidFill>
              </a:defRPr>
            </a:lvl4pPr>
            <a:lvl5pPr algn="l">
              <a:defRPr sz="1875" b="0">
                <a:solidFill>
                  <a:srgbClr val="142C48"/>
                </a:solidFill>
              </a:defRPr>
            </a:lvl5pPr>
            <a:lvl6pPr algn="l">
              <a:defRPr sz="1875" b="0">
                <a:solidFill>
                  <a:srgbClr val="142C48"/>
                </a:solidFill>
              </a:defRPr>
            </a:lvl6pPr>
            <a:lvl7pPr algn="l">
              <a:defRPr sz="1875" b="0">
                <a:solidFill>
                  <a:srgbClr val="142C48"/>
                </a:solidFill>
              </a:defRPr>
            </a:lvl7pPr>
            <a:lvl8pPr algn="l">
              <a:defRPr sz="1875" b="0">
                <a:solidFill>
                  <a:srgbClr val="142C48"/>
                </a:solidFill>
              </a:defRPr>
            </a:lvl8pPr>
            <a:lvl9pPr algn="l">
              <a:defRPr sz="1875" b="0">
                <a:solidFill>
                  <a:srgbClr val="142C48"/>
                </a:solidFill>
              </a:defRPr>
            </a:lvl9pPr>
          </a:lstStyle>
          <a:p xmlns:a="http://schemas.openxmlformats.org/drawingml/2006/main">
            <a:pPr algn="l">
              <a:defRPr sz="1875" b="0">
                <a:solidFill>
                  <a:srgbClr val="142C48"/>
                </a:solidFill>
              </a:defRPr>
            </a:pPr>
            <a:r>
              <a:rPr sz="1875" b="0">
                <a:solidFill>
                  <a:srgbClr val="142C48"/>
                </a:solidFill>
              </a:rPr>
              <a:t>Complete browser workflow and a controlled execution budget</a:t>
            </a:r>
          </a:p>
        </p:txBody>
      </p:sp>
      <p:sp>
        <p:nvSpPr>
          <p:cNvPr id="14" name="text-13">
            <a:extLst xmlns:a="http://schemas.openxmlformats.org/drawingml/2006/main">
              <a:ext uri="{FF2B5EF4-FFF2-40B4-BE49-F238E27FC236}">
                <a16:creationId xmlns:a16="http://schemas.microsoft.com/office/drawing/2014/main" id="{99DCC7B1-ECE9-4D49-9425-AB85960530B7}"/>
              </a:ext>
            </a:extLst>
          </p:cNvPr>
          <p:cNvSpPr>
            <a:spLocks xmlns:a="http://schemas.openxmlformats.org/drawingml/2006/main" noGrp="1"/>
          </p:cNvSpPr>
          <p:nvPr/>
        </p:nvSpPr>
        <p:spPr>
          <a:xfrm xmlns:a="http://schemas.openxmlformats.org/drawingml/2006/main">
            <a:off x="609600" y="51244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F27323"/>
                </a:solidFill>
              </a:defRPr>
            </a:defPPr>
            <a:lvl1pPr algn="l">
              <a:defRPr sz="1875" b="1">
                <a:solidFill>
                  <a:srgbClr val="F27323"/>
                </a:solidFill>
              </a:defRPr>
            </a:lvl1pPr>
            <a:lvl2pPr algn="l">
              <a:defRPr sz="1875" b="1">
                <a:solidFill>
                  <a:srgbClr val="F27323"/>
                </a:solidFill>
              </a:defRPr>
            </a:lvl2pPr>
            <a:lvl3pPr algn="l">
              <a:defRPr sz="1875" b="1">
                <a:solidFill>
                  <a:srgbClr val="F27323"/>
                </a:solidFill>
              </a:defRPr>
            </a:lvl3pPr>
            <a:lvl4pPr algn="l">
              <a:defRPr sz="1875" b="1">
                <a:solidFill>
                  <a:srgbClr val="F27323"/>
                </a:solidFill>
              </a:defRPr>
            </a:lvl4pPr>
            <a:lvl5pPr algn="l">
              <a:defRPr sz="1875" b="1">
                <a:solidFill>
                  <a:srgbClr val="F27323"/>
                </a:solidFill>
              </a:defRPr>
            </a:lvl5pPr>
            <a:lvl6pPr algn="l">
              <a:defRPr sz="1875" b="1">
                <a:solidFill>
                  <a:srgbClr val="F27323"/>
                </a:solidFill>
              </a:defRPr>
            </a:lvl6pPr>
            <a:lvl7pPr algn="l">
              <a:defRPr sz="1875" b="1">
                <a:solidFill>
                  <a:srgbClr val="F27323"/>
                </a:solidFill>
              </a:defRPr>
            </a:lvl7pPr>
            <a:lvl8pPr algn="l">
              <a:defRPr sz="1875" b="1">
                <a:solidFill>
                  <a:srgbClr val="F27323"/>
                </a:solidFill>
              </a:defRPr>
            </a:lvl8pPr>
            <a:lvl9pPr algn="l">
              <a:defRPr sz="1875" b="1">
                <a:solidFill>
                  <a:srgbClr val="F27323"/>
                </a:solidFill>
              </a:defRPr>
            </a:lvl9pPr>
          </a:lstStyle>
          <a:p xmlns:a="http://schemas.openxmlformats.org/drawingml/2006/main">
            <a:pPr algn="l">
              <a:defRPr sz="1875" b="1">
                <a:solidFill>
                  <a:srgbClr val="F27323"/>
                </a:solidFill>
              </a:defRPr>
            </a:pPr>
            <a:r>
              <a:rPr sz="1875" b="1">
                <a:solidFill>
                  <a:srgbClr val="F27323"/>
                </a:solidFill>
              </a:rPr>
              <a:t>Evaluation</a:t>
            </a:r>
          </a:p>
        </p:txBody>
      </p:sp>
      <p:sp>
        <p:nvSpPr>
          <p:cNvPr id="15" name="text-14">
            <a:extLst xmlns:a="http://schemas.openxmlformats.org/drawingml/2006/main">
              <a:ext uri="{FF2B5EF4-FFF2-40B4-BE49-F238E27FC236}">
                <a16:creationId xmlns:a16="http://schemas.microsoft.com/office/drawing/2014/main" id="{49DE0553-47CA-4092-8827-1FA211FD043A}"/>
              </a:ext>
            </a:extLst>
          </p:cNvPr>
          <p:cNvSpPr>
            <a:spLocks xmlns:a="http://schemas.openxmlformats.org/drawingml/2006/main" noGrp="1"/>
          </p:cNvSpPr>
          <p:nvPr/>
        </p:nvSpPr>
        <p:spPr>
          <a:xfrm xmlns:a="http://schemas.openxmlformats.org/drawingml/2006/main">
            <a:off x="2609850" y="5124450"/>
            <a:ext cx="8972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142C48"/>
                </a:solidFill>
              </a:defRPr>
            </a:defPPr>
            <a:lvl1pPr algn="l">
              <a:defRPr sz="1875" b="0">
                <a:solidFill>
                  <a:srgbClr val="142C48"/>
                </a:solidFill>
              </a:defRPr>
            </a:lvl1pPr>
            <a:lvl2pPr algn="l">
              <a:defRPr sz="1875" b="0">
                <a:solidFill>
                  <a:srgbClr val="142C48"/>
                </a:solidFill>
              </a:defRPr>
            </a:lvl2pPr>
            <a:lvl3pPr algn="l">
              <a:defRPr sz="1875" b="0">
                <a:solidFill>
                  <a:srgbClr val="142C48"/>
                </a:solidFill>
              </a:defRPr>
            </a:lvl3pPr>
            <a:lvl4pPr algn="l">
              <a:defRPr sz="1875" b="0">
                <a:solidFill>
                  <a:srgbClr val="142C48"/>
                </a:solidFill>
              </a:defRPr>
            </a:lvl4pPr>
            <a:lvl5pPr algn="l">
              <a:defRPr sz="1875" b="0">
                <a:solidFill>
                  <a:srgbClr val="142C48"/>
                </a:solidFill>
              </a:defRPr>
            </a:lvl5pPr>
            <a:lvl6pPr algn="l">
              <a:defRPr sz="1875" b="0">
                <a:solidFill>
                  <a:srgbClr val="142C48"/>
                </a:solidFill>
              </a:defRPr>
            </a:lvl6pPr>
            <a:lvl7pPr algn="l">
              <a:defRPr sz="1875" b="0">
                <a:solidFill>
                  <a:srgbClr val="142C48"/>
                </a:solidFill>
              </a:defRPr>
            </a:lvl7pPr>
            <a:lvl8pPr algn="l">
              <a:defRPr sz="1875" b="0">
                <a:solidFill>
                  <a:srgbClr val="142C48"/>
                </a:solidFill>
              </a:defRPr>
            </a:lvl8pPr>
            <a:lvl9pPr algn="l">
              <a:defRPr sz="1875" b="0">
                <a:solidFill>
                  <a:srgbClr val="142C48"/>
                </a:solidFill>
              </a:defRPr>
            </a:lvl9pPr>
          </a:lstStyle>
          <a:p xmlns:a="http://schemas.openxmlformats.org/drawingml/2006/main">
            <a:pPr algn="l">
              <a:defRPr sz="1875" b="0">
                <a:solidFill>
                  <a:srgbClr val="142C48"/>
                </a:solidFill>
              </a:defRPr>
            </a:pPr>
            <a:r>
              <a:rPr sz="1875" b="0">
                <a:solidFill>
                  <a:srgbClr val="142C48"/>
                </a:solidFill>
              </a:rPr>
              <a:t>Cost baseline, experiment design and continuation criteria</a:t>
            </a:r>
          </a:p>
        </p:txBody>
      </p:sp>
      <p:sp>
        <p:nvSpPr>
          <p:cNvPr id="16" name="text-15">
            <a:extLst xmlns:a="http://schemas.openxmlformats.org/drawingml/2006/main">
              <a:ext uri="{FF2B5EF4-FFF2-40B4-BE49-F238E27FC236}">
                <a16:creationId xmlns:a16="http://schemas.microsoft.com/office/drawing/2014/main" id="{3EA37F17-FB1F-43A3-BA1A-396777540AFE}"/>
              </a:ext>
            </a:extLst>
          </p:cNvPr>
          <p:cNvSpPr>
            <a:spLocks xmlns:a="http://schemas.openxmlformats.org/drawingml/2006/main" noGrp="1"/>
          </p:cNvSpPr>
          <p:nvPr/>
        </p:nvSpPr>
        <p:spPr>
          <a:xfrm xmlns:a="http://schemas.openxmlformats.org/drawingml/2006/main">
            <a:off x="609600" y="5857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D69B3"/>
                </a:solidFill>
              </a:defRPr>
            </a:defPPr>
            <a:lvl1pPr algn="l">
              <a:defRPr sz="1650" b="1">
                <a:solidFill>
                  <a:srgbClr val="0D69B3"/>
                </a:solidFill>
              </a:defRPr>
            </a:lvl1pPr>
            <a:lvl2pPr algn="l">
              <a:defRPr sz="1650" b="1">
                <a:solidFill>
                  <a:srgbClr val="0D69B3"/>
                </a:solidFill>
              </a:defRPr>
            </a:lvl2pPr>
            <a:lvl3pPr algn="l">
              <a:defRPr sz="1650" b="1">
                <a:solidFill>
                  <a:srgbClr val="0D69B3"/>
                </a:solidFill>
              </a:defRPr>
            </a:lvl3pPr>
            <a:lvl4pPr algn="l">
              <a:defRPr sz="1650" b="1">
                <a:solidFill>
                  <a:srgbClr val="0D69B3"/>
                </a:solidFill>
              </a:defRPr>
            </a:lvl4pPr>
            <a:lvl5pPr algn="l">
              <a:defRPr sz="1650" b="1">
                <a:solidFill>
                  <a:srgbClr val="0D69B3"/>
                </a:solidFill>
              </a:defRPr>
            </a:lvl5pPr>
            <a:lvl6pPr algn="l">
              <a:defRPr sz="1650" b="1">
                <a:solidFill>
                  <a:srgbClr val="0D69B3"/>
                </a:solidFill>
              </a:defRPr>
            </a:lvl6pPr>
            <a:lvl7pPr algn="l">
              <a:defRPr sz="1650" b="1">
                <a:solidFill>
                  <a:srgbClr val="0D69B3"/>
                </a:solidFill>
              </a:defRPr>
            </a:lvl7pPr>
            <a:lvl8pPr algn="l">
              <a:defRPr sz="1650" b="1">
                <a:solidFill>
                  <a:srgbClr val="0D69B3"/>
                </a:solidFill>
              </a:defRPr>
            </a:lvl8pPr>
            <a:lvl9pPr algn="l">
              <a:defRPr sz="1650" b="1">
                <a:solidFill>
                  <a:srgbClr val="0D69B3"/>
                </a:solidFill>
              </a:defRPr>
            </a:lvl9pPr>
          </a:lstStyle>
          <a:p xmlns:a="http://schemas.openxmlformats.org/drawingml/2006/main">
            <a:pPr algn="l">
              <a:defRPr sz="1650" b="1">
                <a:solidFill>
                  <a:srgbClr val="0D69B3"/>
                </a:solidFill>
              </a:defRPr>
            </a:pPr>
            <a:r>
              <a:rPr sz="1650" b="1">
                <a:solidFill>
                  <a:srgbClr val="0D69B3"/>
                </a:solidFill>
              </a:rPr>
              <a:t>Expand only after incremental value and acceptable guardrails are demonstrated.</a:t>
            </a:r>
          </a:p>
        </p:txBody>
      </p:sp>
    </p:spTree>
    <p:extLst>
      <p:ext uri="{BB962C8B-B14F-4D97-AF65-F5344CB8AC3E}">
        <p14:creationId xmlns:p14="http://schemas.microsoft.com/office/powerpoint/2010/main" val="919390874"/>
      </p:ext>
    </p:extLst>
  </p:cSld>
</p:sld>
</file>

<file path=ppt/theme/theme1.xml><?xml version="1.0" encoding="utf-8"?>
<a:theme xmlns:a="http://schemas.openxmlformats.org/drawingml/2006/main" name="ChatGPT">
  <a:themeElements>
    <a:clrScheme name="Telecom White">
      <a:dk1>
        <a:srgbClr val="000000"/>
      </a:dk1>
      <a:lt1>
        <a:srgbClr val="FFFFFF"/>
      </a:lt1>
      <a:dk2>
        <a:srgbClr val="142C48"/>
      </a:dk2>
      <a:lt2>
        <a:srgbClr val="F4F8FC"/>
      </a:lt2>
      <a:accent1>
        <a:srgbClr val="0D69B3"/>
      </a:accent1>
      <a:accent2>
        <a:srgbClr val="F27323"/>
      </a:accent2>
      <a:accent3>
        <a:srgbClr val="1FB34A"/>
      </a:accent3>
      <a:accent4>
        <a:srgbClr val="61738A"/>
      </a:accent4>
      <a:accent5>
        <a:srgbClr val="4E87B5"/>
      </a:accent5>
      <a:accent6>
        <a:srgbClr val="A7CDE8"/>
      </a:accent6>
      <a:hlink>
        <a:srgbClr val="0D69B3"/>
      </a:hlink>
      <a:folHlink>
        <a:srgbClr val="F27323"/>
      </a:folHlink>
    </a:clrScheme>
    <a:fontScheme name="">
      <a:majorFont>
        <a:latin typeface="Aptos"/>
        <a:ea typeface=""/>
        <a:cs typeface=""/>
      </a:majorFont>
      <a:minorFont>
        <a:latin typeface="Aptos"/>
        <a:ea typeface=""/>
        <a:cs typeface=""/>
      </a:minorFont>
    </a:fontScheme>
    <a:fmtScheme name="Telecom Whi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2026-10-19T04:40:07.2640000Z</dcterms:created>
  <dcterms:modified xsi:type="dcterms:W3CDTF">2026-10-19T04:40:07.2640000Z</dcterms:modified>
</coreProperties>
</file>